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158"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_wide.jpg"/>
          <p:cNvPicPr>
            <a:picLocks noChangeAspect="1"/>
          </p:cNvPicPr>
          <p:nvPr/>
        </p:nvPicPr>
        <p:blipFill>
          <a:blip r:embed="rId2"/>
          <a:stretch>
            <a:fillRect/>
          </a:stretch>
        </p:blipFill>
        <p:spPr>
          <a:xfrm>
            <a:off x="3657600" y="457200"/>
            <a:ext cx="4846320" cy="625908"/>
          </a:xfrm>
          <a:prstGeom prst="rect">
            <a:avLst/>
          </a:prstGeom>
        </p:spPr>
      </p:pic>
      <p:sp>
        <p:nvSpPr>
          <p:cNvPr id="4" name="TextBox 3"/>
          <p:cNvSpPr txBox="1"/>
          <p:nvPr/>
        </p:nvSpPr>
        <p:spPr>
          <a:xfrm>
            <a:off x="0" y="1554480"/>
            <a:ext cx="12191695" cy="640080"/>
          </a:xfrm>
          <a:prstGeom prst="rect">
            <a:avLst/>
          </a:prstGeom>
          <a:noFill/>
        </p:spPr>
        <p:txBody>
          <a:bodyPr wrap="square" lIns="45720" tIns="27432" rIns="45720" bIns="27432" anchor="t">
            <a:spAutoFit/>
          </a:bodyPr>
          <a:lstStyle/>
          <a:p>
            <a:pPr algn="ctr"/>
            <a:r>
              <a:rPr sz="3800" b="1">
                <a:solidFill>
                  <a:srgbClr val="1F3756"/>
                </a:solidFill>
                <a:latin typeface="Calibri"/>
              </a:rPr>
              <a:t>Data Analysis Essentials</a:t>
            </a:r>
          </a:p>
        </p:txBody>
      </p:sp>
      <p:sp>
        <p:nvSpPr>
          <p:cNvPr id="5" name="TextBox 4"/>
          <p:cNvSpPr txBox="1"/>
          <p:nvPr/>
        </p:nvSpPr>
        <p:spPr>
          <a:xfrm>
            <a:off x="0" y="2194560"/>
            <a:ext cx="12191695" cy="457200"/>
          </a:xfrm>
          <a:prstGeom prst="rect">
            <a:avLst/>
          </a:prstGeom>
          <a:noFill/>
        </p:spPr>
        <p:txBody>
          <a:bodyPr wrap="square" lIns="45720" tIns="27432" rIns="45720" bIns="27432" anchor="t">
            <a:spAutoFit/>
          </a:bodyPr>
          <a:lstStyle/>
          <a:p>
            <a:pPr algn="ctr"/>
            <a:r>
              <a:rPr sz="2400" b="1">
                <a:solidFill>
                  <a:srgbClr val="E8742A"/>
                </a:solidFill>
                <a:latin typeface="Calibri"/>
              </a:rPr>
              <a:t>Cornerstone Project — Third Review</a:t>
            </a:r>
          </a:p>
        </p:txBody>
      </p:sp>
      <p:sp>
        <p:nvSpPr>
          <p:cNvPr id="6" name="TextBox 5"/>
          <p:cNvSpPr txBox="1"/>
          <p:nvPr/>
        </p:nvSpPr>
        <p:spPr>
          <a:xfrm>
            <a:off x="0" y="2697480"/>
            <a:ext cx="12191695" cy="517065"/>
          </a:xfrm>
          <a:prstGeom prst="rect">
            <a:avLst/>
          </a:prstGeom>
          <a:noFill/>
        </p:spPr>
        <p:txBody>
          <a:bodyPr wrap="square" lIns="45720" tIns="27432" rIns="45720" bIns="27432" anchor="t">
            <a:spAutoFit/>
          </a:bodyPr>
          <a:lstStyle/>
          <a:p>
            <a:pPr algn="ctr"/>
            <a:r>
              <a:rPr lang="en-US" sz="3000" b="1" dirty="0">
                <a:solidFill>
                  <a:srgbClr val="262F3D"/>
                </a:solidFill>
                <a:latin typeface="Calibri"/>
              </a:rPr>
              <a:t>Sales</a:t>
            </a:r>
            <a:r>
              <a:rPr sz="3000" b="1" dirty="0">
                <a:solidFill>
                  <a:srgbClr val="262F3D"/>
                </a:solidFill>
                <a:latin typeface="Calibri"/>
              </a:rPr>
              <a:t> Data Analysis System</a:t>
            </a:r>
          </a:p>
        </p:txBody>
      </p:sp>
      <p:sp>
        <p:nvSpPr>
          <p:cNvPr id="7" name="TextBox 6"/>
          <p:cNvSpPr txBox="1"/>
          <p:nvPr/>
        </p:nvSpPr>
        <p:spPr>
          <a:xfrm>
            <a:off x="0" y="3291840"/>
            <a:ext cx="12191695" cy="365760"/>
          </a:xfrm>
          <a:prstGeom prst="rect">
            <a:avLst/>
          </a:prstGeom>
          <a:noFill/>
        </p:spPr>
        <p:txBody>
          <a:bodyPr wrap="square" lIns="45720" tIns="27432" rIns="45720" bIns="27432" anchor="t">
            <a:spAutoFit/>
          </a:bodyPr>
          <a:lstStyle/>
          <a:p>
            <a:pPr algn="ctr"/>
            <a:r>
              <a:rPr sz="1600" b="0">
                <a:solidFill>
                  <a:srgbClr val="5B6778"/>
                </a:solidFill>
                <a:latin typeface="Calibri"/>
              </a:rPr>
              <a:t>Rating-status prediction using Python, Pandas &amp; Logistic Regression</a:t>
            </a:r>
          </a:p>
        </p:txBody>
      </p:sp>
      <p:sp>
        <p:nvSpPr>
          <p:cNvPr id="8" name="Rounded Rectangle 7"/>
          <p:cNvSpPr/>
          <p:nvPr/>
        </p:nvSpPr>
        <p:spPr>
          <a:xfrm>
            <a:off x="1097280" y="4114800"/>
            <a:ext cx="5486400" cy="201168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25880" y="4187952"/>
            <a:ext cx="5029200" cy="320040"/>
          </a:xfrm>
          <a:prstGeom prst="rect">
            <a:avLst/>
          </a:prstGeom>
          <a:noFill/>
        </p:spPr>
        <p:txBody>
          <a:bodyPr wrap="square" lIns="45720" tIns="27432" rIns="45720" bIns="27432" anchor="t">
            <a:spAutoFit/>
          </a:bodyPr>
          <a:lstStyle/>
          <a:p>
            <a:pPr algn="l"/>
            <a:r>
              <a:rPr sz="1300" b="1">
                <a:solidFill>
                  <a:srgbClr val="E8742A"/>
                </a:solidFill>
                <a:latin typeface="Calibri"/>
              </a:rPr>
              <a:t>PRESENTED BY</a:t>
            </a:r>
          </a:p>
        </p:txBody>
      </p:sp>
      <p:sp>
        <p:nvSpPr>
          <p:cNvPr id="10" name="TextBox 9"/>
          <p:cNvSpPr txBox="1"/>
          <p:nvPr/>
        </p:nvSpPr>
        <p:spPr>
          <a:xfrm>
            <a:off x="1325880" y="4526280"/>
            <a:ext cx="5029200" cy="1554480"/>
          </a:xfrm>
          <a:prstGeom prst="rect">
            <a:avLst/>
          </a:prstGeom>
          <a:noFill/>
        </p:spPr>
        <p:txBody>
          <a:bodyPr wrap="square" lIns="45720" tIns="27432" rIns="45720" bIns="27432" anchor="t">
            <a:spAutoFit/>
          </a:bodyPr>
          <a:lstStyle/>
          <a:p>
            <a:pPr algn="l"/>
            <a:r>
              <a:rPr sz="1600" b="0">
                <a:solidFill>
                  <a:srgbClr val="262F3D"/>
                </a:solidFill>
                <a:latin typeface="Calibri"/>
              </a:rPr>
              <a:t>V. Jaswanth — 25B11AI424</a:t>
            </a:r>
          </a:p>
          <a:p>
            <a:pPr algn="l"/>
            <a:r>
              <a:rPr sz="1600" b="0">
                <a:solidFill>
                  <a:srgbClr val="262F3D"/>
                </a:solidFill>
                <a:latin typeface="Calibri"/>
              </a:rPr>
              <a:t>G. Satish — 25B11AI367</a:t>
            </a:r>
          </a:p>
          <a:p>
            <a:pPr algn="l"/>
            <a:r>
              <a:rPr sz="1600" b="0">
                <a:solidFill>
                  <a:srgbClr val="262F3D"/>
                </a:solidFill>
                <a:latin typeface="Calibri"/>
              </a:rPr>
              <a:t>N. Badrinadh — 25B11AI802</a:t>
            </a:r>
          </a:p>
          <a:p>
            <a:pPr algn="l"/>
            <a:r>
              <a:rPr sz="1600" b="0">
                <a:solidFill>
                  <a:srgbClr val="262F3D"/>
                </a:solidFill>
                <a:latin typeface="Calibri"/>
              </a:rPr>
              <a:t>D. Pradeep — 25B11AI255</a:t>
            </a:r>
          </a:p>
        </p:txBody>
      </p:sp>
      <p:sp>
        <p:nvSpPr>
          <p:cNvPr id="11" name="Rounded Rectangle 10"/>
          <p:cNvSpPr/>
          <p:nvPr/>
        </p:nvSpPr>
        <p:spPr>
          <a:xfrm>
            <a:off x="6858000" y="4114800"/>
            <a:ext cx="4206240" cy="201168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086600" y="4187952"/>
            <a:ext cx="3749039" cy="320040"/>
          </a:xfrm>
          <a:prstGeom prst="rect">
            <a:avLst/>
          </a:prstGeom>
          <a:noFill/>
        </p:spPr>
        <p:txBody>
          <a:bodyPr wrap="square" lIns="45720" tIns="27432" rIns="45720" bIns="27432" anchor="t">
            <a:spAutoFit/>
          </a:bodyPr>
          <a:lstStyle/>
          <a:p>
            <a:pPr algn="l"/>
            <a:r>
              <a:rPr sz="1300" b="1">
                <a:solidFill>
                  <a:srgbClr val="E8742A"/>
                </a:solidFill>
                <a:latin typeface="Calibri"/>
              </a:rPr>
              <a:t>DEPARTMENT</a:t>
            </a:r>
          </a:p>
        </p:txBody>
      </p:sp>
      <p:sp>
        <p:nvSpPr>
          <p:cNvPr id="13" name="TextBox 12"/>
          <p:cNvSpPr txBox="1"/>
          <p:nvPr/>
        </p:nvSpPr>
        <p:spPr>
          <a:xfrm>
            <a:off x="7086600" y="4526280"/>
            <a:ext cx="3749039" cy="1463040"/>
          </a:xfrm>
          <a:prstGeom prst="rect">
            <a:avLst/>
          </a:prstGeom>
          <a:noFill/>
        </p:spPr>
        <p:txBody>
          <a:bodyPr wrap="square" lIns="45720" tIns="27432" rIns="45720" bIns="27432" anchor="t">
            <a:spAutoFit/>
          </a:bodyPr>
          <a:lstStyle/>
          <a:p>
            <a:pPr algn="l"/>
            <a:r>
              <a:rPr sz="1800" b="0">
                <a:solidFill>
                  <a:srgbClr val="262F3D"/>
                </a:solidFill>
                <a:latin typeface="Calibri"/>
              </a:rPr>
              <a:t>Department of Artificial Intelligence &amp; Machine Learning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tIns="27432" rIns="45720" bIns="27432" anchor="ctr">
            <a:spAutoFit/>
          </a:bodyPr>
          <a:lstStyle/>
          <a:p>
            <a:pPr algn="l"/>
            <a:r>
              <a:rPr sz="2600" b="1">
                <a:solidFill>
                  <a:srgbClr val="1F3756"/>
                </a:solidFill>
                <a:latin typeface="Calibri"/>
              </a:rPr>
              <a:t>REVIEW 3 — PRESENTATION OUTLINE</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607040" y="6473952"/>
            <a:ext cx="1280160" cy="274320"/>
          </a:xfrm>
          <a:prstGeom prst="rect">
            <a:avLst/>
          </a:prstGeom>
          <a:noFill/>
        </p:spPr>
        <p:txBody>
          <a:bodyPr wrap="square" lIns="45720" tIns="27432" rIns="45720" bIns="27432" anchor="t">
            <a:spAutoFit/>
          </a:bodyPr>
          <a:lstStyle/>
          <a:p>
            <a:pPr algn="r"/>
            <a:r>
              <a:rPr sz="1100" b="0">
                <a:solidFill>
                  <a:srgbClr val="5B6778"/>
                </a:solidFill>
                <a:latin typeface="Calibri"/>
              </a:rPr>
              <a:t>Review 3  |  2</a:t>
            </a:r>
          </a:p>
        </p:txBody>
      </p:sp>
      <p:sp>
        <p:nvSpPr>
          <p:cNvPr id="7" name="Rounded Rectangle 6"/>
          <p:cNvSpPr/>
          <p:nvPr/>
        </p:nvSpPr>
        <p:spPr>
          <a:xfrm>
            <a:off x="731520" y="1234440"/>
            <a:ext cx="5303520" cy="71323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68680" y="1362456"/>
            <a:ext cx="457200" cy="457200"/>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rPr>
              <a:t>1</a:t>
            </a:r>
          </a:p>
        </p:txBody>
      </p:sp>
      <p:sp>
        <p:nvSpPr>
          <p:cNvPr id="9" name="TextBox 8"/>
          <p:cNvSpPr txBox="1"/>
          <p:nvPr/>
        </p:nvSpPr>
        <p:spPr>
          <a:xfrm>
            <a:off x="1463040" y="1344168"/>
            <a:ext cx="4480560" cy="502920"/>
          </a:xfrm>
          <a:prstGeom prst="rect">
            <a:avLst/>
          </a:prstGeom>
          <a:noFill/>
        </p:spPr>
        <p:txBody>
          <a:bodyPr wrap="square" lIns="45720" tIns="27432" rIns="45720" bIns="27432" anchor="ctr">
            <a:spAutoFit/>
          </a:bodyPr>
          <a:lstStyle/>
          <a:p>
            <a:pPr algn="l"/>
            <a:r>
              <a:rPr sz="1800" b="0">
                <a:solidFill>
                  <a:srgbClr val="262F3D"/>
                </a:solidFill>
                <a:latin typeface="Calibri"/>
              </a:rPr>
              <a:t>Proposal System</a:t>
            </a:r>
          </a:p>
        </p:txBody>
      </p:sp>
      <p:sp>
        <p:nvSpPr>
          <p:cNvPr id="10" name="Rounded Rectangle 9"/>
          <p:cNvSpPr/>
          <p:nvPr/>
        </p:nvSpPr>
        <p:spPr>
          <a:xfrm>
            <a:off x="6309359" y="1234440"/>
            <a:ext cx="5303520" cy="71323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446520" y="1362456"/>
            <a:ext cx="457200" cy="457200"/>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rPr>
              <a:t>2</a:t>
            </a:r>
          </a:p>
        </p:txBody>
      </p:sp>
      <p:sp>
        <p:nvSpPr>
          <p:cNvPr id="12" name="TextBox 11"/>
          <p:cNvSpPr txBox="1"/>
          <p:nvPr/>
        </p:nvSpPr>
        <p:spPr>
          <a:xfrm>
            <a:off x="7040879" y="1344168"/>
            <a:ext cx="4480560" cy="502920"/>
          </a:xfrm>
          <a:prstGeom prst="rect">
            <a:avLst/>
          </a:prstGeom>
          <a:noFill/>
        </p:spPr>
        <p:txBody>
          <a:bodyPr wrap="square" lIns="45720" tIns="27432" rIns="45720" bIns="27432" anchor="ctr">
            <a:spAutoFit/>
          </a:bodyPr>
          <a:lstStyle/>
          <a:p>
            <a:pPr algn="l"/>
            <a:r>
              <a:rPr sz="1800" b="0">
                <a:solidFill>
                  <a:srgbClr val="262F3D"/>
                </a:solidFill>
                <a:latin typeface="Calibri"/>
              </a:rPr>
              <a:t>Abstract</a:t>
            </a:r>
          </a:p>
        </p:txBody>
      </p:sp>
      <p:sp>
        <p:nvSpPr>
          <p:cNvPr id="13" name="Rounded Rectangle 12"/>
          <p:cNvSpPr/>
          <p:nvPr/>
        </p:nvSpPr>
        <p:spPr>
          <a:xfrm>
            <a:off x="731520" y="2075688"/>
            <a:ext cx="5303520" cy="71323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68680" y="2203704"/>
            <a:ext cx="457200" cy="457200"/>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rPr>
              <a:t>3</a:t>
            </a:r>
          </a:p>
        </p:txBody>
      </p:sp>
      <p:sp>
        <p:nvSpPr>
          <p:cNvPr id="15" name="TextBox 14"/>
          <p:cNvSpPr txBox="1"/>
          <p:nvPr/>
        </p:nvSpPr>
        <p:spPr>
          <a:xfrm>
            <a:off x="1463040" y="2185416"/>
            <a:ext cx="4480560" cy="502920"/>
          </a:xfrm>
          <a:prstGeom prst="rect">
            <a:avLst/>
          </a:prstGeom>
          <a:noFill/>
        </p:spPr>
        <p:txBody>
          <a:bodyPr wrap="square" lIns="45720" tIns="27432" rIns="45720" bIns="27432" anchor="ctr">
            <a:spAutoFit/>
          </a:bodyPr>
          <a:lstStyle/>
          <a:p>
            <a:pPr algn="l"/>
            <a:r>
              <a:rPr sz="1800" b="0">
                <a:solidFill>
                  <a:srgbClr val="262F3D"/>
                </a:solidFill>
                <a:latin typeface="Calibri"/>
              </a:rPr>
              <a:t>Problem Statement</a:t>
            </a:r>
          </a:p>
        </p:txBody>
      </p:sp>
      <p:sp>
        <p:nvSpPr>
          <p:cNvPr id="16" name="Rounded Rectangle 15"/>
          <p:cNvSpPr/>
          <p:nvPr/>
        </p:nvSpPr>
        <p:spPr>
          <a:xfrm>
            <a:off x="6309359" y="2075688"/>
            <a:ext cx="5303520" cy="71323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446520" y="2203704"/>
            <a:ext cx="457200" cy="457200"/>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rPr>
              <a:t>4</a:t>
            </a:r>
          </a:p>
        </p:txBody>
      </p:sp>
      <p:sp>
        <p:nvSpPr>
          <p:cNvPr id="18" name="TextBox 17"/>
          <p:cNvSpPr txBox="1"/>
          <p:nvPr/>
        </p:nvSpPr>
        <p:spPr>
          <a:xfrm>
            <a:off x="7040879" y="2185416"/>
            <a:ext cx="4480560" cy="502920"/>
          </a:xfrm>
          <a:prstGeom prst="rect">
            <a:avLst/>
          </a:prstGeom>
          <a:noFill/>
        </p:spPr>
        <p:txBody>
          <a:bodyPr wrap="square" lIns="45720" tIns="27432" rIns="45720" bIns="27432" anchor="ctr">
            <a:spAutoFit/>
          </a:bodyPr>
          <a:lstStyle/>
          <a:p>
            <a:pPr algn="l"/>
            <a:r>
              <a:rPr sz="1800" b="0">
                <a:solidFill>
                  <a:srgbClr val="262F3D"/>
                </a:solidFill>
                <a:latin typeface="Calibri"/>
              </a:rPr>
              <a:t>Dataset: Before &amp; After Cleaning</a:t>
            </a:r>
          </a:p>
        </p:txBody>
      </p:sp>
      <p:sp>
        <p:nvSpPr>
          <p:cNvPr id="19" name="Rounded Rectangle 18"/>
          <p:cNvSpPr/>
          <p:nvPr/>
        </p:nvSpPr>
        <p:spPr>
          <a:xfrm>
            <a:off x="731520" y="2916936"/>
            <a:ext cx="5303520" cy="71323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68680" y="3044952"/>
            <a:ext cx="457200" cy="457200"/>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rPr>
              <a:t>5</a:t>
            </a:r>
          </a:p>
        </p:txBody>
      </p:sp>
      <p:sp>
        <p:nvSpPr>
          <p:cNvPr id="21" name="TextBox 20"/>
          <p:cNvSpPr txBox="1"/>
          <p:nvPr/>
        </p:nvSpPr>
        <p:spPr>
          <a:xfrm>
            <a:off x="1463040" y="3026664"/>
            <a:ext cx="4480560" cy="502920"/>
          </a:xfrm>
          <a:prstGeom prst="rect">
            <a:avLst/>
          </a:prstGeom>
          <a:noFill/>
        </p:spPr>
        <p:txBody>
          <a:bodyPr wrap="square" lIns="45720" tIns="27432" rIns="45720" bIns="27432" anchor="ctr">
            <a:spAutoFit/>
          </a:bodyPr>
          <a:lstStyle/>
          <a:p>
            <a:pPr algn="l"/>
            <a:r>
              <a:rPr sz="1800" b="0">
                <a:solidFill>
                  <a:srgbClr val="262F3D"/>
                </a:solidFill>
                <a:latin typeface="Calibri"/>
              </a:rPr>
              <a:t>Missing Values &amp; Duplicates</a:t>
            </a:r>
          </a:p>
        </p:txBody>
      </p:sp>
      <p:sp>
        <p:nvSpPr>
          <p:cNvPr id="22" name="Rounded Rectangle 21"/>
          <p:cNvSpPr/>
          <p:nvPr/>
        </p:nvSpPr>
        <p:spPr>
          <a:xfrm>
            <a:off x="6309359" y="2916936"/>
            <a:ext cx="5303520" cy="71323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446520" y="3044952"/>
            <a:ext cx="457200" cy="457200"/>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rPr>
              <a:t>6</a:t>
            </a:r>
          </a:p>
        </p:txBody>
      </p:sp>
      <p:sp>
        <p:nvSpPr>
          <p:cNvPr id="24" name="TextBox 23"/>
          <p:cNvSpPr txBox="1"/>
          <p:nvPr/>
        </p:nvSpPr>
        <p:spPr>
          <a:xfrm>
            <a:off x="7040879" y="3026664"/>
            <a:ext cx="4480560" cy="502920"/>
          </a:xfrm>
          <a:prstGeom prst="rect">
            <a:avLst/>
          </a:prstGeom>
          <a:noFill/>
        </p:spPr>
        <p:txBody>
          <a:bodyPr wrap="square" lIns="45720" tIns="27432" rIns="45720" bIns="27432" anchor="ctr">
            <a:spAutoFit/>
          </a:bodyPr>
          <a:lstStyle/>
          <a:p>
            <a:pPr algn="l"/>
            <a:r>
              <a:rPr sz="1800" b="0">
                <a:solidFill>
                  <a:srgbClr val="262F3D"/>
                </a:solidFill>
                <a:latin typeface="Calibri"/>
              </a:rPr>
              <a:t>Coding Implementation (step-by-step)</a:t>
            </a:r>
          </a:p>
        </p:txBody>
      </p:sp>
      <p:sp>
        <p:nvSpPr>
          <p:cNvPr id="25" name="Rounded Rectangle 24"/>
          <p:cNvSpPr/>
          <p:nvPr/>
        </p:nvSpPr>
        <p:spPr>
          <a:xfrm>
            <a:off x="731520" y="3758184"/>
            <a:ext cx="5303520" cy="71323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68680" y="3886200"/>
            <a:ext cx="457200" cy="457200"/>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rPr>
              <a:t>7</a:t>
            </a:r>
          </a:p>
        </p:txBody>
      </p:sp>
      <p:sp>
        <p:nvSpPr>
          <p:cNvPr id="27" name="TextBox 26"/>
          <p:cNvSpPr txBox="1"/>
          <p:nvPr/>
        </p:nvSpPr>
        <p:spPr>
          <a:xfrm>
            <a:off x="1463040" y="3867912"/>
            <a:ext cx="4480560" cy="502920"/>
          </a:xfrm>
          <a:prstGeom prst="rect">
            <a:avLst/>
          </a:prstGeom>
          <a:noFill/>
        </p:spPr>
        <p:txBody>
          <a:bodyPr wrap="square" lIns="45720" tIns="27432" rIns="45720" bIns="27432" anchor="ctr">
            <a:spAutoFit/>
          </a:bodyPr>
          <a:lstStyle/>
          <a:p>
            <a:pPr algn="l"/>
            <a:r>
              <a:rPr sz="1800" b="0">
                <a:solidFill>
                  <a:srgbClr val="262F3D"/>
                </a:solidFill>
                <a:latin typeface="Calibri"/>
              </a:rPr>
              <a:t>Expected vs Actual Outputs</a:t>
            </a:r>
          </a:p>
        </p:txBody>
      </p:sp>
      <p:sp>
        <p:nvSpPr>
          <p:cNvPr id="28" name="Rounded Rectangle 27"/>
          <p:cNvSpPr/>
          <p:nvPr/>
        </p:nvSpPr>
        <p:spPr>
          <a:xfrm>
            <a:off x="6309359" y="3758184"/>
            <a:ext cx="5303520" cy="71323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6446520" y="3886200"/>
            <a:ext cx="457200" cy="457200"/>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rPr>
              <a:t>8</a:t>
            </a:r>
          </a:p>
        </p:txBody>
      </p:sp>
      <p:sp>
        <p:nvSpPr>
          <p:cNvPr id="30" name="TextBox 29"/>
          <p:cNvSpPr txBox="1"/>
          <p:nvPr/>
        </p:nvSpPr>
        <p:spPr>
          <a:xfrm>
            <a:off x="7040879" y="3867912"/>
            <a:ext cx="4480560" cy="502920"/>
          </a:xfrm>
          <a:prstGeom prst="rect">
            <a:avLst/>
          </a:prstGeom>
          <a:noFill/>
        </p:spPr>
        <p:txBody>
          <a:bodyPr wrap="square" lIns="45720" tIns="27432" rIns="45720" bIns="27432" anchor="ctr">
            <a:spAutoFit/>
          </a:bodyPr>
          <a:lstStyle/>
          <a:p>
            <a:pPr algn="l"/>
            <a:r>
              <a:rPr sz="1800" b="0">
                <a:solidFill>
                  <a:srgbClr val="262F3D"/>
                </a:solidFill>
                <a:latin typeface="Calibri"/>
              </a:rPr>
              <a:t>Prediction Model</a:t>
            </a:r>
          </a:p>
        </p:txBody>
      </p:sp>
      <p:sp>
        <p:nvSpPr>
          <p:cNvPr id="31" name="Rounded Rectangle 30"/>
          <p:cNvSpPr/>
          <p:nvPr/>
        </p:nvSpPr>
        <p:spPr>
          <a:xfrm>
            <a:off x="731520" y="4599432"/>
            <a:ext cx="5303520" cy="71323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68680" y="4727448"/>
            <a:ext cx="457200" cy="457200"/>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rPr>
              <a:t>9</a:t>
            </a:r>
          </a:p>
        </p:txBody>
      </p:sp>
      <p:sp>
        <p:nvSpPr>
          <p:cNvPr id="33" name="TextBox 32"/>
          <p:cNvSpPr txBox="1"/>
          <p:nvPr/>
        </p:nvSpPr>
        <p:spPr>
          <a:xfrm>
            <a:off x="1463040" y="4709160"/>
            <a:ext cx="4480560" cy="502920"/>
          </a:xfrm>
          <a:prstGeom prst="rect">
            <a:avLst/>
          </a:prstGeom>
          <a:noFill/>
        </p:spPr>
        <p:txBody>
          <a:bodyPr wrap="square" lIns="45720" tIns="27432" rIns="45720" bIns="27432" anchor="ctr">
            <a:spAutoFit/>
          </a:bodyPr>
          <a:lstStyle/>
          <a:p>
            <a:pPr algn="l"/>
            <a:r>
              <a:rPr sz="1800" b="0">
                <a:solidFill>
                  <a:srgbClr val="262F3D"/>
                </a:solidFill>
                <a:latin typeface="Calibri"/>
              </a:rPr>
              <a:t>Accuracy Details</a:t>
            </a:r>
          </a:p>
        </p:txBody>
      </p:sp>
      <p:sp>
        <p:nvSpPr>
          <p:cNvPr id="34" name="Rounded Rectangle 33"/>
          <p:cNvSpPr/>
          <p:nvPr/>
        </p:nvSpPr>
        <p:spPr>
          <a:xfrm>
            <a:off x="6309359" y="4599432"/>
            <a:ext cx="5303520" cy="71323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6446520" y="4727448"/>
            <a:ext cx="457200" cy="457200"/>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rPr>
              <a:t>10</a:t>
            </a:r>
          </a:p>
        </p:txBody>
      </p:sp>
      <p:sp>
        <p:nvSpPr>
          <p:cNvPr id="36" name="TextBox 35"/>
          <p:cNvSpPr txBox="1"/>
          <p:nvPr/>
        </p:nvSpPr>
        <p:spPr>
          <a:xfrm>
            <a:off x="7040879" y="4709160"/>
            <a:ext cx="4480560" cy="502920"/>
          </a:xfrm>
          <a:prstGeom prst="rect">
            <a:avLst/>
          </a:prstGeom>
          <a:noFill/>
        </p:spPr>
        <p:txBody>
          <a:bodyPr wrap="square" lIns="45720" tIns="27432" rIns="45720" bIns="27432" anchor="ctr">
            <a:spAutoFit/>
          </a:bodyPr>
          <a:lstStyle/>
          <a:p>
            <a:pPr algn="l"/>
            <a:r>
              <a:rPr sz="1800" b="0">
                <a:solidFill>
                  <a:srgbClr val="262F3D"/>
                </a:solidFill>
                <a:latin typeface="Calibri"/>
              </a:rPr>
              <a:t>Data Visualization</a:t>
            </a:r>
          </a:p>
        </p:txBody>
      </p:sp>
      <p:sp>
        <p:nvSpPr>
          <p:cNvPr id="37" name="Rounded Rectangle 36"/>
          <p:cNvSpPr/>
          <p:nvPr/>
        </p:nvSpPr>
        <p:spPr>
          <a:xfrm>
            <a:off x="731520" y="5440680"/>
            <a:ext cx="5303520" cy="71323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868680" y="5568696"/>
            <a:ext cx="457200" cy="457200"/>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rPr>
              <a:t>11</a:t>
            </a:r>
          </a:p>
        </p:txBody>
      </p:sp>
      <p:sp>
        <p:nvSpPr>
          <p:cNvPr id="39" name="TextBox 38"/>
          <p:cNvSpPr txBox="1"/>
          <p:nvPr/>
        </p:nvSpPr>
        <p:spPr>
          <a:xfrm>
            <a:off x="1463040" y="5550408"/>
            <a:ext cx="4480560" cy="502920"/>
          </a:xfrm>
          <a:prstGeom prst="rect">
            <a:avLst/>
          </a:prstGeom>
          <a:noFill/>
        </p:spPr>
        <p:txBody>
          <a:bodyPr wrap="square" lIns="45720" tIns="27432" rIns="45720" bIns="27432" anchor="ctr">
            <a:spAutoFit/>
          </a:bodyPr>
          <a:lstStyle/>
          <a:p>
            <a:pPr algn="l"/>
            <a:r>
              <a:rPr sz="1800" b="0">
                <a:solidFill>
                  <a:srgbClr val="262F3D"/>
                </a:solidFill>
                <a:latin typeface="Calibri"/>
              </a:rPr>
              <a:t>Conclusion &amp; Future Scope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tIns="27432" rIns="45720" bIns="27432" anchor="ctr">
            <a:spAutoFit/>
          </a:bodyPr>
          <a:lstStyle/>
          <a:p>
            <a:pPr algn="l"/>
            <a:r>
              <a:rPr sz="2600" b="1">
                <a:solidFill>
                  <a:srgbClr val="1F3756"/>
                </a:solidFill>
                <a:latin typeface="Calibri"/>
              </a:rPr>
              <a:t>PROPOSAL SYSTEM</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103120" y="914400"/>
            <a:ext cx="9601200" cy="365760"/>
          </a:xfrm>
          <a:prstGeom prst="rect">
            <a:avLst/>
          </a:prstGeom>
          <a:noFill/>
        </p:spPr>
        <p:txBody>
          <a:bodyPr wrap="square" lIns="45720" tIns="27432" rIns="45720" bIns="27432" anchor="t">
            <a:spAutoFit/>
          </a:bodyPr>
          <a:lstStyle/>
          <a:p>
            <a:pPr algn="l"/>
            <a:r>
              <a:rPr sz="1400" b="0">
                <a:solidFill>
                  <a:srgbClr val="5B6778"/>
                </a:solidFill>
                <a:latin typeface="Calibri"/>
              </a:rPr>
              <a:t>From Review 1: replace manual restaurant data analysis with an automated Python pipeline</a:t>
            </a:r>
          </a:p>
        </p:txBody>
      </p:sp>
      <p:sp>
        <p:nvSpPr>
          <p:cNvPr id="7" name="TextBox 6"/>
          <p:cNvSpPr txBox="1"/>
          <p:nvPr/>
        </p:nvSpPr>
        <p:spPr>
          <a:xfrm>
            <a:off x="10607040" y="6473952"/>
            <a:ext cx="1280160" cy="274320"/>
          </a:xfrm>
          <a:prstGeom prst="rect">
            <a:avLst/>
          </a:prstGeom>
          <a:noFill/>
        </p:spPr>
        <p:txBody>
          <a:bodyPr wrap="square" lIns="45720" tIns="27432" rIns="45720" bIns="27432" anchor="t">
            <a:spAutoFit/>
          </a:bodyPr>
          <a:lstStyle/>
          <a:p>
            <a:pPr algn="r"/>
            <a:r>
              <a:rPr sz="1100" b="0">
                <a:solidFill>
                  <a:srgbClr val="5B6778"/>
                </a:solidFill>
                <a:latin typeface="Calibri"/>
              </a:rPr>
              <a:t>Review 3  |  3</a:t>
            </a:r>
          </a:p>
        </p:txBody>
      </p:sp>
      <p:sp>
        <p:nvSpPr>
          <p:cNvPr id="8" name="Rounded Rectangle 7"/>
          <p:cNvSpPr/>
          <p:nvPr/>
        </p:nvSpPr>
        <p:spPr>
          <a:xfrm>
            <a:off x="457200" y="1371600"/>
            <a:ext cx="3657600" cy="23317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481328"/>
            <a:ext cx="64008" cy="2112263"/>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444752"/>
            <a:ext cx="3383280" cy="365760"/>
          </a:xfrm>
          <a:prstGeom prst="rect">
            <a:avLst/>
          </a:prstGeom>
          <a:noFill/>
        </p:spPr>
        <p:txBody>
          <a:bodyPr wrap="square" lIns="45720" tIns="27432" rIns="45720" bIns="27432" anchor="t">
            <a:spAutoFit/>
          </a:bodyPr>
          <a:lstStyle/>
          <a:p>
            <a:pPr algn="l"/>
            <a:r>
              <a:rPr sz="1700" b="1">
                <a:solidFill>
                  <a:srgbClr val="A93A2A"/>
                </a:solidFill>
                <a:latin typeface="Calibri"/>
              </a:rPr>
              <a:t>Existing system</a:t>
            </a:r>
          </a:p>
        </p:txBody>
      </p:sp>
      <p:sp>
        <p:nvSpPr>
          <p:cNvPr id="11" name="TextBox 10"/>
          <p:cNvSpPr txBox="1"/>
          <p:nvPr/>
        </p:nvSpPr>
        <p:spPr>
          <a:xfrm>
            <a:off x="640080" y="1828800"/>
            <a:ext cx="3383280" cy="1828799"/>
          </a:xfrm>
          <a:prstGeom prst="rect">
            <a:avLst/>
          </a:prstGeom>
          <a:noFill/>
        </p:spPr>
        <p:txBody>
          <a:bodyPr wrap="square" lIns="45720" tIns="27432" rIns="45720" bIns="27432" anchor="t">
            <a:spAutoFit/>
          </a:bodyPr>
          <a:lstStyle/>
          <a:p>
            <a:pPr algn="l"/>
            <a:r>
              <a:rPr sz="1500" b="0">
                <a:solidFill>
                  <a:srgbClr val="262F3D"/>
                </a:solidFill>
                <a:latin typeface="Calibri"/>
              </a:rPr>
              <a:t>Restaurant records and ratings reviewed by hand in Excel / CSV.
Slow, error-prone, missing values hurt decisions, no charts, hard to compare cities and cuisines.</a:t>
            </a:r>
          </a:p>
        </p:txBody>
      </p:sp>
      <p:sp>
        <p:nvSpPr>
          <p:cNvPr id="12" name="Rounded Rectangle 11"/>
          <p:cNvSpPr/>
          <p:nvPr/>
        </p:nvSpPr>
        <p:spPr>
          <a:xfrm>
            <a:off x="4297680" y="1371600"/>
            <a:ext cx="3749039" cy="23317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97680" y="1481328"/>
            <a:ext cx="64008" cy="2112263"/>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80560" y="1444752"/>
            <a:ext cx="3474720" cy="365760"/>
          </a:xfrm>
          <a:prstGeom prst="rect">
            <a:avLst/>
          </a:prstGeom>
          <a:noFill/>
        </p:spPr>
        <p:txBody>
          <a:bodyPr wrap="square" lIns="45720" tIns="27432" rIns="45720" bIns="27432" anchor="t">
            <a:spAutoFit/>
          </a:bodyPr>
          <a:lstStyle/>
          <a:p>
            <a:pPr algn="l"/>
            <a:r>
              <a:rPr sz="1700" b="1">
                <a:solidFill>
                  <a:srgbClr val="2E7D4F"/>
                </a:solidFill>
                <a:latin typeface="Calibri"/>
              </a:rPr>
              <a:t>Proposed system</a:t>
            </a:r>
          </a:p>
        </p:txBody>
      </p:sp>
      <p:sp>
        <p:nvSpPr>
          <p:cNvPr id="15" name="TextBox 14"/>
          <p:cNvSpPr txBox="1"/>
          <p:nvPr/>
        </p:nvSpPr>
        <p:spPr>
          <a:xfrm>
            <a:off x="4480560" y="1828800"/>
            <a:ext cx="3474720" cy="1828799"/>
          </a:xfrm>
          <a:prstGeom prst="rect">
            <a:avLst/>
          </a:prstGeom>
          <a:noFill/>
        </p:spPr>
        <p:txBody>
          <a:bodyPr wrap="square" lIns="45720" tIns="27432" rIns="45720" bIns="27432" anchor="t">
            <a:spAutoFit/>
          </a:bodyPr>
          <a:lstStyle/>
          <a:p>
            <a:pPr algn="l"/>
            <a:r>
              <a:rPr sz="1500" b="0">
                <a:solidFill>
                  <a:srgbClr val="262F3D"/>
                </a:solidFill>
                <a:latin typeface="Calibri"/>
              </a:rPr>
              <a:t>Python + Pandas pipeline that loads CSV data, cleans it, runs EDA, draws charts, and predicts whether a restaurant will be highly rated.</a:t>
            </a:r>
          </a:p>
        </p:txBody>
      </p:sp>
      <p:sp>
        <p:nvSpPr>
          <p:cNvPr id="16" name="Rounded Rectangle 15"/>
          <p:cNvSpPr/>
          <p:nvPr/>
        </p:nvSpPr>
        <p:spPr>
          <a:xfrm>
            <a:off x="8229600" y="1371600"/>
            <a:ext cx="3520440" cy="23317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229600" y="1481328"/>
            <a:ext cx="64008" cy="2112263"/>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80" y="1444752"/>
            <a:ext cx="3246120" cy="365760"/>
          </a:xfrm>
          <a:prstGeom prst="rect">
            <a:avLst/>
          </a:prstGeom>
          <a:noFill/>
        </p:spPr>
        <p:txBody>
          <a:bodyPr wrap="square" lIns="45720" tIns="27432" rIns="45720" bIns="27432" anchor="t">
            <a:spAutoFit/>
          </a:bodyPr>
          <a:lstStyle/>
          <a:p>
            <a:pPr algn="l"/>
            <a:r>
              <a:rPr sz="1700" b="1">
                <a:solidFill>
                  <a:srgbClr val="1F3756"/>
                </a:solidFill>
                <a:latin typeface="Calibri"/>
              </a:rPr>
              <a:t>Advantages</a:t>
            </a:r>
          </a:p>
        </p:txBody>
      </p:sp>
      <p:sp>
        <p:nvSpPr>
          <p:cNvPr id="19" name="TextBox 18"/>
          <p:cNvSpPr txBox="1"/>
          <p:nvPr/>
        </p:nvSpPr>
        <p:spPr>
          <a:xfrm>
            <a:off x="8412480" y="1828800"/>
            <a:ext cx="3246120" cy="1828799"/>
          </a:xfrm>
          <a:prstGeom prst="rect">
            <a:avLst/>
          </a:prstGeom>
          <a:noFill/>
        </p:spPr>
        <p:txBody>
          <a:bodyPr wrap="square" lIns="45720" tIns="27432" rIns="45720" bIns="27432" anchor="t">
            <a:spAutoFit/>
          </a:bodyPr>
          <a:lstStyle/>
          <a:p>
            <a:pPr algn="l"/>
            <a:r>
              <a:rPr sz="1500" b="0" dirty="0">
                <a:solidFill>
                  <a:srgbClr val="262F3D"/>
                </a:solidFill>
                <a:latin typeface="Calibri"/>
              </a:rPr>
              <a:t>Faster processing
Better data quality
Automatic cleaning
Easy visualization
Supports business decisions</a:t>
            </a:r>
          </a:p>
        </p:txBody>
      </p:sp>
      <p:sp>
        <p:nvSpPr>
          <p:cNvPr id="20" name="TextBox 19"/>
          <p:cNvSpPr txBox="1"/>
          <p:nvPr/>
        </p:nvSpPr>
        <p:spPr>
          <a:xfrm>
            <a:off x="457200" y="3931920"/>
            <a:ext cx="10972800" cy="365760"/>
          </a:xfrm>
          <a:prstGeom prst="rect">
            <a:avLst/>
          </a:prstGeom>
          <a:noFill/>
        </p:spPr>
        <p:txBody>
          <a:bodyPr wrap="square" lIns="45720" tIns="27432" rIns="45720" bIns="27432" anchor="t">
            <a:spAutoFit/>
          </a:bodyPr>
          <a:lstStyle/>
          <a:p>
            <a:pPr algn="l"/>
            <a:r>
              <a:rPr sz="1400" b="1">
                <a:solidFill>
                  <a:srgbClr val="E8742A"/>
                </a:solidFill>
                <a:latin typeface="Calibri"/>
              </a:rPr>
              <a:t>PROPOSED WORKFLOW</a:t>
            </a:r>
          </a:p>
        </p:txBody>
      </p:sp>
      <p:sp>
        <p:nvSpPr>
          <p:cNvPr id="21" name="Rounded Rectangle 20"/>
          <p:cNvSpPr/>
          <p:nvPr/>
        </p:nvSpPr>
        <p:spPr>
          <a:xfrm>
            <a:off x="457200" y="4343400"/>
            <a:ext cx="1280160" cy="914400"/>
          </a:xfrm>
          <a:prstGeom prst="roundRect">
            <a:avLst>
              <a:gd name="adj" fmla="val 8000"/>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4343400"/>
            <a:ext cx="1280160" cy="914400"/>
          </a:xfrm>
          <a:prstGeom prst="rect">
            <a:avLst/>
          </a:prstGeom>
          <a:noFill/>
        </p:spPr>
        <p:txBody>
          <a:bodyPr wrap="square" lIns="45720" tIns="27432" rIns="45720" bIns="27432" anchor="ctr">
            <a:spAutoFit/>
          </a:bodyPr>
          <a:lstStyle/>
          <a:p>
            <a:pPr algn="ctr"/>
            <a:r>
              <a:rPr sz="1300" b="1">
                <a:solidFill>
                  <a:srgbClr val="FFFFFF"/>
                </a:solidFill>
                <a:latin typeface="Calibri"/>
              </a:rPr>
              <a:t>Load CSV
data</a:t>
            </a:r>
          </a:p>
        </p:txBody>
      </p:sp>
      <p:sp>
        <p:nvSpPr>
          <p:cNvPr id="23" name="Rounded Rectangle 22"/>
          <p:cNvSpPr/>
          <p:nvPr/>
        </p:nvSpPr>
        <p:spPr>
          <a:xfrm>
            <a:off x="1828800" y="4343400"/>
            <a:ext cx="1280160" cy="914400"/>
          </a:xfrm>
          <a:prstGeom prst="roundRect">
            <a:avLst>
              <a:gd name="adj" fmla="val 8000"/>
            </a:avLst>
          </a:prstGeom>
          <a:solidFill>
            <a:srgbClr val="2F4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828800" y="4343400"/>
            <a:ext cx="1280160" cy="914400"/>
          </a:xfrm>
          <a:prstGeom prst="rect">
            <a:avLst/>
          </a:prstGeom>
          <a:noFill/>
        </p:spPr>
        <p:txBody>
          <a:bodyPr wrap="square" lIns="45720" tIns="27432" rIns="45720" bIns="27432" anchor="ctr">
            <a:spAutoFit/>
          </a:bodyPr>
          <a:lstStyle/>
          <a:p>
            <a:pPr algn="ctr"/>
            <a:r>
              <a:rPr sz="1300" b="1">
                <a:solidFill>
                  <a:srgbClr val="FFFFFF"/>
                </a:solidFill>
                <a:latin typeface="Calibri"/>
              </a:rPr>
              <a:t>Inspect &amp;
explore</a:t>
            </a:r>
          </a:p>
        </p:txBody>
      </p:sp>
      <p:sp>
        <p:nvSpPr>
          <p:cNvPr id="25" name="Rounded Rectangle 24"/>
          <p:cNvSpPr/>
          <p:nvPr/>
        </p:nvSpPr>
        <p:spPr>
          <a:xfrm>
            <a:off x="3200400" y="4343400"/>
            <a:ext cx="1280160" cy="914400"/>
          </a:xfrm>
          <a:prstGeom prst="roundRect">
            <a:avLst>
              <a:gd name="adj" fmla="val 8000"/>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200400" y="4343400"/>
            <a:ext cx="1280160" cy="914400"/>
          </a:xfrm>
          <a:prstGeom prst="rect">
            <a:avLst/>
          </a:prstGeom>
          <a:noFill/>
        </p:spPr>
        <p:txBody>
          <a:bodyPr wrap="square" lIns="45720" tIns="27432" rIns="45720" bIns="27432" anchor="ctr">
            <a:spAutoFit/>
          </a:bodyPr>
          <a:lstStyle/>
          <a:p>
            <a:pPr algn="ctr"/>
            <a:r>
              <a:rPr sz="1300" b="1">
                <a:solidFill>
                  <a:srgbClr val="FFFFFF"/>
                </a:solidFill>
                <a:latin typeface="Calibri"/>
              </a:rPr>
              <a:t>Clean
(dups, nulls)</a:t>
            </a:r>
          </a:p>
        </p:txBody>
      </p:sp>
      <p:sp>
        <p:nvSpPr>
          <p:cNvPr id="27" name="Rounded Rectangle 26"/>
          <p:cNvSpPr/>
          <p:nvPr/>
        </p:nvSpPr>
        <p:spPr>
          <a:xfrm>
            <a:off x="4572000" y="4343400"/>
            <a:ext cx="1280160" cy="914400"/>
          </a:xfrm>
          <a:prstGeom prst="roundRect">
            <a:avLst>
              <a:gd name="adj" fmla="val 8000"/>
            </a:avLst>
          </a:prstGeom>
          <a:solidFill>
            <a:srgbClr val="2F4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0" y="4343400"/>
            <a:ext cx="1280160" cy="914400"/>
          </a:xfrm>
          <a:prstGeom prst="rect">
            <a:avLst/>
          </a:prstGeom>
          <a:noFill/>
        </p:spPr>
        <p:txBody>
          <a:bodyPr wrap="square" lIns="45720" tIns="27432" rIns="45720" bIns="27432" anchor="ctr">
            <a:spAutoFit/>
          </a:bodyPr>
          <a:lstStyle/>
          <a:p>
            <a:pPr algn="ctr"/>
            <a:r>
              <a:rPr sz="1300" b="1">
                <a:solidFill>
                  <a:srgbClr val="FFFFFF"/>
                </a:solidFill>
                <a:latin typeface="Calibri"/>
              </a:rPr>
              <a:t>Preprocess
&amp; encode</a:t>
            </a:r>
          </a:p>
        </p:txBody>
      </p:sp>
      <p:sp>
        <p:nvSpPr>
          <p:cNvPr id="29" name="Rounded Rectangle 28"/>
          <p:cNvSpPr/>
          <p:nvPr/>
        </p:nvSpPr>
        <p:spPr>
          <a:xfrm>
            <a:off x="5943600" y="4343400"/>
            <a:ext cx="1280160" cy="914400"/>
          </a:xfrm>
          <a:prstGeom prst="roundRect">
            <a:avLst>
              <a:gd name="adj" fmla="val 8000"/>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943600" y="4343400"/>
            <a:ext cx="1280160" cy="914400"/>
          </a:xfrm>
          <a:prstGeom prst="rect">
            <a:avLst/>
          </a:prstGeom>
          <a:noFill/>
        </p:spPr>
        <p:txBody>
          <a:bodyPr wrap="square" lIns="45720" tIns="27432" rIns="45720" bIns="27432" anchor="ctr">
            <a:spAutoFit/>
          </a:bodyPr>
          <a:lstStyle/>
          <a:p>
            <a:pPr algn="ctr"/>
            <a:r>
              <a:rPr sz="1300" b="1">
                <a:solidFill>
                  <a:srgbClr val="FFFFFF"/>
                </a:solidFill>
                <a:latin typeface="Calibri"/>
              </a:rPr>
              <a:t>EDA &amp;
groupby</a:t>
            </a:r>
          </a:p>
        </p:txBody>
      </p:sp>
      <p:sp>
        <p:nvSpPr>
          <p:cNvPr id="31" name="Rounded Rectangle 30"/>
          <p:cNvSpPr/>
          <p:nvPr/>
        </p:nvSpPr>
        <p:spPr>
          <a:xfrm>
            <a:off x="7315200" y="4343400"/>
            <a:ext cx="1280160" cy="914400"/>
          </a:xfrm>
          <a:prstGeom prst="roundRect">
            <a:avLst>
              <a:gd name="adj" fmla="val 8000"/>
            </a:avLst>
          </a:prstGeom>
          <a:solidFill>
            <a:srgbClr val="2F4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315200" y="4343400"/>
            <a:ext cx="1280160" cy="914400"/>
          </a:xfrm>
          <a:prstGeom prst="rect">
            <a:avLst/>
          </a:prstGeom>
          <a:noFill/>
        </p:spPr>
        <p:txBody>
          <a:bodyPr wrap="square" lIns="45720" tIns="27432" rIns="45720" bIns="27432" anchor="ctr">
            <a:spAutoFit/>
          </a:bodyPr>
          <a:lstStyle/>
          <a:p>
            <a:pPr algn="ctr"/>
            <a:r>
              <a:rPr sz="1300" b="1">
                <a:solidFill>
                  <a:srgbClr val="FFFFFF"/>
                </a:solidFill>
                <a:latin typeface="Calibri"/>
              </a:rPr>
              <a:t>Visualize</a:t>
            </a:r>
          </a:p>
        </p:txBody>
      </p:sp>
      <p:sp>
        <p:nvSpPr>
          <p:cNvPr id="33" name="Rounded Rectangle 32"/>
          <p:cNvSpPr/>
          <p:nvPr/>
        </p:nvSpPr>
        <p:spPr>
          <a:xfrm>
            <a:off x="8686800" y="4343400"/>
            <a:ext cx="1280160" cy="914400"/>
          </a:xfrm>
          <a:prstGeom prst="roundRect">
            <a:avLst>
              <a:gd name="adj" fmla="val 8000"/>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686800" y="4343400"/>
            <a:ext cx="1280160" cy="914400"/>
          </a:xfrm>
          <a:prstGeom prst="rect">
            <a:avLst/>
          </a:prstGeom>
          <a:noFill/>
        </p:spPr>
        <p:txBody>
          <a:bodyPr wrap="square" lIns="45720" tIns="27432" rIns="45720" bIns="27432" anchor="ctr">
            <a:spAutoFit/>
          </a:bodyPr>
          <a:lstStyle/>
          <a:p>
            <a:pPr algn="ctr"/>
            <a:r>
              <a:rPr sz="1300" b="1">
                <a:solidFill>
                  <a:srgbClr val="FFFFFF"/>
                </a:solidFill>
                <a:latin typeface="Calibri"/>
              </a:rPr>
              <a:t>Train
model</a:t>
            </a:r>
          </a:p>
        </p:txBody>
      </p:sp>
      <p:sp>
        <p:nvSpPr>
          <p:cNvPr id="35" name="Rounded Rectangle 34"/>
          <p:cNvSpPr/>
          <p:nvPr/>
        </p:nvSpPr>
        <p:spPr>
          <a:xfrm>
            <a:off x="10058400" y="4343400"/>
            <a:ext cx="1280160" cy="914400"/>
          </a:xfrm>
          <a:prstGeom prst="roundRect">
            <a:avLst>
              <a:gd name="adj" fmla="val 8000"/>
            </a:avLst>
          </a:prstGeom>
          <a:solidFill>
            <a:srgbClr val="2F4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058400" y="4343400"/>
            <a:ext cx="1280160" cy="914400"/>
          </a:xfrm>
          <a:prstGeom prst="rect">
            <a:avLst/>
          </a:prstGeom>
          <a:noFill/>
        </p:spPr>
        <p:txBody>
          <a:bodyPr wrap="square" lIns="45720" tIns="27432" rIns="45720" bIns="27432" anchor="ctr">
            <a:spAutoFit/>
          </a:bodyPr>
          <a:lstStyle/>
          <a:p>
            <a:pPr algn="ctr"/>
            <a:r>
              <a:rPr sz="1300" b="1">
                <a:solidFill>
                  <a:srgbClr val="FFFFFF"/>
                </a:solidFill>
                <a:latin typeface="Calibri"/>
              </a:rPr>
              <a:t>Evaluate</a:t>
            </a:r>
          </a:p>
        </p:txBody>
      </p:sp>
      <p:sp>
        <p:nvSpPr>
          <p:cNvPr id="37" name="TextBox 36"/>
          <p:cNvSpPr txBox="1"/>
          <p:nvPr/>
        </p:nvSpPr>
        <p:spPr>
          <a:xfrm>
            <a:off x="457200" y="5486400"/>
            <a:ext cx="11247120" cy="731520"/>
          </a:xfrm>
          <a:prstGeom prst="rect">
            <a:avLst/>
          </a:prstGeom>
          <a:noFill/>
        </p:spPr>
        <p:txBody>
          <a:bodyPr wrap="square" lIns="45720" tIns="27432" rIns="45720" bIns="27432" anchor="t">
            <a:spAutoFit/>
          </a:bodyPr>
          <a:lstStyle/>
          <a:p>
            <a:pPr algn="l"/>
            <a:r>
              <a:rPr sz="1400" b="0">
                <a:solidFill>
                  <a:srgbClr val="5B6778"/>
                </a:solidFill>
                <a:latin typeface="Calibri"/>
              </a:rPr>
              <a:t>Review 1 proposed the system and its modules → Review 2 delivered cleaning, EDA and a first model → Review 3 consolidates the full implementation, outputs, accuracy and visualizations.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tIns="27432" rIns="45720" bIns="27432" anchor="ctr">
            <a:spAutoFit/>
          </a:bodyPr>
          <a:lstStyle/>
          <a:p>
            <a:pPr algn="l"/>
            <a:r>
              <a:rPr sz="2600" b="1">
                <a:solidFill>
                  <a:srgbClr val="1F3756"/>
                </a:solidFill>
                <a:latin typeface="Calibri"/>
              </a:rPr>
              <a:t>ABSTRACT</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607040" y="6473952"/>
            <a:ext cx="1280160" cy="274320"/>
          </a:xfrm>
          <a:prstGeom prst="rect">
            <a:avLst/>
          </a:prstGeom>
          <a:noFill/>
        </p:spPr>
        <p:txBody>
          <a:bodyPr wrap="square" lIns="45720" tIns="27432" rIns="45720" bIns="27432" anchor="t">
            <a:spAutoFit/>
          </a:bodyPr>
          <a:lstStyle/>
          <a:p>
            <a:pPr algn="r"/>
            <a:r>
              <a:rPr sz="1100" b="0">
                <a:solidFill>
                  <a:srgbClr val="5B6778"/>
                </a:solidFill>
                <a:latin typeface="Calibri"/>
              </a:rPr>
              <a:t>Review 3  |  4</a:t>
            </a:r>
          </a:p>
        </p:txBody>
      </p:sp>
      <p:sp>
        <p:nvSpPr>
          <p:cNvPr id="7" name="TextBox 6"/>
          <p:cNvSpPr txBox="1"/>
          <p:nvPr/>
        </p:nvSpPr>
        <p:spPr>
          <a:xfrm>
            <a:off x="548640" y="1188720"/>
            <a:ext cx="11064240" cy="2517612"/>
          </a:xfrm>
          <a:prstGeom prst="rect">
            <a:avLst/>
          </a:prstGeom>
          <a:noFill/>
        </p:spPr>
        <p:txBody>
          <a:bodyPr wrap="square" lIns="45720" tIns="27432" rIns="45720" bIns="27432" anchor="t">
            <a:spAutoFit/>
          </a:bodyPr>
          <a:lstStyle/>
          <a:p>
            <a:pPr algn="l"/>
            <a:r>
              <a:rPr sz="1600" b="0" dirty="0">
                <a:solidFill>
                  <a:srgbClr val="262F3D"/>
                </a:solidFill>
                <a:latin typeface="Calibri"/>
              </a:rPr>
              <a:t>The </a:t>
            </a:r>
            <a:r>
              <a:rPr lang="en-IN" sz="1600" b="0" dirty="0">
                <a:solidFill>
                  <a:srgbClr val="262F3D"/>
                </a:solidFill>
                <a:latin typeface="Calibri"/>
              </a:rPr>
              <a:t>Sales</a:t>
            </a:r>
            <a:r>
              <a:rPr sz="1600" b="0" dirty="0">
                <a:solidFill>
                  <a:srgbClr val="262F3D"/>
                </a:solidFill>
                <a:latin typeface="Calibri"/>
              </a:rPr>
              <a:t> Data Analysis System is a Python-based analytics project that studies 9,551 restaurant listings (21 columns) to understand which factors are associated with a restaurant being highly rated.</a:t>
            </a:r>
          </a:p>
          <a:p>
            <a:pPr algn="l"/>
            <a:endParaRPr sz="1600" b="0" dirty="0">
              <a:solidFill>
                <a:srgbClr val="262F3D"/>
              </a:solidFill>
              <a:latin typeface="Calibri"/>
            </a:endParaRPr>
          </a:p>
          <a:p>
            <a:pPr algn="l"/>
            <a:r>
              <a:rPr sz="1600" b="0" dirty="0">
                <a:solidFill>
                  <a:srgbClr val="262F3D"/>
                </a:solidFill>
                <a:latin typeface="Calibri"/>
              </a:rPr>
              <a:t>The raw CSV data is inspected, checked for duplicates and missing values (9 missing cells found, 0 duplicate rows), cleaned using most-frequent imputation, and prepared for analysis. The 2,148 unrated restaurants (rating 0) are excluded from modelling. Bar charts compare high-rating rates across price ranges, cities and cuisines.</a:t>
            </a:r>
          </a:p>
          <a:p>
            <a:pPr algn="l"/>
            <a:endParaRPr sz="1600" b="0" dirty="0">
              <a:solidFill>
                <a:srgbClr val="262F3D"/>
              </a:solidFill>
              <a:latin typeface="Calibri"/>
            </a:endParaRPr>
          </a:p>
          <a:p>
            <a:pPr algn="l"/>
            <a:r>
              <a:rPr sz="1600" b="0" dirty="0">
                <a:solidFill>
                  <a:srgbClr val="262F3D"/>
                </a:solidFill>
                <a:latin typeface="Calibri"/>
              </a:rPr>
              <a:t>A Logistic Regression model, trained on 7,403 rated restaurants, predicts </a:t>
            </a:r>
            <a:r>
              <a:rPr sz="1600" b="0" dirty="0" err="1">
                <a:solidFill>
                  <a:srgbClr val="262F3D"/>
                </a:solidFill>
                <a:latin typeface="Calibri"/>
              </a:rPr>
              <a:t>Rating_Status</a:t>
            </a:r>
            <a:r>
              <a:rPr sz="1600" b="0" dirty="0">
                <a:solidFill>
                  <a:srgbClr val="262F3D"/>
                </a:solidFill>
                <a:latin typeface="Calibri"/>
              </a:rPr>
              <a:t> (Y = rating ≥ 3.5 / N = below) and reaches 79.9% accuracy, 87.1% precision, 67.1% recall and 75.8% F1 on a held-out test set. The key finding is that higher-priced restaurants are far more likely to be highly rated.</a:t>
            </a:r>
          </a:p>
        </p:txBody>
      </p:sp>
      <p:sp>
        <p:nvSpPr>
          <p:cNvPr id="8" name="Rounded Rectangle 7"/>
          <p:cNvSpPr/>
          <p:nvPr/>
        </p:nvSpPr>
        <p:spPr>
          <a:xfrm>
            <a:off x="548640" y="4754880"/>
            <a:ext cx="2651760" cy="137160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4846320"/>
            <a:ext cx="2651760" cy="640080"/>
          </a:xfrm>
          <a:prstGeom prst="rect">
            <a:avLst/>
          </a:prstGeom>
          <a:noFill/>
        </p:spPr>
        <p:txBody>
          <a:bodyPr wrap="square" lIns="45720" tIns="27432" rIns="45720" bIns="27432" anchor="t">
            <a:spAutoFit/>
          </a:bodyPr>
          <a:lstStyle/>
          <a:p>
            <a:pPr algn="ctr"/>
            <a:r>
              <a:rPr sz="3200" b="1">
                <a:solidFill>
                  <a:srgbClr val="1F3756"/>
                </a:solidFill>
                <a:latin typeface="Calibri"/>
              </a:rPr>
              <a:t>9,551</a:t>
            </a:r>
          </a:p>
        </p:txBody>
      </p:sp>
      <p:sp>
        <p:nvSpPr>
          <p:cNvPr id="10" name="TextBox 9"/>
          <p:cNvSpPr txBox="1"/>
          <p:nvPr/>
        </p:nvSpPr>
        <p:spPr>
          <a:xfrm>
            <a:off x="548640" y="5486400"/>
            <a:ext cx="2651760" cy="457200"/>
          </a:xfrm>
          <a:prstGeom prst="rect">
            <a:avLst/>
          </a:prstGeom>
          <a:noFill/>
        </p:spPr>
        <p:txBody>
          <a:bodyPr wrap="square" lIns="45720" tIns="27432" rIns="45720" bIns="27432" anchor="t">
            <a:spAutoFit/>
          </a:bodyPr>
          <a:lstStyle/>
          <a:p>
            <a:pPr algn="ctr"/>
            <a:r>
              <a:rPr sz="1400" b="0">
                <a:solidFill>
                  <a:srgbClr val="5B6778"/>
                </a:solidFill>
                <a:latin typeface="Calibri"/>
              </a:rPr>
              <a:t>restaurants analysed</a:t>
            </a:r>
          </a:p>
        </p:txBody>
      </p:sp>
      <p:sp>
        <p:nvSpPr>
          <p:cNvPr id="11" name="Rounded Rectangle 10"/>
          <p:cNvSpPr/>
          <p:nvPr/>
        </p:nvSpPr>
        <p:spPr>
          <a:xfrm>
            <a:off x="3364992" y="4754880"/>
            <a:ext cx="2651760" cy="137160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64992" y="4846320"/>
            <a:ext cx="2651760" cy="640080"/>
          </a:xfrm>
          <a:prstGeom prst="rect">
            <a:avLst/>
          </a:prstGeom>
          <a:noFill/>
        </p:spPr>
        <p:txBody>
          <a:bodyPr wrap="square" lIns="45720" tIns="27432" rIns="45720" bIns="27432" anchor="t">
            <a:spAutoFit/>
          </a:bodyPr>
          <a:lstStyle/>
          <a:p>
            <a:pPr algn="ctr"/>
            <a:r>
              <a:rPr sz="3200" b="1">
                <a:solidFill>
                  <a:srgbClr val="1F3756"/>
                </a:solidFill>
                <a:latin typeface="Calibri"/>
              </a:rPr>
              <a:t>9</a:t>
            </a:r>
          </a:p>
        </p:txBody>
      </p:sp>
      <p:sp>
        <p:nvSpPr>
          <p:cNvPr id="13" name="TextBox 12"/>
          <p:cNvSpPr txBox="1"/>
          <p:nvPr/>
        </p:nvSpPr>
        <p:spPr>
          <a:xfrm>
            <a:off x="3364992" y="5486400"/>
            <a:ext cx="2651760" cy="457200"/>
          </a:xfrm>
          <a:prstGeom prst="rect">
            <a:avLst/>
          </a:prstGeom>
          <a:noFill/>
        </p:spPr>
        <p:txBody>
          <a:bodyPr wrap="square" lIns="45720" tIns="27432" rIns="45720" bIns="27432" anchor="t">
            <a:spAutoFit/>
          </a:bodyPr>
          <a:lstStyle/>
          <a:p>
            <a:pPr algn="ctr"/>
            <a:r>
              <a:rPr sz="1400" b="0">
                <a:solidFill>
                  <a:srgbClr val="5B6778"/>
                </a:solidFill>
                <a:latin typeface="Calibri"/>
              </a:rPr>
              <a:t>missing cells treated</a:t>
            </a:r>
          </a:p>
        </p:txBody>
      </p:sp>
      <p:sp>
        <p:nvSpPr>
          <p:cNvPr id="14" name="Rounded Rectangle 13"/>
          <p:cNvSpPr/>
          <p:nvPr/>
        </p:nvSpPr>
        <p:spPr>
          <a:xfrm>
            <a:off x="6181344" y="4754880"/>
            <a:ext cx="2651760" cy="137160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181344" y="4846320"/>
            <a:ext cx="2651760" cy="640080"/>
          </a:xfrm>
          <a:prstGeom prst="rect">
            <a:avLst/>
          </a:prstGeom>
          <a:noFill/>
        </p:spPr>
        <p:txBody>
          <a:bodyPr wrap="square" lIns="45720" tIns="27432" rIns="45720" bIns="27432" anchor="t">
            <a:spAutoFit/>
          </a:bodyPr>
          <a:lstStyle/>
          <a:p>
            <a:pPr algn="ctr"/>
            <a:r>
              <a:rPr sz="3200" b="1">
                <a:solidFill>
                  <a:srgbClr val="1F3756"/>
                </a:solidFill>
                <a:latin typeface="Calibri"/>
              </a:rPr>
              <a:t>47.0%</a:t>
            </a:r>
          </a:p>
        </p:txBody>
      </p:sp>
      <p:sp>
        <p:nvSpPr>
          <p:cNvPr id="16" name="TextBox 15"/>
          <p:cNvSpPr txBox="1"/>
          <p:nvPr/>
        </p:nvSpPr>
        <p:spPr>
          <a:xfrm>
            <a:off x="6181344" y="5486400"/>
            <a:ext cx="2651760" cy="457200"/>
          </a:xfrm>
          <a:prstGeom prst="rect">
            <a:avLst/>
          </a:prstGeom>
          <a:noFill/>
        </p:spPr>
        <p:txBody>
          <a:bodyPr wrap="square" lIns="45720" tIns="27432" rIns="45720" bIns="27432" anchor="t">
            <a:spAutoFit/>
          </a:bodyPr>
          <a:lstStyle/>
          <a:p>
            <a:pPr algn="ctr"/>
            <a:r>
              <a:rPr sz="1400" b="0">
                <a:solidFill>
                  <a:srgbClr val="5B6778"/>
                </a:solidFill>
                <a:latin typeface="Calibri"/>
              </a:rPr>
              <a:t>rated highly</a:t>
            </a:r>
          </a:p>
        </p:txBody>
      </p:sp>
      <p:sp>
        <p:nvSpPr>
          <p:cNvPr id="17" name="Rounded Rectangle 16"/>
          <p:cNvSpPr/>
          <p:nvPr/>
        </p:nvSpPr>
        <p:spPr>
          <a:xfrm>
            <a:off x="8997696" y="4754880"/>
            <a:ext cx="2651760" cy="137160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997696" y="4846320"/>
            <a:ext cx="2651760" cy="640080"/>
          </a:xfrm>
          <a:prstGeom prst="rect">
            <a:avLst/>
          </a:prstGeom>
          <a:noFill/>
        </p:spPr>
        <p:txBody>
          <a:bodyPr wrap="square" lIns="45720" tIns="27432" rIns="45720" bIns="27432" anchor="t">
            <a:spAutoFit/>
          </a:bodyPr>
          <a:lstStyle/>
          <a:p>
            <a:pPr algn="ctr"/>
            <a:r>
              <a:rPr sz="3200" b="1">
                <a:solidFill>
                  <a:srgbClr val="1F3756"/>
                </a:solidFill>
                <a:latin typeface="Calibri"/>
              </a:rPr>
              <a:t>79.9%</a:t>
            </a:r>
          </a:p>
        </p:txBody>
      </p:sp>
      <p:sp>
        <p:nvSpPr>
          <p:cNvPr id="19" name="TextBox 18"/>
          <p:cNvSpPr txBox="1"/>
          <p:nvPr/>
        </p:nvSpPr>
        <p:spPr>
          <a:xfrm>
            <a:off x="8997696" y="5486400"/>
            <a:ext cx="2651760" cy="457200"/>
          </a:xfrm>
          <a:prstGeom prst="rect">
            <a:avLst/>
          </a:prstGeom>
          <a:noFill/>
        </p:spPr>
        <p:txBody>
          <a:bodyPr wrap="square" lIns="45720" tIns="27432" rIns="45720" bIns="27432" anchor="t">
            <a:spAutoFit/>
          </a:bodyPr>
          <a:lstStyle/>
          <a:p>
            <a:pPr algn="ctr"/>
            <a:r>
              <a:rPr sz="1400" b="0">
                <a:solidFill>
                  <a:srgbClr val="5B6778"/>
                </a:solidFill>
                <a:latin typeface="Calibri"/>
              </a:rPr>
              <a:t>model accuracy</a:t>
            </a:r>
          </a:p>
        </p:txBody>
      </p:sp>
      <p:sp>
        <p:nvSpPr>
          <p:cNvPr id="20" name="TextBox 19"/>
          <p:cNvSpPr txBox="1"/>
          <p:nvPr/>
        </p:nvSpPr>
        <p:spPr>
          <a:xfrm>
            <a:off x="548640" y="4251960"/>
            <a:ext cx="5486400" cy="320040"/>
          </a:xfrm>
          <a:prstGeom prst="rect">
            <a:avLst/>
          </a:prstGeom>
          <a:noFill/>
        </p:spPr>
        <p:txBody>
          <a:bodyPr wrap="square" lIns="45720" tIns="27432" rIns="45720" bIns="27432" anchor="t">
            <a:spAutoFit/>
          </a:bodyPr>
          <a:lstStyle/>
          <a:p>
            <a:pPr algn="l"/>
            <a:r>
              <a:rPr sz="1200" b="0">
                <a:solidFill>
                  <a:srgbClr val="5B6778"/>
                </a:solidFill>
                <a:latin typeface="Calibri"/>
              </a:rPr>
              <a:t>Keywords: Pandas · Data cleaning · EDA · Logistic Regression · Matplotlib</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tIns="27432" rIns="45720" bIns="27432" anchor="ctr">
            <a:spAutoFit/>
          </a:bodyPr>
          <a:lstStyle/>
          <a:p>
            <a:pPr algn="l"/>
            <a:r>
              <a:rPr sz="2600" b="1">
                <a:solidFill>
                  <a:srgbClr val="1F3756"/>
                </a:solidFill>
                <a:latin typeface="Calibri"/>
              </a:rPr>
              <a:t>PROBLEM STATEMENT</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607040" y="6473952"/>
            <a:ext cx="1280160" cy="274320"/>
          </a:xfrm>
          <a:prstGeom prst="rect">
            <a:avLst/>
          </a:prstGeom>
          <a:noFill/>
        </p:spPr>
        <p:txBody>
          <a:bodyPr wrap="square" lIns="45720" tIns="27432" rIns="45720" bIns="27432" anchor="t">
            <a:spAutoFit/>
          </a:bodyPr>
          <a:lstStyle/>
          <a:p>
            <a:pPr algn="r"/>
            <a:r>
              <a:rPr sz="1100" b="0">
                <a:solidFill>
                  <a:srgbClr val="5B6778"/>
                </a:solidFill>
                <a:latin typeface="Calibri"/>
              </a:rPr>
              <a:t>Review 3  |  5</a:t>
            </a:r>
          </a:p>
        </p:txBody>
      </p:sp>
      <p:sp>
        <p:nvSpPr>
          <p:cNvPr id="7" name="Rounded Rectangle 6"/>
          <p:cNvSpPr/>
          <p:nvPr/>
        </p:nvSpPr>
        <p:spPr>
          <a:xfrm>
            <a:off x="457200" y="1188720"/>
            <a:ext cx="11292840" cy="1417320"/>
          </a:xfrm>
          <a:prstGeom prst="roundRect">
            <a:avLst>
              <a:gd name="adj" fmla="val 8000"/>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261872"/>
            <a:ext cx="10789920" cy="1280160"/>
          </a:xfrm>
          <a:prstGeom prst="rect">
            <a:avLst/>
          </a:prstGeom>
          <a:noFill/>
        </p:spPr>
        <p:txBody>
          <a:bodyPr wrap="square" lIns="45720" tIns="27432" rIns="45720" bIns="27432" anchor="ctr">
            <a:spAutoFit/>
          </a:bodyPr>
          <a:lstStyle/>
          <a:p>
            <a:pPr algn="l"/>
            <a:r>
              <a:rPr sz="1600" b="0">
                <a:solidFill>
                  <a:srgbClr val="FFFFFF"/>
                </a:solidFill>
                <a:latin typeface="Calibri"/>
              </a:rPr>
              <a:t>Restaurant platforms list thousands of restaurants, but ratings vary widely and many restaurants have no rating at all. Analysing these records manually is slow and error-prone, and hidden factors such as price range go unnoticed. The problem is to identify the factors associated with restaurant ratings and build a model that predicts whether a restaurant will be Highly rated (Y, rating ≥ 3.5) or Not (N).</a:t>
            </a:r>
          </a:p>
        </p:txBody>
      </p:sp>
      <p:sp>
        <p:nvSpPr>
          <p:cNvPr id="9" name="Rounded Rectangle 8"/>
          <p:cNvSpPr/>
          <p:nvPr/>
        </p:nvSpPr>
        <p:spPr>
          <a:xfrm>
            <a:off x="457200" y="2834640"/>
            <a:ext cx="3657600" cy="338328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2944368"/>
            <a:ext cx="64008" cy="316382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2907792"/>
            <a:ext cx="3383280" cy="365760"/>
          </a:xfrm>
          <a:prstGeom prst="rect">
            <a:avLst/>
          </a:prstGeom>
          <a:noFill/>
        </p:spPr>
        <p:txBody>
          <a:bodyPr wrap="square" lIns="45720" tIns="27432" rIns="45720" bIns="27432" anchor="t">
            <a:spAutoFit/>
          </a:bodyPr>
          <a:lstStyle/>
          <a:p>
            <a:pPr algn="l"/>
            <a:r>
              <a:rPr sz="1850" b="1">
                <a:solidFill>
                  <a:srgbClr val="1F3756"/>
                </a:solidFill>
                <a:latin typeface="Calibri"/>
              </a:rPr>
              <a:t>Objectives</a:t>
            </a:r>
          </a:p>
        </p:txBody>
      </p:sp>
      <p:sp>
        <p:nvSpPr>
          <p:cNvPr id="12" name="TextBox 11"/>
          <p:cNvSpPr txBox="1"/>
          <p:nvPr/>
        </p:nvSpPr>
        <p:spPr>
          <a:xfrm>
            <a:off x="640080" y="3291840"/>
            <a:ext cx="3383280" cy="2880360"/>
          </a:xfrm>
          <a:prstGeom prst="rect">
            <a:avLst/>
          </a:prstGeom>
          <a:noFill/>
        </p:spPr>
        <p:txBody>
          <a:bodyPr wrap="square" lIns="45720" tIns="27432" rIns="45720" bIns="27432" anchor="t">
            <a:spAutoFit/>
          </a:bodyPr>
          <a:lstStyle/>
          <a:p>
            <a:pPr algn="l"/>
            <a:r>
              <a:rPr sz="1650" b="0">
                <a:solidFill>
                  <a:srgbClr val="262F3D"/>
                </a:solidFill>
                <a:latin typeface="Calibri"/>
              </a:rPr>
              <a:t>1. Clean the restaurant data (nulls, unrated)
2. Analyse rating patterns by price range, city, cuisine
3. Visualize key relationships
4. Build and evaluate a prediction model</a:t>
            </a:r>
          </a:p>
        </p:txBody>
      </p:sp>
      <p:sp>
        <p:nvSpPr>
          <p:cNvPr id="13" name="Rounded Rectangle 12"/>
          <p:cNvSpPr/>
          <p:nvPr/>
        </p:nvSpPr>
        <p:spPr>
          <a:xfrm>
            <a:off x="4297680" y="2834640"/>
            <a:ext cx="3657600" cy="338328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297680" y="2944368"/>
            <a:ext cx="64008" cy="316382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80560" y="2907792"/>
            <a:ext cx="3383280" cy="365760"/>
          </a:xfrm>
          <a:prstGeom prst="rect">
            <a:avLst/>
          </a:prstGeom>
          <a:noFill/>
        </p:spPr>
        <p:txBody>
          <a:bodyPr wrap="square" lIns="45720" tIns="27432" rIns="45720" bIns="27432" anchor="t">
            <a:spAutoFit/>
          </a:bodyPr>
          <a:lstStyle/>
          <a:p>
            <a:pPr algn="l"/>
            <a:r>
              <a:rPr sz="1800" b="1">
                <a:solidFill>
                  <a:srgbClr val="1F3756"/>
                </a:solidFill>
                <a:latin typeface="Calibri"/>
              </a:rPr>
              <a:t>Target &amp; features</a:t>
            </a:r>
          </a:p>
        </p:txBody>
      </p:sp>
      <p:sp>
        <p:nvSpPr>
          <p:cNvPr id="16" name="TextBox 15"/>
          <p:cNvSpPr txBox="1"/>
          <p:nvPr/>
        </p:nvSpPr>
        <p:spPr>
          <a:xfrm>
            <a:off x="4480560" y="3291840"/>
            <a:ext cx="3383280" cy="2880360"/>
          </a:xfrm>
          <a:prstGeom prst="rect">
            <a:avLst/>
          </a:prstGeom>
          <a:noFill/>
        </p:spPr>
        <p:txBody>
          <a:bodyPr wrap="square" lIns="45720" tIns="27432" rIns="45720" bIns="27432" anchor="t">
            <a:spAutoFit/>
          </a:bodyPr>
          <a:lstStyle/>
          <a:p>
            <a:pPr algn="l"/>
            <a:r>
              <a:rPr sz="1600" b="0">
                <a:solidFill>
                  <a:srgbClr val="262F3D"/>
                </a:solidFill>
                <a:latin typeface="Calibri"/>
              </a:rPr>
              <a:t>Target: Rating_Status (Y / N)
Features: Votes, Price range, Cuisine_Count, Table booking, Online delivery, Country Code
Aggregate rating is excluded from predictors because it directly determines the target (data leakage).</a:t>
            </a:r>
          </a:p>
        </p:txBody>
      </p:sp>
      <p:sp>
        <p:nvSpPr>
          <p:cNvPr id="17" name="Rounded Rectangle 16"/>
          <p:cNvSpPr/>
          <p:nvPr/>
        </p:nvSpPr>
        <p:spPr>
          <a:xfrm>
            <a:off x="8138160" y="2834640"/>
            <a:ext cx="3611880" cy="338328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138160" y="2944368"/>
            <a:ext cx="64008" cy="316382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21040" y="2907792"/>
            <a:ext cx="3337560" cy="365760"/>
          </a:xfrm>
          <a:prstGeom prst="rect">
            <a:avLst/>
          </a:prstGeom>
          <a:noFill/>
        </p:spPr>
        <p:txBody>
          <a:bodyPr wrap="square" lIns="45720" tIns="27432" rIns="45720" bIns="27432" anchor="t">
            <a:spAutoFit/>
          </a:bodyPr>
          <a:lstStyle/>
          <a:p>
            <a:pPr algn="l"/>
            <a:r>
              <a:rPr sz="1850" b="1">
                <a:solidFill>
                  <a:srgbClr val="1F3756"/>
                </a:solidFill>
                <a:latin typeface="Calibri"/>
              </a:rPr>
              <a:t>Scope &amp; tools</a:t>
            </a:r>
          </a:p>
        </p:txBody>
      </p:sp>
      <p:sp>
        <p:nvSpPr>
          <p:cNvPr id="20" name="TextBox 19"/>
          <p:cNvSpPr txBox="1"/>
          <p:nvPr/>
        </p:nvSpPr>
        <p:spPr>
          <a:xfrm>
            <a:off x="8321040" y="3291840"/>
            <a:ext cx="3337560" cy="2880360"/>
          </a:xfrm>
          <a:prstGeom prst="rect">
            <a:avLst/>
          </a:prstGeom>
          <a:noFill/>
        </p:spPr>
        <p:txBody>
          <a:bodyPr wrap="square" lIns="45720" tIns="27432" rIns="45720" bIns="27432" anchor="t">
            <a:spAutoFit/>
          </a:bodyPr>
          <a:lstStyle/>
          <a:p>
            <a:pPr algn="l"/>
            <a:r>
              <a:rPr sz="1650" b="0">
                <a:solidFill>
                  <a:srgbClr val="262F3D"/>
                </a:solidFill>
                <a:latin typeface="Calibri"/>
              </a:rPr>
              <a:t>Domain: Food-tech / Restaurant listings
Task: binary classification
Tools: Python, Pandas, NumPy, Matplotlib, scikit-learn, Google Colab</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tIns="27432" rIns="45720" bIns="27432" anchor="ctr">
            <a:spAutoFit/>
          </a:bodyPr>
          <a:lstStyle/>
          <a:p>
            <a:pPr algn="l"/>
            <a:r>
              <a:rPr sz="2600" b="1">
                <a:solidFill>
                  <a:srgbClr val="1F3756"/>
                </a:solidFill>
                <a:latin typeface="Calibri"/>
              </a:rPr>
              <a:t>DATASET DETAILS</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103120" y="914400"/>
            <a:ext cx="9601200" cy="270843"/>
          </a:xfrm>
          <a:prstGeom prst="rect">
            <a:avLst/>
          </a:prstGeom>
          <a:noFill/>
        </p:spPr>
        <p:txBody>
          <a:bodyPr wrap="square" lIns="45720" tIns="27432" rIns="45720" bIns="27432" anchor="t">
            <a:spAutoFit/>
          </a:bodyPr>
          <a:lstStyle/>
          <a:p>
            <a:pPr algn="l"/>
            <a:r>
              <a:rPr sz="1400" b="0" dirty="0">
                <a:solidFill>
                  <a:srgbClr val="5B6778"/>
                </a:solidFill>
                <a:latin typeface="Calibri"/>
              </a:rPr>
              <a:t>Uploaded </a:t>
            </a:r>
            <a:r>
              <a:rPr lang="en-IN" sz="1400" b="0" dirty="0">
                <a:solidFill>
                  <a:srgbClr val="5B6778"/>
                </a:solidFill>
                <a:latin typeface="Calibri"/>
              </a:rPr>
              <a:t>Sales</a:t>
            </a:r>
            <a:r>
              <a:rPr sz="1400" b="0" dirty="0">
                <a:solidFill>
                  <a:srgbClr val="5B6778"/>
                </a:solidFill>
                <a:latin typeface="Calibri"/>
              </a:rPr>
              <a:t> restaurant dataset (CSV) — 9,551 records × 21 columns</a:t>
            </a:r>
          </a:p>
        </p:txBody>
      </p:sp>
      <p:sp>
        <p:nvSpPr>
          <p:cNvPr id="7" name="TextBox 6"/>
          <p:cNvSpPr txBox="1"/>
          <p:nvPr/>
        </p:nvSpPr>
        <p:spPr>
          <a:xfrm>
            <a:off x="10607040" y="6473952"/>
            <a:ext cx="1280160" cy="274320"/>
          </a:xfrm>
          <a:prstGeom prst="rect">
            <a:avLst/>
          </a:prstGeom>
          <a:noFill/>
        </p:spPr>
        <p:txBody>
          <a:bodyPr wrap="square" lIns="45720" tIns="27432" rIns="45720" bIns="27432" anchor="t">
            <a:spAutoFit/>
          </a:bodyPr>
          <a:lstStyle/>
          <a:p>
            <a:pPr algn="r"/>
            <a:r>
              <a:rPr sz="1100" b="0">
                <a:solidFill>
                  <a:srgbClr val="5B6778"/>
                </a:solidFill>
                <a:latin typeface="Calibri"/>
              </a:rPr>
              <a:t>Review 3  |  6</a:t>
            </a:r>
          </a:p>
        </p:txBody>
      </p:sp>
      <p:graphicFrame>
        <p:nvGraphicFramePr>
          <p:cNvPr id="8" name="Table 7"/>
          <p:cNvGraphicFramePr>
            <a:graphicFrameLocks noGrp="1"/>
          </p:cNvGraphicFramePr>
          <p:nvPr/>
        </p:nvGraphicFramePr>
        <p:xfrm>
          <a:off x="457200" y="1371600"/>
          <a:ext cx="7498080" cy="4425696"/>
        </p:xfrm>
        <a:graphic>
          <a:graphicData uri="http://schemas.openxmlformats.org/drawingml/2006/table">
            <a:tbl>
              <a:tblPr>
                <a:tableStyleId>{5C22544A-7EE6-4342-B048-85BDC9FD1C3A}</a:tableStyleId>
              </a:tblPr>
              <a:tblGrid>
                <a:gridCol w="17373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402336">
                <a:tc>
                  <a:txBody>
                    <a:bodyPr/>
                    <a:lstStyle/>
                    <a:p>
                      <a:r>
                        <a:rPr sz="1250" b="1">
                          <a:solidFill>
                            <a:srgbClr val="FFFFFF"/>
                          </a:solidFill>
                          <a:latin typeface="Calibri"/>
                        </a:rPr>
                        <a:t>Column</a:t>
                      </a:r>
                    </a:p>
                  </a:txBody>
                  <a:tcPr marT="27432" marB="27432" anchor="ctr">
                    <a:solidFill>
                      <a:srgbClr val="1F3756"/>
                    </a:solidFill>
                  </a:tcPr>
                </a:tc>
                <a:tc>
                  <a:txBody>
                    <a:bodyPr/>
                    <a:lstStyle/>
                    <a:p>
                      <a:r>
                        <a:rPr sz="1250" b="1">
                          <a:solidFill>
                            <a:srgbClr val="FFFFFF"/>
                          </a:solidFill>
                          <a:latin typeface="Calibri"/>
                        </a:rPr>
                        <a:t>Type</a:t>
                      </a:r>
                    </a:p>
                  </a:txBody>
                  <a:tcPr marT="27432" marB="27432" anchor="ctr">
                    <a:solidFill>
                      <a:srgbClr val="1F3756"/>
                    </a:solidFill>
                  </a:tcPr>
                </a:tc>
                <a:tc>
                  <a:txBody>
                    <a:bodyPr/>
                    <a:lstStyle/>
                    <a:p>
                      <a:r>
                        <a:rPr sz="1250" b="1">
                          <a:solidFill>
                            <a:srgbClr val="FFFFFF"/>
                          </a:solidFill>
                          <a:latin typeface="Calibri"/>
                        </a:rPr>
                        <a:t>Description</a:t>
                      </a:r>
                    </a:p>
                  </a:txBody>
                  <a:tcPr marT="27432" marB="27432" anchor="ctr">
                    <a:solidFill>
                      <a:srgbClr val="1F3756"/>
                    </a:solidFill>
                  </a:tcPr>
                </a:tc>
                <a:extLst>
                  <a:ext uri="{0D108BD9-81ED-4DB2-BD59-A6C34878D82A}">
                    <a16:rowId xmlns:a16="http://schemas.microsoft.com/office/drawing/2014/main" val="10000"/>
                  </a:ext>
                </a:extLst>
              </a:tr>
              <a:tr h="402336">
                <a:tc>
                  <a:txBody>
                    <a:bodyPr/>
                    <a:lstStyle/>
                    <a:p>
                      <a:r>
                        <a:rPr sz="1250" b="1">
                          <a:solidFill>
                            <a:srgbClr val="1F3756"/>
                          </a:solidFill>
                          <a:latin typeface="Calibri"/>
                        </a:rPr>
                        <a:t>Restaurant ID</a:t>
                      </a:r>
                    </a:p>
                  </a:txBody>
                  <a:tcPr marT="27432" marB="27432" anchor="ctr">
                    <a:solidFill>
                      <a:srgbClr val="FFFFFF"/>
                    </a:solidFill>
                  </a:tcPr>
                </a:tc>
                <a:tc>
                  <a:txBody>
                    <a:bodyPr/>
                    <a:lstStyle/>
                    <a:p>
                      <a:r>
                        <a:rPr sz="1250">
                          <a:solidFill>
                            <a:srgbClr val="262F3D"/>
                          </a:solidFill>
                          <a:latin typeface="Calibri"/>
                        </a:rPr>
                        <a:t>Text (ID)</a:t>
                      </a:r>
                    </a:p>
                  </a:txBody>
                  <a:tcPr marT="27432" marB="27432" anchor="ctr">
                    <a:solidFill>
                      <a:srgbClr val="FFFFFF"/>
                    </a:solidFill>
                  </a:tcPr>
                </a:tc>
                <a:tc>
                  <a:txBody>
                    <a:bodyPr/>
                    <a:lstStyle/>
                    <a:p>
                      <a:r>
                        <a:rPr sz="1250">
                          <a:solidFill>
                            <a:srgbClr val="262F3D"/>
                          </a:solidFill>
                          <a:latin typeface="Calibri"/>
                        </a:rPr>
                        <a:t>Unique restaurant number, e.g. 6317637</a:t>
                      </a:r>
                    </a:p>
                  </a:txBody>
                  <a:tcPr marT="27432" marB="27432" anchor="ctr">
                    <a:solidFill>
                      <a:srgbClr val="FFFFFF"/>
                    </a:solidFill>
                  </a:tcPr>
                </a:tc>
                <a:extLst>
                  <a:ext uri="{0D108BD9-81ED-4DB2-BD59-A6C34878D82A}">
                    <a16:rowId xmlns:a16="http://schemas.microsoft.com/office/drawing/2014/main" val="10001"/>
                  </a:ext>
                </a:extLst>
              </a:tr>
              <a:tr h="402336">
                <a:tc>
                  <a:txBody>
                    <a:bodyPr/>
                    <a:lstStyle/>
                    <a:p>
                      <a:r>
                        <a:rPr sz="1250" b="1">
                          <a:solidFill>
                            <a:srgbClr val="1F3756"/>
                          </a:solidFill>
                          <a:latin typeface="Calibri"/>
                        </a:rPr>
                        <a:t>City</a:t>
                      </a:r>
                    </a:p>
                  </a:txBody>
                  <a:tcPr marT="27432" marB="27432" anchor="ctr">
                    <a:solidFill>
                      <a:srgbClr val="F1F4F9"/>
                    </a:solidFill>
                  </a:tcPr>
                </a:tc>
                <a:tc>
                  <a:txBody>
                    <a:bodyPr/>
                    <a:lstStyle/>
                    <a:p>
                      <a:r>
                        <a:rPr sz="1250">
                          <a:solidFill>
                            <a:srgbClr val="262F3D"/>
                          </a:solidFill>
                          <a:latin typeface="Calibri"/>
                        </a:rPr>
                        <a:t>Categorical</a:t>
                      </a:r>
                    </a:p>
                  </a:txBody>
                  <a:tcPr marT="27432" marB="27432" anchor="ctr">
                    <a:solidFill>
                      <a:srgbClr val="F1F4F9"/>
                    </a:solidFill>
                  </a:tcPr>
                </a:tc>
                <a:tc>
                  <a:txBody>
                    <a:bodyPr/>
                    <a:lstStyle/>
                    <a:p>
                      <a:r>
                        <a:rPr sz="1250">
                          <a:solidFill>
                            <a:srgbClr val="262F3D"/>
                          </a:solidFill>
                          <a:latin typeface="Calibri"/>
                        </a:rPr>
                        <a:t>141 cities, e.g. New Delhi, Gurgaon, Noida</a:t>
                      </a:r>
                    </a:p>
                  </a:txBody>
                  <a:tcPr marT="27432" marB="27432" anchor="ctr">
                    <a:solidFill>
                      <a:srgbClr val="F1F4F9"/>
                    </a:solidFill>
                  </a:tcPr>
                </a:tc>
                <a:extLst>
                  <a:ext uri="{0D108BD9-81ED-4DB2-BD59-A6C34878D82A}">
                    <a16:rowId xmlns:a16="http://schemas.microsoft.com/office/drawing/2014/main" val="10002"/>
                  </a:ext>
                </a:extLst>
              </a:tr>
              <a:tr h="402336">
                <a:tc>
                  <a:txBody>
                    <a:bodyPr/>
                    <a:lstStyle/>
                    <a:p>
                      <a:r>
                        <a:rPr sz="1250" b="1">
                          <a:solidFill>
                            <a:srgbClr val="1F3756"/>
                          </a:solidFill>
                          <a:latin typeface="Calibri"/>
                        </a:rPr>
                        <a:t>Cuisines</a:t>
                      </a:r>
                    </a:p>
                  </a:txBody>
                  <a:tcPr marT="27432" marB="27432" anchor="ctr">
                    <a:solidFill>
                      <a:srgbClr val="FFFFFF"/>
                    </a:solidFill>
                  </a:tcPr>
                </a:tc>
                <a:tc>
                  <a:txBody>
                    <a:bodyPr/>
                    <a:lstStyle/>
                    <a:p>
                      <a:r>
                        <a:rPr sz="1250">
                          <a:solidFill>
                            <a:srgbClr val="262F3D"/>
                          </a:solidFill>
                          <a:latin typeface="Calibri"/>
                        </a:rPr>
                        <a:t>Text (multi-value)</a:t>
                      </a:r>
                    </a:p>
                  </a:txBody>
                  <a:tcPr marT="27432" marB="27432" anchor="ctr">
                    <a:solidFill>
                      <a:srgbClr val="FFFFFF"/>
                    </a:solidFill>
                  </a:tcPr>
                </a:tc>
                <a:tc>
                  <a:txBody>
                    <a:bodyPr/>
                    <a:lstStyle/>
                    <a:p>
                      <a:r>
                        <a:rPr sz="1250">
                          <a:solidFill>
                            <a:srgbClr val="262F3D"/>
                          </a:solidFill>
                          <a:latin typeface="Calibri"/>
                        </a:rPr>
                        <a:t>Cuisines served, e.g. North Indian, Chinese</a:t>
                      </a:r>
                    </a:p>
                  </a:txBody>
                  <a:tcPr marT="27432" marB="27432" anchor="ctr">
                    <a:solidFill>
                      <a:srgbClr val="FFFFFF"/>
                    </a:solidFill>
                  </a:tcPr>
                </a:tc>
                <a:extLst>
                  <a:ext uri="{0D108BD9-81ED-4DB2-BD59-A6C34878D82A}">
                    <a16:rowId xmlns:a16="http://schemas.microsoft.com/office/drawing/2014/main" val="10003"/>
                  </a:ext>
                </a:extLst>
              </a:tr>
              <a:tr h="402336">
                <a:tc>
                  <a:txBody>
                    <a:bodyPr/>
                    <a:lstStyle/>
                    <a:p>
                      <a:r>
                        <a:rPr sz="1250" b="1">
                          <a:solidFill>
                            <a:srgbClr val="1F3756"/>
                          </a:solidFill>
                          <a:latin typeface="Calibri"/>
                        </a:rPr>
                        <a:t>Average Cost for two</a:t>
                      </a:r>
                    </a:p>
                  </a:txBody>
                  <a:tcPr marT="27432" marB="27432" anchor="ctr">
                    <a:solidFill>
                      <a:srgbClr val="F1F4F9"/>
                    </a:solidFill>
                  </a:tcPr>
                </a:tc>
                <a:tc>
                  <a:txBody>
                    <a:bodyPr/>
                    <a:lstStyle/>
                    <a:p>
                      <a:r>
                        <a:rPr sz="1250">
                          <a:solidFill>
                            <a:srgbClr val="262F3D"/>
                          </a:solidFill>
                          <a:latin typeface="Calibri"/>
                        </a:rPr>
                        <a:t>Numeric</a:t>
                      </a:r>
                    </a:p>
                  </a:txBody>
                  <a:tcPr marT="27432" marB="27432" anchor="ctr">
                    <a:solidFill>
                      <a:srgbClr val="F1F4F9"/>
                    </a:solidFill>
                  </a:tcPr>
                </a:tc>
                <a:tc>
                  <a:txBody>
                    <a:bodyPr/>
                    <a:lstStyle/>
                    <a:p>
                      <a:r>
                        <a:rPr sz="1250">
                          <a:solidFill>
                            <a:srgbClr val="262F3D"/>
                          </a:solidFill>
                          <a:latin typeface="Calibri"/>
                        </a:rPr>
                        <a:t>Cost for two people, in local currency</a:t>
                      </a:r>
                    </a:p>
                  </a:txBody>
                  <a:tcPr marT="27432" marB="27432" anchor="ctr">
                    <a:solidFill>
                      <a:srgbClr val="F1F4F9"/>
                    </a:solidFill>
                  </a:tcPr>
                </a:tc>
                <a:extLst>
                  <a:ext uri="{0D108BD9-81ED-4DB2-BD59-A6C34878D82A}">
                    <a16:rowId xmlns:a16="http://schemas.microsoft.com/office/drawing/2014/main" val="10004"/>
                  </a:ext>
                </a:extLst>
              </a:tr>
              <a:tr h="402336">
                <a:tc>
                  <a:txBody>
                    <a:bodyPr/>
                    <a:lstStyle/>
                    <a:p>
                      <a:r>
                        <a:rPr sz="1250" b="1">
                          <a:solidFill>
                            <a:srgbClr val="1F3756"/>
                          </a:solidFill>
                          <a:latin typeface="Calibri"/>
                        </a:rPr>
                        <a:t>Has Table booking</a:t>
                      </a:r>
                    </a:p>
                  </a:txBody>
                  <a:tcPr marT="27432" marB="27432" anchor="ctr">
                    <a:solidFill>
                      <a:srgbClr val="FFFFFF"/>
                    </a:solidFill>
                  </a:tcPr>
                </a:tc>
                <a:tc>
                  <a:txBody>
                    <a:bodyPr/>
                    <a:lstStyle/>
                    <a:p>
                      <a:r>
                        <a:rPr sz="1250">
                          <a:solidFill>
                            <a:srgbClr val="262F3D"/>
                          </a:solidFill>
                          <a:latin typeface="Calibri"/>
                        </a:rPr>
                        <a:t>Categorical</a:t>
                      </a:r>
                    </a:p>
                  </a:txBody>
                  <a:tcPr marT="27432" marB="27432" anchor="ctr">
                    <a:solidFill>
                      <a:srgbClr val="FFFFFF"/>
                    </a:solidFill>
                  </a:tcPr>
                </a:tc>
                <a:tc>
                  <a:txBody>
                    <a:bodyPr/>
                    <a:lstStyle/>
                    <a:p>
                      <a:r>
                        <a:rPr sz="1250">
                          <a:solidFill>
                            <a:srgbClr val="262F3D"/>
                          </a:solidFill>
                          <a:latin typeface="Calibri"/>
                        </a:rPr>
                        <a:t>Yes / No</a:t>
                      </a:r>
                    </a:p>
                  </a:txBody>
                  <a:tcPr marT="27432" marB="27432" anchor="ctr">
                    <a:solidFill>
                      <a:srgbClr val="FFFFFF"/>
                    </a:solidFill>
                  </a:tcPr>
                </a:tc>
                <a:extLst>
                  <a:ext uri="{0D108BD9-81ED-4DB2-BD59-A6C34878D82A}">
                    <a16:rowId xmlns:a16="http://schemas.microsoft.com/office/drawing/2014/main" val="10005"/>
                  </a:ext>
                </a:extLst>
              </a:tr>
              <a:tr h="402336">
                <a:tc>
                  <a:txBody>
                    <a:bodyPr/>
                    <a:lstStyle/>
                    <a:p>
                      <a:r>
                        <a:rPr sz="1250" b="1">
                          <a:solidFill>
                            <a:srgbClr val="1F3756"/>
                          </a:solidFill>
                          <a:latin typeface="Calibri"/>
                        </a:rPr>
                        <a:t>Has Online delivery</a:t>
                      </a:r>
                    </a:p>
                  </a:txBody>
                  <a:tcPr marT="27432" marB="27432" anchor="ctr">
                    <a:solidFill>
                      <a:srgbClr val="F1F4F9"/>
                    </a:solidFill>
                  </a:tcPr>
                </a:tc>
                <a:tc>
                  <a:txBody>
                    <a:bodyPr/>
                    <a:lstStyle/>
                    <a:p>
                      <a:r>
                        <a:rPr sz="1250">
                          <a:solidFill>
                            <a:srgbClr val="262F3D"/>
                          </a:solidFill>
                          <a:latin typeface="Calibri"/>
                        </a:rPr>
                        <a:t>Categorical</a:t>
                      </a:r>
                    </a:p>
                  </a:txBody>
                  <a:tcPr marT="27432" marB="27432" anchor="ctr">
                    <a:solidFill>
                      <a:srgbClr val="F1F4F9"/>
                    </a:solidFill>
                  </a:tcPr>
                </a:tc>
                <a:tc>
                  <a:txBody>
                    <a:bodyPr/>
                    <a:lstStyle/>
                    <a:p>
                      <a:r>
                        <a:rPr sz="1250">
                          <a:solidFill>
                            <a:srgbClr val="262F3D"/>
                          </a:solidFill>
                          <a:latin typeface="Calibri"/>
                        </a:rPr>
                        <a:t>Yes / No</a:t>
                      </a:r>
                    </a:p>
                  </a:txBody>
                  <a:tcPr marT="27432" marB="27432" anchor="ctr">
                    <a:solidFill>
                      <a:srgbClr val="F1F4F9"/>
                    </a:solidFill>
                  </a:tcPr>
                </a:tc>
                <a:extLst>
                  <a:ext uri="{0D108BD9-81ED-4DB2-BD59-A6C34878D82A}">
                    <a16:rowId xmlns:a16="http://schemas.microsoft.com/office/drawing/2014/main" val="10006"/>
                  </a:ext>
                </a:extLst>
              </a:tr>
              <a:tr h="402336">
                <a:tc>
                  <a:txBody>
                    <a:bodyPr/>
                    <a:lstStyle/>
                    <a:p>
                      <a:r>
                        <a:rPr sz="1250" b="1">
                          <a:solidFill>
                            <a:srgbClr val="1F3756"/>
                          </a:solidFill>
                          <a:latin typeface="Calibri"/>
                        </a:rPr>
                        <a:t>Price range</a:t>
                      </a:r>
                    </a:p>
                  </a:txBody>
                  <a:tcPr marT="27432" marB="27432" anchor="ctr">
                    <a:solidFill>
                      <a:srgbClr val="FFFFFF"/>
                    </a:solidFill>
                  </a:tcPr>
                </a:tc>
                <a:tc>
                  <a:txBody>
                    <a:bodyPr/>
                    <a:lstStyle/>
                    <a:p>
                      <a:r>
                        <a:rPr sz="1250">
                          <a:solidFill>
                            <a:srgbClr val="262F3D"/>
                          </a:solidFill>
                          <a:latin typeface="Calibri"/>
                        </a:rPr>
                        <a:t>Numeric (1–4)</a:t>
                      </a:r>
                    </a:p>
                  </a:txBody>
                  <a:tcPr marT="27432" marB="27432" anchor="ctr">
                    <a:solidFill>
                      <a:srgbClr val="FFFFFF"/>
                    </a:solidFill>
                  </a:tcPr>
                </a:tc>
                <a:tc>
                  <a:txBody>
                    <a:bodyPr/>
                    <a:lstStyle/>
                    <a:p>
                      <a:r>
                        <a:rPr sz="1250">
                          <a:solidFill>
                            <a:srgbClr val="262F3D"/>
                          </a:solidFill>
                          <a:latin typeface="Calibri"/>
                        </a:rPr>
                        <a:t>1 = low cost … 4 = high cost</a:t>
                      </a:r>
                    </a:p>
                  </a:txBody>
                  <a:tcPr marT="27432" marB="27432" anchor="ctr">
                    <a:solidFill>
                      <a:srgbClr val="FFFFFF"/>
                    </a:solidFill>
                  </a:tcPr>
                </a:tc>
                <a:extLst>
                  <a:ext uri="{0D108BD9-81ED-4DB2-BD59-A6C34878D82A}">
                    <a16:rowId xmlns:a16="http://schemas.microsoft.com/office/drawing/2014/main" val="10007"/>
                  </a:ext>
                </a:extLst>
              </a:tr>
              <a:tr h="402336">
                <a:tc>
                  <a:txBody>
                    <a:bodyPr/>
                    <a:lstStyle/>
                    <a:p>
                      <a:r>
                        <a:rPr sz="1250" b="1">
                          <a:solidFill>
                            <a:srgbClr val="1F3756"/>
                          </a:solidFill>
                          <a:latin typeface="Calibri"/>
                        </a:rPr>
                        <a:t>Aggregate rating</a:t>
                      </a:r>
                    </a:p>
                  </a:txBody>
                  <a:tcPr marT="27432" marB="27432" anchor="ctr">
                    <a:solidFill>
                      <a:srgbClr val="F1F4F9"/>
                    </a:solidFill>
                  </a:tcPr>
                </a:tc>
                <a:tc>
                  <a:txBody>
                    <a:bodyPr/>
                    <a:lstStyle/>
                    <a:p>
                      <a:r>
                        <a:rPr sz="1250">
                          <a:solidFill>
                            <a:srgbClr val="262F3D"/>
                          </a:solidFill>
                          <a:latin typeface="Calibri"/>
                        </a:rPr>
                        <a:t>Numeric</a:t>
                      </a:r>
                    </a:p>
                  </a:txBody>
                  <a:tcPr marT="27432" marB="27432" anchor="ctr">
                    <a:solidFill>
                      <a:srgbClr val="F1F4F9"/>
                    </a:solidFill>
                  </a:tcPr>
                </a:tc>
                <a:tc>
                  <a:txBody>
                    <a:bodyPr/>
                    <a:lstStyle/>
                    <a:p>
                      <a:r>
                        <a:rPr sz="1250">
                          <a:solidFill>
                            <a:srgbClr val="262F3D"/>
                          </a:solidFill>
                          <a:latin typeface="Calibri"/>
                        </a:rPr>
                        <a:t>Average rating (0 = not rated)</a:t>
                      </a:r>
                    </a:p>
                  </a:txBody>
                  <a:tcPr marT="27432" marB="27432" anchor="ctr">
                    <a:solidFill>
                      <a:srgbClr val="F1F4F9"/>
                    </a:solidFill>
                  </a:tcPr>
                </a:tc>
                <a:extLst>
                  <a:ext uri="{0D108BD9-81ED-4DB2-BD59-A6C34878D82A}">
                    <a16:rowId xmlns:a16="http://schemas.microsoft.com/office/drawing/2014/main" val="10008"/>
                  </a:ext>
                </a:extLst>
              </a:tr>
              <a:tr h="402336">
                <a:tc>
                  <a:txBody>
                    <a:bodyPr/>
                    <a:lstStyle/>
                    <a:p>
                      <a:r>
                        <a:rPr sz="1250" b="1">
                          <a:solidFill>
                            <a:srgbClr val="1F3756"/>
                          </a:solidFill>
                          <a:latin typeface="Calibri"/>
                        </a:rPr>
                        <a:t>Votes</a:t>
                      </a:r>
                    </a:p>
                  </a:txBody>
                  <a:tcPr marT="27432" marB="27432" anchor="ctr">
                    <a:solidFill>
                      <a:srgbClr val="FFFFFF"/>
                    </a:solidFill>
                  </a:tcPr>
                </a:tc>
                <a:tc>
                  <a:txBody>
                    <a:bodyPr/>
                    <a:lstStyle/>
                    <a:p>
                      <a:r>
                        <a:rPr sz="1250">
                          <a:solidFill>
                            <a:srgbClr val="262F3D"/>
                          </a:solidFill>
                          <a:latin typeface="Calibri"/>
                        </a:rPr>
                        <a:t>Numeric</a:t>
                      </a:r>
                    </a:p>
                  </a:txBody>
                  <a:tcPr marT="27432" marB="27432" anchor="ctr">
                    <a:solidFill>
                      <a:srgbClr val="FFFFFF"/>
                    </a:solidFill>
                  </a:tcPr>
                </a:tc>
                <a:tc>
                  <a:txBody>
                    <a:bodyPr/>
                    <a:lstStyle/>
                    <a:p>
                      <a:r>
                        <a:rPr sz="1250">
                          <a:solidFill>
                            <a:srgbClr val="262F3D"/>
                          </a:solidFill>
                          <a:latin typeface="Calibri"/>
                        </a:rPr>
                        <a:t>Number of votes received</a:t>
                      </a:r>
                    </a:p>
                  </a:txBody>
                  <a:tcPr marT="27432" marB="27432" anchor="ctr">
                    <a:solidFill>
                      <a:srgbClr val="FFFFFF"/>
                    </a:solidFill>
                  </a:tcPr>
                </a:tc>
                <a:extLst>
                  <a:ext uri="{0D108BD9-81ED-4DB2-BD59-A6C34878D82A}">
                    <a16:rowId xmlns:a16="http://schemas.microsoft.com/office/drawing/2014/main" val="10009"/>
                  </a:ext>
                </a:extLst>
              </a:tr>
              <a:tr h="402336">
                <a:tc>
                  <a:txBody>
                    <a:bodyPr/>
                    <a:lstStyle/>
                    <a:p>
                      <a:r>
                        <a:rPr sz="1250" b="1">
                          <a:solidFill>
                            <a:srgbClr val="1F3756"/>
                          </a:solidFill>
                          <a:latin typeface="Calibri"/>
                        </a:rPr>
                        <a:t>Rating_Status</a:t>
                      </a:r>
                    </a:p>
                  </a:txBody>
                  <a:tcPr marT="27432" marB="27432" anchor="ctr">
                    <a:solidFill>
                      <a:srgbClr val="F1F4F9"/>
                    </a:solidFill>
                  </a:tcPr>
                </a:tc>
                <a:tc>
                  <a:txBody>
                    <a:bodyPr/>
                    <a:lstStyle/>
                    <a:p>
                      <a:r>
                        <a:rPr sz="1250">
                          <a:solidFill>
                            <a:srgbClr val="262F3D"/>
                          </a:solidFill>
                          <a:latin typeface="Calibri"/>
                        </a:rPr>
                        <a:t>Categorical (target)</a:t>
                      </a:r>
                    </a:p>
                  </a:txBody>
                  <a:tcPr marT="27432" marB="27432" anchor="ctr">
                    <a:solidFill>
                      <a:srgbClr val="F1F4F9"/>
                    </a:solidFill>
                  </a:tcPr>
                </a:tc>
                <a:tc>
                  <a:txBody>
                    <a:bodyPr/>
                    <a:lstStyle/>
                    <a:p>
                      <a:r>
                        <a:rPr sz="1250">
                          <a:solidFill>
                            <a:srgbClr val="262F3D"/>
                          </a:solidFill>
                          <a:latin typeface="Calibri"/>
                        </a:rPr>
                        <a:t>Y = rating ≥ 3.5, N = below (derived)</a:t>
                      </a:r>
                    </a:p>
                  </a:txBody>
                  <a:tcPr marT="27432" marB="27432" anchor="ctr">
                    <a:solidFill>
                      <a:srgbClr val="F1F4F9"/>
                    </a:solidFill>
                  </a:tcPr>
                </a:tc>
                <a:extLst>
                  <a:ext uri="{0D108BD9-81ED-4DB2-BD59-A6C34878D82A}">
                    <a16:rowId xmlns:a16="http://schemas.microsoft.com/office/drawing/2014/main" val="10010"/>
                  </a:ext>
                </a:extLst>
              </a:tr>
            </a:tbl>
          </a:graphicData>
        </a:graphic>
      </p:graphicFrame>
      <p:sp>
        <p:nvSpPr>
          <p:cNvPr id="9" name="Rounded Rectangle 8"/>
          <p:cNvSpPr/>
          <p:nvPr/>
        </p:nvSpPr>
        <p:spPr>
          <a:xfrm>
            <a:off x="8229600" y="1371600"/>
            <a:ext cx="3520440" cy="21031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229600" y="1481328"/>
            <a:ext cx="64008" cy="1883663"/>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12480" y="1444752"/>
            <a:ext cx="3246120" cy="365760"/>
          </a:xfrm>
          <a:prstGeom prst="rect">
            <a:avLst/>
          </a:prstGeom>
          <a:noFill/>
        </p:spPr>
        <p:txBody>
          <a:bodyPr wrap="square" lIns="45720" tIns="27432" rIns="45720" bIns="27432" anchor="t">
            <a:spAutoFit/>
          </a:bodyPr>
          <a:lstStyle/>
          <a:p>
            <a:pPr algn="l"/>
            <a:r>
              <a:rPr sz="1600" b="1">
                <a:solidFill>
                  <a:srgbClr val="1F3756"/>
                </a:solidFill>
                <a:latin typeface="Calibri"/>
              </a:rPr>
              <a:t>Sample records</a:t>
            </a:r>
          </a:p>
        </p:txBody>
      </p:sp>
      <p:sp>
        <p:nvSpPr>
          <p:cNvPr id="12" name="TextBox 11"/>
          <p:cNvSpPr txBox="1"/>
          <p:nvPr/>
        </p:nvSpPr>
        <p:spPr>
          <a:xfrm>
            <a:off x="8412480" y="1828800"/>
            <a:ext cx="3246120" cy="1600199"/>
          </a:xfrm>
          <a:prstGeom prst="rect">
            <a:avLst/>
          </a:prstGeom>
          <a:noFill/>
        </p:spPr>
        <p:txBody>
          <a:bodyPr wrap="square" lIns="45720" tIns="27432" rIns="45720" bIns="27432" anchor="t">
            <a:spAutoFit/>
          </a:bodyPr>
          <a:lstStyle/>
          <a:p>
            <a:pPr algn="l"/>
            <a:r>
              <a:rPr sz="1400" b="0">
                <a:solidFill>
                  <a:srgbClr val="262F3D"/>
                </a:solidFill>
                <a:latin typeface="Calibri"/>
              </a:rPr>
              <a:t>6317637 · Makati City · French, Japanese, Desserts · 1,100 · 4.8 · Y
6304287 · Makati City · Japanese · 1,200 · 4.5 · Y</a:t>
            </a:r>
          </a:p>
        </p:txBody>
      </p:sp>
      <p:sp>
        <p:nvSpPr>
          <p:cNvPr id="13" name="Rounded Rectangle 12"/>
          <p:cNvSpPr/>
          <p:nvPr/>
        </p:nvSpPr>
        <p:spPr>
          <a:xfrm>
            <a:off x="8229600" y="3611880"/>
            <a:ext cx="3520440" cy="224028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229600" y="3721608"/>
            <a:ext cx="64008" cy="202082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80" y="3685032"/>
            <a:ext cx="3246120" cy="365760"/>
          </a:xfrm>
          <a:prstGeom prst="rect">
            <a:avLst/>
          </a:prstGeom>
          <a:noFill/>
        </p:spPr>
        <p:txBody>
          <a:bodyPr wrap="square" lIns="45720" tIns="27432" rIns="45720" bIns="27432" anchor="t">
            <a:spAutoFit/>
          </a:bodyPr>
          <a:lstStyle/>
          <a:p>
            <a:pPr algn="l"/>
            <a:r>
              <a:rPr sz="1600" b="1">
                <a:solidFill>
                  <a:srgbClr val="1F3756"/>
                </a:solidFill>
                <a:latin typeface="Calibri"/>
              </a:rPr>
              <a:t>Note</a:t>
            </a:r>
          </a:p>
        </p:txBody>
      </p:sp>
      <p:sp>
        <p:nvSpPr>
          <p:cNvPr id="16" name="TextBox 15"/>
          <p:cNvSpPr txBox="1"/>
          <p:nvPr/>
        </p:nvSpPr>
        <p:spPr>
          <a:xfrm>
            <a:off x="8412480" y="4069080"/>
            <a:ext cx="3246120" cy="1737360"/>
          </a:xfrm>
          <a:prstGeom prst="rect">
            <a:avLst/>
          </a:prstGeom>
          <a:noFill/>
        </p:spPr>
        <p:txBody>
          <a:bodyPr wrap="square" lIns="45720" tIns="27432" rIns="45720" bIns="27432" anchor="t">
            <a:spAutoFit/>
          </a:bodyPr>
          <a:lstStyle/>
          <a:p>
            <a:pPr algn="l"/>
            <a:r>
              <a:rPr sz="1400" b="0">
                <a:solidFill>
                  <a:srgbClr val="262F3D"/>
                </a:solidFill>
                <a:latin typeface="Calibri"/>
              </a:rPr>
              <a:t>9 original columns plus the derived target are listed. The other 12 columns (name, address, locality, coordinates, currency, etc.) are part of the same CSV file and were carried through cleaning unchanged.</a:t>
            </a:r>
          </a:p>
        </p:txBody>
      </p:sp>
      <p:sp>
        <p:nvSpPr>
          <p:cNvPr id="17" name="TextBox 16"/>
          <p:cNvSpPr txBox="1"/>
          <p:nvPr/>
        </p:nvSpPr>
        <p:spPr>
          <a:xfrm>
            <a:off x="457200" y="5897880"/>
            <a:ext cx="7498079" cy="457200"/>
          </a:xfrm>
          <a:prstGeom prst="rect">
            <a:avLst/>
          </a:prstGeom>
          <a:noFill/>
        </p:spPr>
        <p:txBody>
          <a:bodyPr wrap="square" lIns="45720" tIns="27432" rIns="45720" bIns="27432" anchor="t">
            <a:spAutoFit/>
          </a:bodyPr>
          <a:lstStyle/>
          <a:p>
            <a:pPr algn="l"/>
            <a:r>
              <a:rPr sz="1200" b="0">
                <a:solidFill>
                  <a:srgbClr val="5B6778"/>
                </a:solidFill>
                <a:latin typeface="Calibri"/>
              </a:rPr>
              <a:t>The file is latin-1 encoded, so it is read with encoding="latin-1".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tIns="27432" rIns="45720" bIns="27432" anchor="ctr">
            <a:spAutoFit/>
          </a:bodyPr>
          <a:lstStyle/>
          <a:p>
            <a:pPr algn="l"/>
            <a:r>
              <a:rPr sz="2600" b="1">
                <a:solidFill>
                  <a:srgbClr val="1F3756"/>
                </a:solidFill>
                <a:latin typeface="Calibri"/>
              </a:rPr>
              <a:t>MISSING VALUES &amp; DUPLICATE RECORDS</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607040" y="6473952"/>
            <a:ext cx="1280160" cy="274320"/>
          </a:xfrm>
          <a:prstGeom prst="rect">
            <a:avLst/>
          </a:prstGeom>
          <a:noFill/>
        </p:spPr>
        <p:txBody>
          <a:bodyPr wrap="square" lIns="45720" tIns="27432" rIns="45720" bIns="27432" anchor="t">
            <a:spAutoFit/>
          </a:bodyPr>
          <a:lstStyle/>
          <a:p>
            <a:pPr algn="r"/>
            <a:r>
              <a:rPr sz="1100" b="0">
                <a:solidFill>
                  <a:srgbClr val="5B6778"/>
                </a:solidFill>
                <a:latin typeface="Calibri"/>
              </a:rPr>
              <a:t>Review 3  |  7</a:t>
            </a:r>
          </a:p>
        </p:txBody>
      </p:sp>
      <p:sp>
        <p:nvSpPr>
          <p:cNvPr id="7" name="Rounded Rectangle 6"/>
          <p:cNvSpPr/>
          <p:nvPr/>
        </p:nvSpPr>
        <p:spPr>
          <a:xfrm>
            <a:off x="457200" y="1188720"/>
            <a:ext cx="269748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234440"/>
            <a:ext cx="2697480" cy="777240"/>
          </a:xfrm>
          <a:prstGeom prst="rect">
            <a:avLst/>
          </a:prstGeom>
          <a:noFill/>
        </p:spPr>
        <p:txBody>
          <a:bodyPr wrap="square" lIns="45720" tIns="27432" rIns="45720" bIns="27432" anchor="t">
            <a:spAutoFit/>
          </a:bodyPr>
          <a:lstStyle/>
          <a:p>
            <a:pPr algn="ctr"/>
            <a:r>
              <a:rPr sz="4400" b="1">
                <a:solidFill>
                  <a:srgbClr val="E8742A"/>
                </a:solidFill>
                <a:latin typeface="Calibri"/>
              </a:rPr>
              <a:t>9</a:t>
            </a:r>
          </a:p>
        </p:txBody>
      </p:sp>
      <p:sp>
        <p:nvSpPr>
          <p:cNvPr id="9" name="TextBox 8"/>
          <p:cNvSpPr txBox="1"/>
          <p:nvPr/>
        </p:nvSpPr>
        <p:spPr>
          <a:xfrm>
            <a:off x="548640" y="2011680"/>
            <a:ext cx="2514600" cy="548640"/>
          </a:xfrm>
          <a:prstGeom prst="rect">
            <a:avLst/>
          </a:prstGeom>
          <a:noFill/>
        </p:spPr>
        <p:txBody>
          <a:bodyPr wrap="square" lIns="45720" tIns="27432" rIns="45720" bIns="27432" anchor="t">
            <a:spAutoFit/>
          </a:bodyPr>
          <a:lstStyle/>
          <a:p>
            <a:pPr algn="ctr"/>
            <a:r>
              <a:rPr sz="1350" b="0">
                <a:solidFill>
                  <a:srgbClr val="5B6778"/>
                </a:solidFill>
                <a:latin typeface="Calibri"/>
              </a:rPr>
              <a:t>missing cells found</a:t>
            </a:r>
          </a:p>
        </p:txBody>
      </p:sp>
      <p:sp>
        <p:nvSpPr>
          <p:cNvPr id="10" name="Rounded Rectangle 9"/>
          <p:cNvSpPr/>
          <p:nvPr/>
        </p:nvSpPr>
        <p:spPr>
          <a:xfrm>
            <a:off x="3310128" y="1188720"/>
            <a:ext cx="269748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10128" y="1234440"/>
            <a:ext cx="2697480" cy="777240"/>
          </a:xfrm>
          <a:prstGeom prst="rect">
            <a:avLst/>
          </a:prstGeom>
          <a:noFill/>
        </p:spPr>
        <p:txBody>
          <a:bodyPr wrap="square" lIns="45720" tIns="27432" rIns="45720" bIns="27432" anchor="t">
            <a:spAutoFit/>
          </a:bodyPr>
          <a:lstStyle/>
          <a:p>
            <a:pPr algn="ctr"/>
            <a:r>
              <a:rPr sz="4400" b="1">
                <a:solidFill>
                  <a:srgbClr val="E8742A"/>
                </a:solidFill>
                <a:latin typeface="Calibri"/>
              </a:rPr>
              <a:t>2,148</a:t>
            </a:r>
          </a:p>
        </p:txBody>
      </p:sp>
      <p:sp>
        <p:nvSpPr>
          <p:cNvPr id="12" name="TextBox 11"/>
          <p:cNvSpPr txBox="1"/>
          <p:nvPr/>
        </p:nvSpPr>
        <p:spPr>
          <a:xfrm>
            <a:off x="3401568" y="2011680"/>
            <a:ext cx="2514600" cy="548640"/>
          </a:xfrm>
          <a:prstGeom prst="rect">
            <a:avLst/>
          </a:prstGeom>
          <a:noFill/>
        </p:spPr>
        <p:txBody>
          <a:bodyPr wrap="square" lIns="45720" tIns="27432" rIns="45720" bIns="27432" anchor="t">
            <a:spAutoFit/>
          </a:bodyPr>
          <a:lstStyle/>
          <a:p>
            <a:pPr algn="ctr"/>
            <a:r>
              <a:rPr sz="1350" b="0">
                <a:solidFill>
                  <a:srgbClr val="5B6778"/>
                </a:solidFill>
                <a:latin typeface="Calibri"/>
              </a:rPr>
              <a:t>unrated restaurants (rating = 0)</a:t>
            </a:r>
          </a:p>
        </p:txBody>
      </p:sp>
      <p:sp>
        <p:nvSpPr>
          <p:cNvPr id="13" name="Rounded Rectangle 12"/>
          <p:cNvSpPr/>
          <p:nvPr/>
        </p:nvSpPr>
        <p:spPr>
          <a:xfrm>
            <a:off x="6163056" y="1188720"/>
            <a:ext cx="269748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63056" y="1234440"/>
            <a:ext cx="2697480" cy="777240"/>
          </a:xfrm>
          <a:prstGeom prst="rect">
            <a:avLst/>
          </a:prstGeom>
          <a:noFill/>
        </p:spPr>
        <p:txBody>
          <a:bodyPr wrap="square" lIns="45720" tIns="27432" rIns="45720" bIns="27432" anchor="t">
            <a:spAutoFit/>
          </a:bodyPr>
          <a:lstStyle/>
          <a:p>
            <a:pPr algn="ctr"/>
            <a:r>
              <a:rPr sz="4400" b="1">
                <a:solidFill>
                  <a:srgbClr val="2E7D4F"/>
                </a:solidFill>
                <a:latin typeface="Calibri"/>
              </a:rPr>
              <a:t>0</a:t>
            </a:r>
          </a:p>
        </p:txBody>
      </p:sp>
      <p:sp>
        <p:nvSpPr>
          <p:cNvPr id="15" name="TextBox 14"/>
          <p:cNvSpPr txBox="1"/>
          <p:nvPr/>
        </p:nvSpPr>
        <p:spPr>
          <a:xfrm>
            <a:off x="6254496" y="2011680"/>
            <a:ext cx="2514600" cy="548640"/>
          </a:xfrm>
          <a:prstGeom prst="rect">
            <a:avLst/>
          </a:prstGeom>
          <a:noFill/>
        </p:spPr>
        <p:txBody>
          <a:bodyPr wrap="square" lIns="45720" tIns="27432" rIns="45720" bIns="27432" anchor="t">
            <a:spAutoFit/>
          </a:bodyPr>
          <a:lstStyle/>
          <a:p>
            <a:pPr algn="ctr"/>
            <a:r>
              <a:rPr sz="1350" b="0">
                <a:solidFill>
                  <a:srgbClr val="5B6778"/>
                </a:solidFill>
                <a:latin typeface="Calibri"/>
              </a:rPr>
              <a:t>duplicate rows</a:t>
            </a:r>
          </a:p>
        </p:txBody>
      </p:sp>
      <p:sp>
        <p:nvSpPr>
          <p:cNvPr id="16" name="Rounded Rectangle 15"/>
          <p:cNvSpPr/>
          <p:nvPr/>
        </p:nvSpPr>
        <p:spPr>
          <a:xfrm>
            <a:off x="9015984" y="1188720"/>
            <a:ext cx="269748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015984" y="1234440"/>
            <a:ext cx="2697480" cy="777240"/>
          </a:xfrm>
          <a:prstGeom prst="rect">
            <a:avLst/>
          </a:prstGeom>
          <a:noFill/>
        </p:spPr>
        <p:txBody>
          <a:bodyPr wrap="square" lIns="45720" tIns="27432" rIns="45720" bIns="27432" anchor="t">
            <a:spAutoFit/>
          </a:bodyPr>
          <a:lstStyle/>
          <a:p>
            <a:pPr algn="ctr"/>
            <a:r>
              <a:rPr sz="4400" b="1">
                <a:solidFill>
                  <a:srgbClr val="2E7D4F"/>
                </a:solidFill>
                <a:latin typeface="Calibri"/>
              </a:rPr>
              <a:t>0</a:t>
            </a:r>
          </a:p>
        </p:txBody>
      </p:sp>
      <p:sp>
        <p:nvSpPr>
          <p:cNvPr id="18" name="TextBox 17"/>
          <p:cNvSpPr txBox="1"/>
          <p:nvPr/>
        </p:nvSpPr>
        <p:spPr>
          <a:xfrm>
            <a:off x="9107424" y="2011680"/>
            <a:ext cx="2514600" cy="548640"/>
          </a:xfrm>
          <a:prstGeom prst="rect">
            <a:avLst/>
          </a:prstGeom>
          <a:noFill/>
        </p:spPr>
        <p:txBody>
          <a:bodyPr wrap="square" lIns="45720" tIns="27432" rIns="45720" bIns="27432" anchor="t">
            <a:spAutoFit/>
          </a:bodyPr>
          <a:lstStyle/>
          <a:p>
            <a:pPr algn="ctr"/>
            <a:r>
              <a:rPr sz="1350" b="0">
                <a:solidFill>
                  <a:srgbClr val="5B6778"/>
                </a:solidFill>
                <a:latin typeface="Calibri"/>
              </a:rPr>
              <a:t>duplicate Restaurant IDs</a:t>
            </a:r>
          </a:p>
        </p:txBody>
      </p:sp>
      <p:sp>
        <p:nvSpPr>
          <p:cNvPr id="19" name="TextBox 18"/>
          <p:cNvSpPr txBox="1"/>
          <p:nvPr/>
        </p:nvSpPr>
        <p:spPr>
          <a:xfrm>
            <a:off x="457200" y="2834640"/>
            <a:ext cx="5486400" cy="365760"/>
          </a:xfrm>
          <a:prstGeom prst="rect">
            <a:avLst/>
          </a:prstGeom>
          <a:noFill/>
        </p:spPr>
        <p:txBody>
          <a:bodyPr wrap="square" lIns="45720" tIns="27432" rIns="45720" bIns="27432" anchor="t">
            <a:spAutoFit/>
          </a:bodyPr>
          <a:lstStyle/>
          <a:p>
            <a:pPr algn="l"/>
            <a:r>
              <a:rPr sz="1400" b="1">
                <a:solidFill>
                  <a:srgbClr val="E8742A"/>
                </a:solidFill>
                <a:latin typeface="Calibri"/>
              </a:rPr>
              <a:t>HOW EACH ISSUE WAS HANDLED</a:t>
            </a:r>
          </a:p>
        </p:txBody>
      </p:sp>
      <p:graphicFrame>
        <p:nvGraphicFramePr>
          <p:cNvPr id="20" name="Table 19"/>
          <p:cNvGraphicFramePr>
            <a:graphicFrameLocks noGrp="1"/>
          </p:cNvGraphicFramePr>
          <p:nvPr/>
        </p:nvGraphicFramePr>
        <p:xfrm>
          <a:off x="457200" y="3200400"/>
          <a:ext cx="11292840" cy="2633472"/>
        </p:xfrm>
        <a:graphic>
          <a:graphicData uri="http://schemas.openxmlformats.org/drawingml/2006/table">
            <a:tbl>
              <a:tblPr>
                <a:tableStyleId>{5C22544A-7EE6-4342-B048-85BDC9FD1C3A}</a:tableStyleId>
              </a:tblPr>
              <a:tblGrid>
                <a:gridCol w="25603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438912">
                <a:tc>
                  <a:txBody>
                    <a:bodyPr/>
                    <a:lstStyle/>
                    <a:p>
                      <a:r>
                        <a:rPr sz="1250" b="1">
                          <a:solidFill>
                            <a:srgbClr val="FFFFFF"/>
                          </a:solidFill>
                          <a:latin typeface="Calibri"/>
                        </a:rPr>
                        <a:t>Issue</a:t>
                      </a:r>
                    </a:p>
                  </a:txBody>
                  <a:tcPr marT="27432" marB="27432" anchor="ctr">
                    <a:solidFill>
                      <a:srgbClr val="1F3756"/>
                    </a:solidFill>
                  </a:tcPr>
                </a:tc>
                <a:tc>
                  <a:txBody>
                    <a:bodyPr/>
                    <a:lstStyle/>
                    <a:p>
                      <a:r>
                        <a:rPr sz="1250" b="1">
                          <a:solidFill>
                            <a:srgbClr val="FFFFFF"/>
                          </a:solidFill>
                          <a:latin typeface="Calibri"/>
                        </a:rPr>
                        <a:t>Detection</a:t>
                      </a:r>
                    </a:p>
                  </a:txBody>
                  <a:tcPr marT="27432" marB="27432" anchor="ctr">
                    <a:solidFill>
                      <a:srgbClr val="1F3756"/>
                    </a:solidFill>
                  </a:tcPr>
                </a:tc>
                <a:tc>
                  <a:txBody>
                    <a:bodyPr/>
                    <a:lstStyle/>
                    <a:p>
                      <a:r>
                        <a:rPr sz="1250" b="1">
                          <a:solidFill>
                            <a:srgbClr val="FFFFFF"/>
                          </a:solidFill>
                          <a:latin typeface="Calibri"/>
                        </a:rPr>
                        <a:t>Treatment</a:t>
                      </a:r>
                    </a:p>
                  </a:txBody>
                  <a:tcPr marT="27432" marB="27432" anchor="ctr">
                    <a:solidFill>
                      <a:srgbClr val="1F3756"/>
                    </a:solidFill>
                  </a:tcPr>
                </a:tc>
                <a:tc>
                  <a:txBody>
                    <a:bodyPr/>
                    <a:lstStyle/>
                    <a:p>
                      <a:r>
                        <a:rPr sz="1250" b="1">
                          <a:solidFill>
                            <a:srgbClr val="FFFFFF"/>
                          </a:solidFill>
                          <a:latin typeface="Calibri"/>
                        </a:rPr>
                        <a:t>Result</a:t>
                      </a:r>
                    </a:p>
                  </a:txBody>
                  <a:tcPr marT="27432" marB="27432" anchor="ctr">
                    <a:solidFill>
                      <a:srgbClr val="1F3756"/>
                    </a:solidFill>
                  </a:tcPr>
                </a:tc>
                <a:extLst>
                  <a:ext uri="{0D108BD9-81ED-4DB2-BD59-A6C34878D82A}">
                    <a16:rowId xmlns:a16="http://schemas.microsoft.com/office/drawing/2014/main" val="10000"/>
                  </a:ext>
                </a:extLst>
              </a:tr>
              <a:tr h="438912">
                <a:tc>
                  <a:txBody>
                    <a:bodyPr/>
                    <a:lstStyle/>
                    <a:p>
                      <a:r>
                        <a:rPr sz="1250" b="1">
                          <a:solidFill>
                            <a:srgbClr val="1F3756"/>
                          </a:solidFill>
                          <a:latin typeface="Calibri"/>
                        </a:rPr>
                        <a:t>Duplicate rows</a:t>
                      </a:r>
                    </a:p>
                  </a:txBody>
                  <a:tcPr marT="27432" marB="27432" anchor="ctr">
                    <a:solidFill>
                      <a:srgbClr val="FFFFFF"/>
                    </a:solidFill>
                  </a:tcPr>
                </a:tc>
                <a:tc>
                  <a:txBody>
                    <a:bodyPr/>
                    <a:lstStyle/>
                    <a:p>
                      <a:r>
                        <a:rPr sz="1250">
                          <a:solidFill>
                            <a:srgbClr val="262F3D"/>
                          </a:solidFill>
                          <a:latin typeface="Calibri"/>
                        </a:rPr>
                        <a:t>df.duplicated().sum()</a:t>
                      </a:r>
                    </a:p>
                  </a:txBody>
                  <a:tcPr marT="27432" marB="27432" anchor="ctr">
                    <a:solidFill>
                      <a:srgbClr val="FFFFFF"/>
                    </a:solidFill>
                  </a:tcPr>
                </a:tc>
                <a:tc>
                  <a:txBody>
                    <a:bodyPr/>
                    <a:lstStyle/>
                    <a:p>
                      <a:r>
                        <a:rPr sz="1250">
                          <a:solidFill>
                            <a:srgbClr val="262F3D"/>
                          </a:solidFill>
                          <a:latin typeface="Calibri"/>
                        </a:rPr>
                        <a:t>None needed (0 found)</a:t>
                      </a:r>
                    </a:p>
                  </a:txBody>
                  <a:tcPr marT="27432" marB="27432" anchor="ctr">
                    <a:solidFill>
                      <a:srgbClr val="FFFFFF"/>
                    </a:solidFill>
                  </a:tcPr>
                </a:tc>
                <a:tc>
                  <a:txBody>
                    <a:bodyPr/>
                    <a:lstStyle/>
                    <a:p>
                      <a:r>
                        <a:rPr sz="1250">
                          <a:solidFill>
                            <a:srgbClr val="262F3D"/>
                          </a:solidFill>
                          <a:latin typeface="Calibri"/>
                        </a:rPr>
                        <a:t>0 duplicates</a:t>
                      </a:r>
                    </a:p>
                  </a:txBody>
                  <a:tcPr marT="27432" marB="27432" anchor="ctr">
                    <a:solidFill>
                      <a:srgbClr val="FFFFFF"/>
                    </a:solidFill>
                  </a:tcPr>
                </a:tc>
                <a:extLst>
                  <a:ext uri="{0D108BD9-81ED-4DB2-BD59-A6C34878D82A}">
                    <a16:rowId xmlns:a16="http://schemas.microsoft.com/office/drawing/2014/main" val="10001"/>
                  </a:ext>
                </a:extLst>
              </a:tr>
              <a:tr h="438912">
                <a:tc>
                  <a:txBody>
                    <a:bodyPr/>
                    <a:lstStyle/>
                    <a:p>
                      <a:r>
                        <a:rPr sz="1250" b="1">
                          <a:solidFill>
                            <a:srgbClr val="1F3756"/>
                          </a:solidFill>
                          <a:latin typeface="Calibri"/>
                        </a:rPr>
                        <a:t>Repeated Restaurant ID</a:t>
                      </a:r>
                    </a:p>
                  </a:txBody>
                  <a:tcPr marT="27432" marB="27432" anchor="ctr">
                    <a:solidFill>
                      <a:srgbClr val="F1F4F9"/>
                    </a:solidFill>
                  </a:tcPr>
                </a:tc>
                <a:tc>
                  <a:txBody>
                    <a:bodyPr/>
                    <a:lstStyle/>
                    <a:p>
                      <a:r>
                        <a:rPr sz="1250">
                          <a:solidFill>
                            <a:srgbClr val="262F3D"/>
                          </a:solidFill>
                          <a:latin typeface="Calibri"/>
                        </a:rPr>
                        <a:t>df['Restaurant ID'].duplicated().sum()</a:t>
                      </a:r>
                    </a:p>
                  </a:txBody>
                  <a:tcPr marT="27432" marB="27432" anchor="ctr">
                    <a:solidFill>
                      <a:srgbClr val="F1F4F9"/>
                    </a:solidFill>
                  </a:tcPr>
                </a:tc>
                <a:tc>
                  <a:txBody>
                    <a:bodyPr/>
                    <a:lstStyle/>
                    <a:p>
                      <a:r>
                        <a:rPr sz="1250">
                          <a:solidFill>
                            <a:srgbClr val="262F3D"/>
                          </a:solidFill>
                          <a:latin typeface="Calibri"/>
                        </a:rPr>
                        <a:t>None needed (0 found)</a:t>
                      </a:r>
                    </a:p>
                  </a:txBody>
                  <a:tcPr marT="27432" marB="27432" anchor="ctr">
                    <a:solidFill>
                      <a:srgbClr val="F1F4F9"/>
                    </a:solidFill>
                  </a:tcPr>
                </a:tc>
                <a:tc>
                  <a:txBody>
                    <a:bodyPr/>
                    <a:lstStyle/>
                    <a:p>
                      <a:r>
                        <a:rPr sz="1250">
                          <a:solidFill>
                            <a:srgbClr val="262F3D"/>
                          </a:solidFill>
                          <a:latin typeface="Calibri"/>
                        </a:rPr>
                        <a:t>All IDs unique</a:t>
                      </a:r>
                    </a:p>
                  </a:txBody>
                  <a:tcPr marT="27432" marB="27432" anchor="ctr">
                    <a:solidFill>
                      <a:srgbClr val="F1F4F9"/>
                    </a:solidFill>
                  </a:tcPr>
                </a:tc>
                <a:extLst>
                  <a:ext uri="{0D108BD9-81ED-4DB2-BD59-A6C34878D82A}">
                    <a16:rowId xmlns:a16="http://schemas.microsoft.com/office/drawing/2014/main" val="10002"/>
                  </a:ext>
                </a:extLst>
              </a:tr>
              <a:tr h="438912">
                <a:tc>
                  <a:txBody>
                    <a:bodyPr/>
                    <a:lstStyle/>
                    <a:p>
                      <a:r>
                        <a:rPr sz="1250" b="1">
                          <a:solidFill>
                            <a:srgbClr val="1F3756"/>
                          </a:solidFill>
                          <a:latin typeface="Calibri"/>
                        </a:rPr>
                        <a:t>Missing numeric values</a:t>
                      </a:r>
                    </a:p>
                  </a:txBody>
                  <a:tcPr marT="27432" marB="27432" anchor="ctr">
                    <a:solidFill>
                      <a:srgbClr val="FFFFFF"/>
                    </a:solidFill>
                  </a:tcPr>
                </a:tc>
                <a:tc>
                  <a:txBody>
                    <a:bodyPr/>
                    <a:lstStyle/>
                    <a:p>
                      <a:r>
                        <a:rPr sz="1250">
                          <a:solidFill>
                            <a:srgbClr val="262F3D"/>
                          </a:solidFill>
                          <a:latin typeface="Calibri"/>
                        </a:rPr>
                        <a:t>df.isnull().sum()</a:t>
                      </a:r>
                    </a:p>
                  </a:txBody>
                  <a:tcPr marT="27432" marB="27432" anchor="ctr">
                    <a:solidFill>
                      <a:srgbClr val="FFFFFF"/>
                    </a:solidFill>
                  </a:tcPr>
                </a:tc>
                <a:tc>
                  <a:txBody>
                    <a:bodyPr/>
                    <a:lstStyle/>
                    <a:p>
                      <a:r>
                        <a:rPr sz="1250">
                          <a:solidFill>
                            <a:srgbClr val="262F3D"/>
                          </a:solidFill>
                          <a:latin typeface="Calibri"/>
                        </a:rPr>
                        <a:t>None needed (0 found)</a:t>
                      </a:r>
                    </a:p>
                  </a:txBody>
                  <a:tcPr marT="27432" marB="27432" anchor="ctr">
                    <a:solidFill>
                      <a:srgbClr val="FFFFFF"/>
                    </a:solidFill>
                  </a:tcPr>
                </a:tc>
                <a:tc>
                  <a:txBody>
                    <a:bodyPr/>
                    <a:lstStyle/>
                    <a:p>
                      <a:r>
                        <a:rPr sz="1250">
                          <a:solidFill>
                            <a:srgbClr val="262F3D"/>
                          </a:solidFill>
                          <a:latin typeface="Calibri"/>
                        </a:rPr>
                        <a:t>0 missing</a:t>
                      </a:r>
                    </a:p>
                  </a:txBody>
                  <a:tcPr marT="27432" marB="27432" anchor="ctr">
                    <a:solidFill>
                      <a:srgbClr val="FFFFFF"/>
                    </a:solidFill>
                  </a:tcPr>
                </a:tc>
                <a:extLst>
                  <a:ext uri="{0D108BD9-81ED-4DB2-BD59-A6C34878D82A}">
                    <a16:rowId xmlns:a16="http://schemas.microsoft.com/office/drawing/2014/main" val="10003"/>
                  </a:ext>
                </a:extLst>
              </a:tr>
              <a:tr h="438912">
                <a:tc>
                  <a:txBody>
                    <a:bodyPr/>
                    <a:lstStyle/>
                    <a:p>
                      <a:r>
                        <a:rPr sz="1250" b="1">
                          <a:solidFill>
                            <a:srgbClr val="1F3756"/>
                          </a:solidFill>
                          <a:latin typeface="Calibri"/>
                        </a:rPr>
                        <a:t>Missing categorical values</a:t>
                      </a:r>
                    </a:p>
                  </a:txBody>
                  <a:tcPr marT="27432" marB="27432" anchor="ctr">
                    <a:solidFill>
                      <a:srgbClr val="F1F4F9"/>
                    </a:solidFill>
                  </a:tcPr>
                </a:tc>
                <a:tc>
                  <a:txBody>
                    <a:bodyPr/>
                    <a:lstStyle/>
                    <a:p>
                      <a:r>
                        <a:rPr sz="1250">
                          <a:solidFill>
                            <a:srgbClr val="262F3D"/>
                          </a:solidFill>
                          <a:latin typeface="Calibri"/>
                        </a:rPr>
                        <a:t>df.isnull().sum()</a:t>
                      </a:r>
                    </a:p>
                  </a:txBody>
                  <a:tcPr marT="27432" marB="27432" anchor="ctr">
                    <a:solidFill>
                      <a:srgbClr val="F1F4F9"/>
                    </a:solidFill>
                  </a:tcPr>
                </a:tc>
                <a:tc>
                  <a:txBody>
                    <a:bodyPr/>
                    <a:lstStyle/>
                    <a:p>
                      <a:r>
                        <a:rPr sz="1250">
                          <a:solidFill>
                            <a:srgbClr val="262F3D"/>
                          </a:solidFill>
                          <a:latin typeface="Calibri"/>
                        </a:rPr>
                        <a:t>Most-frequent imputation (9 in Cuisines)</a:t>
                      </a:r>
                    </a:p>
                  </a:txBody>
                  <a:tcPr marT="27432" marB="27432" anchor="ctr">
                    <a:solidFill>
                      <a:srgbClr val="F1F4F9"/>
                    </a:solidFill>
                  </a:tcPr>
                </a:tc>
                <a:tc>
                  <a:txBody>
                    <a:bodyPr/>
                    <a:lstStyle/>
                    <a:p>
                      <a:r>
                        <a:rPr sz="1250">
                          <a:solidFill>
                            <a:srgbClr val="262F3D"/>
                          </a:solidFill>
                          <a:latin typeface="Calibri"/>
                        </a:rPr>
                        <a:t>0 missing</a:t>
                      </a:r>
                    </a:p>
                  </a:txBody>
                  <a:tcPr marT="27432" marB="27432" anchor="ctr">
                    <a:solidFill>
                      <a:srgbClr val="F1F4F9"/>
                    </a:solidFill>
                  </a:tcPr>
                </a:tc>
                <a:extLst>
                  <a:ext uri="{0D108BD9-81ED-4DB2-BD59-A6C34878D82A}">
                    <a16:rowId xmlns:a16="http://schemas.microsoft.com/office/drawing/2014/main" val="10004"/>
                  </a:ext>
                </a:extLst>
              </a:tr>
              <a:tr h="438912">
                <a:tc>
                  <a:txBody>
                    <a:bodyPr/>
                    <a:lstStyle/>
                    <a:p>
                      <a:r>
                        <a:rPr sz="1250" b="1">
                          <a:solidFill>
                            <a:srgbClr val="1F3756"/>
                          </a:solidFill>
                          <a:latin typeface="Calibri"/>
                        </a:rPr>
                        <a:t>Unrated restaurants (2,148)</a:t>
                      </a:r>
                    </a:p>
                  </a:txBody>
                  <a:tcPr marT="27432" marB="27432" anchor="ctr">
                    <a:solidFill>
                      <a:srgbClr val="FFFFFF"/>
                    </a:solidFill>
                  </a:tcPr>
                </a:tc>
                <a:tc>
                  <a:txBody>
                    <a:bodyPr/>
                    <a:lstStyle/>
                    <a:p>
                      <a:r>
                        <a:rPr sz="1250">
                          <a:solidFill>
                            <a:srgbClr val="262F3D"/>
                          </a:solidFill>
                          <a:latin typeface="Calibri"/>
                        </a:rPr>
                        <a:t>Aggregate rating == 0</a:t>
                      </a:r>
                    </a:p>
                  </a:txBody>
                  <a:tcPr marT="27432" marB="27432" anchor="ctr">
                    <a:solidFill>
                      <a:srgbClr val="FFFFFF"/>
                    </a:solidFill>
                  </a:tcPr>
                </a:tc>
                <a:tc>
                  <a:txBody>
                    <a:bodyPr/>
                    <a:lstStyle/>
                    <a:p>
                      <a:r>
                        <a:rPr sz="1250">
                          <a:solidFill>
                            <a:srgbClr val="262F3D"/>
                          </a:solidFill>
                          <a:latin typeface="Calibri"/>
                        </a:rPr>
                        <a:t>Rows excluded from modelling</a:t>
                      </a:r>
                    </a:p>
                  </a:txBody>
                  <a:tcPr marT="27432" marB="27432" anchor="ctr">
                    <a:solidFill>
                      <a:srgbClr val="FFFFFF"/>
                    </a:solidFill>
                  </a:tcPr>
                </a:tc>
                <a:tc>
                  <a:txBody>
                    <a:bodyPr/>
                    <a:lstStyle/>
                    <a:p>
                      <a:r>
                        <a:rPr sz="1250">
                          <a:solidFill>
                            <a:srgbClr val="262F3D"/>
                          </a:solidFill>
                          <a:latin typeface="Calibri"/>
                        </a:rPr>
                        <a:t>7,403 rated rows</a:t>
                      </a:r>
                    </a:p>
                  </a:txBody>
                  <a:tcPr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21" name="TextBox 20"/>
          <p:cNvSpPr txBox="1"/>
          <p:nvPr/>
        </p:nvSpPr>
        <p:spPr>
          <a:xfrm>
            <a:off x="457200" y="5943600"/>
            <a:ext cx="11247120" cy="457200"/>
          </a:xfrm>
          <a:prstGeom prst="rect">
            <a:avLst/>
          </a:prstGeom>
          <a:noFill/>
        </p:spPr>
        <p:txBody>
          <a:bodyPr wrap="square" lIns="45720" tIns="27432" rIns="45720" bIns="27432" anchor="t">
            <a:spAutoFit/>
          </a:bodyPr>
          <a:lstStyle/>
          <a:p>
            <a:pPr algn="l"/>
            <a:r>
              <a:rPr sz="1300" b="0">
                <a:solidFill>
                  <a:srgbClr val="5B6778"/>
                </a:solidFill>
                <a:latin typeface="Calibri"/>
              </a:rPr>
              <a:t>Why mode? Cuisines is a text column, so the most-frequent value keeps it valid (only 9 cells). Giving unrated restaurants a rating would invent labels, so those 2,148 rows were dropped instead.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tIns="27432" rIns="45720" bIns="27432" anchor="ctr">
            <a:spAutoFit/>
          </a:bodyPr>
          <a:lstStyle/>
          <a:p>
            <a:pPr algn="l"/>
            <a:r>
              <a:rPr sz="2600" b="1">
                <a:solidFill>
                  <a:srgbClr val="1F3756"/>
                </a:solidFill>
                <a:latin typeface="Calibri"/>
              </a:rPr>
              <a:t>DATASET BEFORE VS AFTER CLEANING</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607040" y="6473952"/>
            <a:ext cx="1280160" cy="274320"/>
          </a:xfrm>
          <a:prstGeom prst="rect">
            <a:avLst/>
          </a:prstGeom>
          <a:noFill/>
        </p:spPr>
        <p:txBody>
          <a:bodyPr wrap="square" lIns="45720" tIns="27432" rIns="45720" bIns="27432" anchor="t">
            <a:spAutoFit/>
          </a:bodyPr>
          <a:lstStyle/>
          <a:p>
            <a:pPr algn="r"/>
            <a:r>
              <a:rPr sz="1100" b="0">
                <a:solidFill>
                  <a:srgbClr val="5B6778"/>
                </a:solidFill>
                <a:latin typeface="Calibri"/>
              </a:rPr>
              <a:t>Review 3  |  8</a:t>
            </a:r>
          </a:p>
        </p:txBody>
      </p:sp>
      <p:graphicFrame>
        <p:nvGraphicFramePr>
          <p:cNvPr id="7" name="Table 6"/>
          <p:cNvGraphicFramePr>
            <a:graphicFrameLocks noGrp="1"/>
          </p:cNvGraphicFramePr>
          <p:nvPr/>
        </p:nvGraphicFramePr>
        <p:xfrm>
          <a:off x="457200" y="1280160"/>
          <a:ext cx="7315200" cy="4242816"/>
        </p:xfrm>
        <a:graphic>
          <a:graphicData uri="http://schemas.openxmlformats.org/drawingml/2006/table">
            <a:tbl>
              <a:tblPr>
                <a:tableStyleId>{5C22544A-7EE6-4342-B048-85BDC9FD1C3A}</a:tableStyleId>
              </a:tblPr>
              <a:tblGrid>
                <a:gridCol w="20116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530352">
                <a:tc>
                  <a:txBody>
                    <a:bodyPr/>
                    <a:lstStyle/>
                    <a:p>
                      <a:r>
                        <a:rPr sz="1350" b="1">
                          <a:solidFill>
                            <a:srgbClr val="FFFFFF"/>
                          </a:solidFill>
                          <a:latin typeface="Calibri"/>
                        </a:rPr>
                        <a:t>Check</a:t>
                      </a:r>
                    </a:p>
                  </a:txBody>
                  <a:tcPr marT="27432" marB="27432" anchor="ctr">
                    <a:solidFill>
                      <a:srgbClr val="1F3756"/>
                    </a:solidFill>
                  </a:tcPr>
                </a:tc>
                <a:tc>
                  <a:txBody>
                    <a:bodyPr/>
                    <a:lstStyle/>
                    <a:p>
                      <a:r>
                        <a:rPr sz="1350" b="1">
                          <a:solidFill>
                            <a:srgbClr val="FFFFFF"/>
                          </a:solidFill>
                          <a:latin typeface="Calibri"/>
                        </a:rPr>
                        <a:t>Before cleaning</a:t>
                      </a:r>
                    </a:p>
                  </a:txBody>
                  <a:tcPr marT="27432" marB="27432" anchor="ctr">
                    <a:solidFill>
                      <a:srgbClr val="1F3756"/>
                    </a:solidFill>
                  </a:tcPr>
                </a:tc>
                <a:tc>
                  <a:txBody>
                    <a:bodyPr/>
                    <a:lstStyle/>
                    <a:p>
                      <a:r>
                        <a:rPr sz="1350" b="1">
                          <a:solidFill>
                            <a:srgbClr val="FFFFFF"/>
                          </a:solidFill>
                          <a:latin typeface="Calibri"/>
                        </a:rPr>
                        <a:t>After cleaning</a:t>
                      </a:r>
                    </a:p>
                  </a:txBody>
                  <a:tcPr marT="27432" marB="27432" anchor="ctr">
                    <a:solidFill>
                      <a:srgbClr val="1F3756"/>
                    </a:solidFill>
                  </a:tcPr>
                </a:tc>
                <a:extLst>
                  <a:ext uri="{0D108BD9-81ED-4DB2-BD59-A6C34878D82A}">
                    <a16:rowId xmlns:a16="http://schemas.microsoft.com/office/drawing/2014/main" val="10000"/>
                  </a:ext>
                </a:extLst>
              </a:tr>
              <a:tr h="530352">
                <a:tc>
                  <a:txBody>
                    <a:bodyPr/>
                    <a:lstStyle/>
                    <a:p>
                      <a:r>
                        <a:rPr sz="1350" b="1">
                          <a:solidFill>
                            <a:srgbClr val="1F3756"/>
                          </a:solidFill>
                          <a:latin typeface="Calibri"/>
                        </a:rPr>
                        <a:t>Rows</a:t>
                      </a:r>
                    </a:p>
                  </a:txBody>
                  <a:tcPr marT="27432" marB="27432" anchor="ctr">
                    <a:solidFill>
                      <a:srgbClr val="FFFFFF"/>
                    </a:solidFill>
                  </a:tcPr>
                </a:tc>
                <a:tc>
                  <a:txBody>
                    <a:bodyPr/>
                    <a:lstStyle/>
                    <a:p>
                      <a:r>
                        <a:rPr sz="1350">
                          <a:solidFill>
                            <a:srgbClr val="262F3D"/>
                          </a:solidFill>
                          <a:latin typeface="Calibri"/>
                        </a:rPr>
                        <a:t>9,551</a:t>
                      </a:r>
                    </a:p>
                  </a:txBody>
                  <a:tcPr marT="27432" marB="27432" anchor="ctr">
                    <a:solidFill>
                      <a:srgbClr val="FFFFFF"/>
                    </a:solidFill>
                  </a:tcPr>
                </a:tc>
                <a:tc>
                  <a:txBody>
                    <a:bodyPr/>
                    <a:lstStyle/>
                    <a:p>
                      <a:r>
                        <a:rPr sz="1350">
                          <a:solidFill>
                            <a:srgbClr val="262F3D"/>
                          </a:solidFill>
                          <a:latin typeface="Calibri"/>
                        </a:rPr>
                        <a:t>7,403 (used for modelling)</a:t>
                      </a:r>
                    </a:p>
                  </a:txBody>
                  <a:tcPr marT="27432" marB="27432" anchor="ctr">
                    <a:solidFill>
                      <a:srgbClr val="FFFFFF"/>
                    </a:solidFill>
                  </a:tcPr>
                </a:tc>
                <a:extLst>
                  <a:ext uri="{0D108BD9-81ED-4DB2-BD59-A6C34878D82A}">
                    <a16:rowId xmlns:a16="http://schemas.microsoft.com/office/drawing/2014/main" val="10001"/>
                  </a:ext>
                </a:extLst>
              </a:tr>
              <a:tr h="530352">
                <a:tc>
                  <a:txBody>
                    <a:bodyPr/>
                    <a:lstStyle/>
                    <a:p>
                      <a:r>
                        <a:rPr sz="1350" b="1">
                          <a:solidFill>
                            <a:srgbClr val="1F3756"/>
                          </a:solidFill>
                          <a:latin typeface="Calibri"/>
                        </a:rPr>
                        <a:t>Columns</a:t>
                      </a:r>
                    </a:p>
                  </a:txBody>
                  <a:tcPr marT="27432" marB="27432" anchor="ctr">
                    <a:solidFill>
                      <a:srgbClr val="F1F4F9"/>
                    </a:solidFill>
                  </a:tcPr>
                </a:tc>
                <a:tc>
                  <a:txBody>
                    <a:bodyPr/>
                    <a:lstStyle/>
                    <a:p>
                      <a:r>
                        <a:rPr sz="1350">
                          <a:solidFill>
                            <a:srgbClr val="262F3D"/>
                          </a:solidFill>
                          <a:latin typeface="Calibri"/>
                        </a:rPr>
                        <a:t>21</a:t>
                      </a:r>
                    </a:p>
                  </a:txBody>
                  <a:tcPr marT="27432" marB="27432" anchor="ctr">
                    <a:solidFill>
                      <a:srgbClr val="F1F4F9"/>
                    </a:solidFill>
                  </a:tcPr>
                </a:tc>
                <a:tc>
                  <a:txBody>
                    <a:bodyPr/>
                    <a:lstStyle/>
                    <a:p>
                      <a:r>
                        <a:rPr sz="1350">
                          <a:solidFill>
                            <a:srgbClr val="262F3D"/>
                          </a:solidFill>
                          <a:latin typeface="Calibri"/>
                        </a:rPr>
                        <a:t>24 (+ 3 derived columns)</a:t>
                      </a:r>
                    </a:p>
                  </a:txBody>
                  <a:tcPr marT="27432" marB="27432" anchor="ctr">
                    <a:solidFill>
                      <a:srgbClr val="F1F4F9"/>
                    </a:solidFill>
                  </a:tcPr>
                </a:tc>
                <a:extLst>
                  <a:ext uri="{0D108BD9-81ED-4DB2-BD59-A6C34878D82A}">
                    <a16:rowId xmlns:a16="http://schemas.microsoft.com/office/drawing/2014/main" val="10002"/>
                  </a:ext>
                </a:extLst>
              </a:tr>
              <a:tr h="530352">
                <a:tc>
                  <a:txBody>
                    <a:bodyPr/>
                    <a:lstStyle/>
                    <a:p>
                      <a:r>
                        <a:rPr sz="1350" b="1">
                          <a:solidFill>
                            <a:srgbClr val="1F3756"/>
                          </a:solidFill>
                          <a:latin typeface="Calibri"/>
                        </a:rPr>
                        <a:t>Missing values</a:t>
                      </a:r>
                    </a:p>
                  </a:txBody>
                  <a:tcPr marT="27432" marB="27432" anchor="ctr">
                    <a:solidFill>
                      <a:srgbClr val="FFFFFF"/>
                    </a:solidFill>
                  </a:tcPr>
                </a:tc>
                <a:tc>
                  <a:txBody>
                    <a:bodyPr/>
                    <a:lstStyle/>
                    <a:p>
                      <a:r>
                        <a:rPr sz="1350">
                          <a:solidFill>
                            <a:srgbClr val="262F3D"/>
                          </a:solidFill>
                          <a:latin typeface="Calibri"/>
                        </a:rPr>
                        <a:t>9</a:t>
                      </a:r>
                    </a:p>
                  </a:txBody>
                  <a:tcPr marT="27432" marB="27432" anchor="ctr">
                    <a:solidFill>
                      <a:srgbClr val="FFFFFF"/>
                    </a:solidFill>
                  </a:tcPr>
                </a:tc>
                <a:tc>
                  <a:txBody>
                    <a:bodyPr/>
                    <a:lstStyle/>
                    <a:p>
                      <a:r>
                        <a:rPr sz="1350">
                          <a:solidFill>
                            <a:srgbClr val="262F3D"/>
                          </a:solidFill>
                          <a:latin typeface="Calibri"/>
                        </a:rPr>
                        <a:t>0</a:t>
                      </a:r>
                    </a:p>
                  </a:txBody>
                  <a:tcPr marT="27432" marB="27432" anchor="ctr">
                    <a:solidFill>
                      <a:srgbClr val="FFFFFF"/>
                    </a:solidFill>
                  </a:tcPr>
                </a:tc>
                <a:extLst>
                  <a:ext uri="{0D108BD9-81ED-4DB2-BD59-A6C34878D82A}">
                    <a16:rowId xmlns:a16="http://schemas.microsoft.com/office/drawing/2014/main" val="10003"/>
                  </a:ext>
                </a:extLst>
              </a:tr>
              <a:tr h="530352">
                <a:tc>
                  <a:txBody>
                    <a:bodyPr/>
                    <a:lstStyle/>
                    <a:p>
                      <a:r>
                        <a:rPr sz="1350" b="1">
                          <a:solidFill>
                            <a:srgbClr val="1F3756"/>
                          </a:solidFill>
                          <a:latin typeface="Calibri"/>
                        </a:rPr>
                        <a:t>Duplicate rows</a:t>
                      </a:r>
                    </a:p>
                  </a:txBody>
                  <a:tcPr marT="27432" marB="27432" anchor="ctr">
                    <a:solidFill>
                      <a:srgbClr val="F1F4F9"/>
                    </a:solidFill>
                  </a:tcPr>
                </a:tc>
                <a:tc>
                  <a:txBody>
                    <a:bodyPr/>
                    <a:lstStyle/>
                    <a:p>
                      <a:r>
                        <a:rPr sz="1350">
                          <a:solidFill>
                            <a:srgbClr val="262F3D"/>
                          </a:solidFill>
                          <a:latin typeface="Calibri"/>
                        </a:rPr>
                        <a:t>0</a:t>
                      </a:r>
                    </a:p>
                  </a:txBody>
                  <a:tcPr marT="27432" marB="27432" anchor="ctr">
                    <a:solidFill>
                      <a:srgbClr val="F1F4F9"/>
                    </a:solidFill>
                  </a:tcPr>
                </a:tc>
                <a:tc>
                  <a:txBody>
                    <a:bodyPr/>
                    <a:lstStyle/>
                    <a:p>
                      <a:r>
                        <a:rPr sz="1350">
                          <a:solidFill>
                            <a:srgbClr val="262F3D"/>
                          </a:solidFill>
                          <a:latin typeface="Calibri"/>
                        </a:rPr>
                        <a:t>0</a:t>
                      </a:r>
                    </a:p>
                  </a:txBody>
                  <a:tcPr marT="27432" marB="27432" anchor="ctr">
                    <a:solidFill>
                      <a:srgbClr val="F1F4F9"/>
                    </a:solidFill>
                  </a:tcPr>
                </a:tc>
                <a:extLst>
                  <a:ext uri="{0D108BD9-81ED-4DB2-BD59-A6C34878D82A}">
                    <a16:rowId xmlns:a16="http://schemas.microsoft.com/office/drawing/2014/main" val="10004"/>
                  </a:ext>
                </a:extLst>
              </a:tr>
              <a:tr h="530352">
                <a:tc>
                  <a:txBody>
                    <a:bodyPr/>
                    <a:lstStyle/>
                    <a:p>
                      <a:r>
                        <a:rPr sz="1350" b="1">
                          <a:solidFill>
                            <a:srgbClr val="1F3756"/>
                          </a:solidFill>
                          <a:latin typeface="Calibri"/>
                        </a:rPr>
                        <a:t>Target distribution</a:t>
                      </a:r>
                    </a:p>
                  </a:txBody>
                  <a:tcPr marT="27432" marB="27432" anchor="ctr">
                    <a:solidFill>
                      <a:srgbClr val="FFFFFF"/>
                    </a:solidFill>
                  </a:tcPr>
                </a:tc>
                <a:tc>
                  <a:txBody>
                    <a:bodyPr/>
                    <a:lstStyle/>
                    <a:p>
                      <a:r>
                        <a:rPr sz="1350">
                          <a:solidFill>
                            <a:srgbClr val="262F3D"/>
                          </a:solidFill>
                          <a:latin typeface="Calibri"/>
                        </a:rPr>
                        <a:t>3,480 Y / 3,923 N / 2,148 unrated</a:t>
                      </a:r>
                    </a:p>
                  </a:txBody>
                  <a:tcPr marT="27432" marB="27432" anchor="ctr">
                    <a:solidFill>
                      <a:srgbClr val="FFFFFF"/>
                    </a:solidFill>
                  </a:tcPr>
                </a:tc>
                <a:tc>
                  <a:txBody>
                    <a:bodyPr/>
                    <a:lstStyle/>
                    <a:p>
                      <a:r>
                        <a:rPr sz="1350">
                          <a:solidFill>
                            <a:srgbClr val="262F3D"/>
                          </a:solidFill>
                          <a:latin typeface="Calibri"/>
                        </a:rPr>
                        <a:t>3,480 Y / 3,923 N</a:t>
                      </a:r>
                    </a:p>
                  </a:txBody>
                  <a:tcPr marT="27432" marB="27432" anchor="ctr">
                    <a:solidFill>
                      <a:srgbClr val="FFFFFF"/>
                    </a:solidFill>
                  </a:tcPr>
                </a:tc>
                <a:extLst>
                  <a:ext uri="{0D108BD9-81ED-4DB2-BD59-A6C34878D82A}">
                    <a16:rowId xmlns:a16="http://schemas.microsoft.com/office/drawing/2014/main" val="10005"/>
                  </a:ext>
                </a:extLst>
              </a:tr>
              <a:tr h="530352">
                <a:tc>
                  <a:txBody>
                    <a:bodyPr/>
                    <a:lstStyle/>
                    <a:p>
                      <a:r>
                        <a:rPr sz="1350" b="1">
                          <a:solidFill>
                            <a:srgbClr val="1F3756"/>
                          </a:solidFill>
                          <a:latin typeface="Calibri"/>
                        </a:rPr>
                        <a:t>Cuisines</a:t>
                      </a:r>
                    </a:p>
                  </a:txBody>
                  <a:tcPr marT="27432" marB="27432" anchor="ctr">
                    <a:solidFill>
                      <a:srgbClr val="F1F4F9"/>
                    </a:solidFill>
                  </a:tcPr>
                </a:tc>
                <a:tc>
                  <a:txBody>
                    <a:bodyPr/>
                    <a:lstStyle/>
                    <a:p>
                      <a:r>
                        <a:rPr sz="1350">
                          <a:solidFill>
                            <a:srgbClr val="262F3D"/>
                          </a:solidFill>
                          <a:latin typeface="Calibri"/>
                        </a:rPr>
                        <a:t>Raw text, 9 nulls</a:t>
                      </a:r>
                    </a:p>
                  </a:txBody>
                  <a:tcPr marT="27432" marB="27432" anchor="ctr">
                    <a:solidFill>
                      <a:srgbClr val="F1F4F9"/>
                    </a:solidFill>
                  </a:tcPr>
                </a:tc>
                <a:tc>
                  <a:txBody>
                    <a:bodyPr/>
                    <a:lstStyle/>
                    <a:p>
                      <a:r>
                        <a:rPr sz="1350">
                          <a:solidFill>
                            <a:srgbClr val="262F3D"/>
                          </a:solidFill>
                          <a:latin typeface="Calibri"/>
                        </a:rPr>
                        <a:t>Filled; Primary_Cuisine, Cuisine_Count added</a:t>
                      </a:r>
                    </a:p>
                  </a:txBody>
                  <a:tcPr marT="27432" marB="27432" anchor="ctr">
                    <a:solidFill>
                      <a:srgbClr val="F1F4F9"/>
                    </a:solidFill>
                  </a:tcPr>
                </a:tc>
                <a:extLst>
                  <a:ext uri="{0D108BD9-81ED-4DB2-BD59-A6C34878D82A}">
                    <a16:rowId xmlns:a16="http://schemas.microsoft.com/office/drawing/2014/main" val="10006"/>
                  </a:ext>
                </a:extLst>
              </a:tr>
              <a:tr h="530352">
                <a:tc>
                  <a:txBody>
                    <a:bodyPr/>
                    <a:lstStyle/>
                    <a:p>
                      <a:r>
                        <a:rPr sz="1350" b="1">
                          <a:solidFill>
                            <a:srgbClr val="1F3756"/>
                          </a:solidFill>
                          <a:latin typeface="Calibri"/>
                        </a:rPr>
                        <a:t>High-rating rate</a:t>
                      </a:r>
                    </a:p>
                  </a:txBody>
                  <a:tcPr marT="27432" marB="27432" anchor="ctr">
                    <a:solidFill>
                      <a:srgbClr val="FFFFFF"/>
                    </a:solidFill>
                  </a:tcPr>
                </a:tc>
                <a:tc>
                  <a:txBody>
                    <a:bodyPr/>
                    <a:lstStyle/>
                    <a:p>
                      <a:r>
                        <a:rPr sz="1350">
                          <a:solidFill>
                            <a:srgbClr val="262F3D"/>
                          </a:solidFill>
                          <a:latin typeface="Calibri"/>
                        </a:rPr>
                        <a:t>—</a:t>
                      </a:r>
                    </a:p>
                  </a:txBody>
                  <a:tcPr marT="27432" marB="27432" anchor="ctr">
                    <a:solidFill>
                      <a:srgbClr val="FFFFFF"/>
                    </a:solidFill>
                  </a:tcPr>
                </a:tc>
                <a:tc>
                  <a:txBody>
                    <a:bodyPr/>
                    <a:lstStyle/>
                    <a:p>
                      <a:r>
                        <a:rPr sz="1350">
                          <a:solidFill>
                            <a:srgbClr val="262F3D"/>
                          </a:solidFill>
                          <a:latin typeface="Calibri"/>
                        </a:rPr>
                        <a:t>47.0% (3,480 / 7,403)</a:t>
                      </a:r>
                    </a:p>
                  </a:txBody>
                  <a:tcPr marT="27432" marB="27432" anchor="ctr">
                    <a:solidFill>
                      <a:srgbClr val="FFFFFF"/>
                    </a:solidFill>
                  </a:tcPr>
                </a:tc>
                <a:extLst>
                  <a:ext uri="{0D108BD9-81ED-4DB2-BD59-A6C34878D82A}">
                    <a16:rowId xmlns:a16="http://schemas.microsoft.com/office/drawing/2014/main" val="10007"/>
                  </a:ext>
                </a:extLst>
              </a:tr>
            </a:tbl>
          </a:graphicData>
        </a:graphic>
      </p:graphicFrame>
      <p:sp>
        <p:nvSpPr>
          <p:cNvPr id="8" name="Rounded Rectangle 7"/>
          <p:cNvSpPr/>
          <p:nvPr/>
        </p:nvSpPr>
        <p:spPr>
          <a:xfrm>
            <a:off x="8046720" y="1280160"/>
            <a:ext cx="3703320" cy="201168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046720" y="1389888"/>
            <a:ext cx="64008" cy="179222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0" y="1353312"/>
            <a:ext cx="3429000" cy="365760"/>
          </a:xfrm>
          <a:prstGeom prst="rect">
            <a:avLst/>
          </a:prstGeom>
          <a:noFill/>
        </p:spPr>
        <p:txBody>
          <a:bodyPr wrap="square" lIns="45720" tIns="27432" rIns="45720" bIns="27432" anchor="t">
            <a:spAutoFit/>
          </a:bodyPr>
          <a:lstStyle/>
          <a:p>
            <a:pPr algn="l"/>
            <a:r>
              <a:rPr sz="1800" b="1">
                <a:solidFill>
                  <a:srgbClr val="1F3756"/>
                </a:solidFill>
                <a:latin typeface="Calibri"/>
              </a:rPr>
              <a:t>What changed</a:t>
            </a:r>
          </a:p>
        </p:txBody>
      </p:sp>
      <p:sp>
        <p:nvSpPr>
          <p:cNvPr id="11" name="TextBox 10"/>
          <p:cNvSpPr txBox="1"/>
          <p:nvPr/>
        </p:nvSpPr>
        <p:spPr>
          <a:xfrm>
            <a:off x="8229600" y="1737360"/>
            <a:ext cx="3429000" cy="1508760"/>
          </a:xfrm>
          <a:prstGeom prst="rect">
            <a:avLst/>
          </a:prstGeom>
          <a:noFill/>
        </p:spPr>
        <p:txBody>
          <a:bodyPr wrap="square" lIns="45720" tIns="27432" rIns="45720" bIns="27432" anchor="t">
            <a:spAutoFit/>
          </a:bodyPr>
          <a:lstStyle/>
          <a:p>
            <a:pPr algn="l"/>
            <a:r>
              <a:rPr sz="1600" b="0">
                <a:solidFill>
                  <a:srgbClr val="262F3D"/>
                </a:solidFill>
                <a:latin typeface="Calibri"/>
              </a:rPr>
              <a:t>9 null cells filled, 2,148 unrated rows removed, Rating_Status target and 2 cuisine columns derived.</a:t>
            </a:r>
          </a:p>
        </p:txBody>
      </p:sp>
      <p:sp>
        <p:nvSpPr>
          <p:cNvPr id="12" name="Rounded Rectangle 11"/>
          <p:cNvSpPr/>
          <p:nvPr/>
        </p:nvSpPr>
        <p:spPr>
          <a:xfrm>
            <a:off x="8046720" y="3474720"/>
            <a:ext cx="3703320" cy="201168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46720" y="3584448"/>
            <a:ext cx="64008" cy="179222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0" y="3547872"/>
            <a:ext cx="3429000" cy="365760"/>
          </a:xfrm>
          <a:prstGeom prst="rect">
            <a:avLst/>
          </a:prstGeom>
          <a:noFill/>
        </p:spPr>
        <p:txBody>
          <a:bodyPr wrap="square" lIns="45720" tIns="27432" rIns="45720" bIns="27432" anchor="t">
            <a:spAutoFit/>
          </a:bodyPr>
          <a:lstStyle/>
          <a:p>
            <a:pPr algn="l"/>
            <a:r>
              <a:rPr sz="1800" b="1">
                <a:solidFill>
                  <a:srgbClr val="1F3756"/>
                </a:solidFill>
                <a:latin typeface="Calibri"/>
              </a:rPr>
              <a:t>What stayed the same</a:t>
            </a:r>
          </a:p>
        </p:txBody>
      </p:sp>
      <p:sp>
        <p:nvSpPr>
          <p:cNvPr id="15" name="TextBox 14"/>
          <p:cNvSpPr txBox="1"/>
          <p:nvPr/>
        </p:nvSpPr>
        <p:spPr>
          <a:xfrm>
            <a:off x="8229600" y="3931920"/>
            <a:ext cx="3429000" cy="1508760"/>
          </a:xfrm>
          <a:prstGeom prst="rect">
            <a:avLst/>
          </a:prstGeom>
          <a:noFill/>
        </p:spPr>
        <p:txBody>
          <a:bodyPr wrap="square" lIns="45720" tIns="27432" rIns="45720" bIns="27432" anchor="t">
            <a:spAutoFit/>
          </a:bodyPr>
          <a:lstStyle/>
          <a:p>
            <a:pPr algn="l"/>
            <a:r>
              <a:rPr sz="1600" b="0">
                <a:solidFill>
                  <a:srgbClr val="262F3D"/>
                </a:solidFill>
                <a:latin typeface="Calibri"/>
              </a:rPr>
              <a:t>No duplicates existed, so no records were lost to de-duplication. The 21 original columns were preserved.</a:t>
            </a:r>
          </a:p>
        </p:txBody>
      </p:sp>
      <p:sp>
        <p:nvSpPr>
          <p:cNvPr id="16" name="TextBox 15"/>
          <p:cNvSpPr txBox="1"/>
          <p:nvPr/>
        </p:nvSpPr>
        <p:spPr>
          <a:xfrm>
            <a:off x="457200" y="5669280"/>
            <a:ext cx="11247120" cy="548640"/>
          </a:xfrm>
          <a:prstGeom prst="rect">
            <a:avLst/>
          </a:prstGeom>
          <a:noFill/>
        </p:spPr>
        <p:txBody>
          <a:bodyPr wrap="square" lIns="45720" tIns="27432" rIns="45720" bIns="27432" anchor="t">
            <a:spAutoFit/>
          </a:bodyPr>
          <a:lstStyle/>
          <a:p>
            <a:pPr algn="l"/>
            <a:r>
              <a:rPr sz="1400" b="1">
                <a:solidFill>
                  <a:srgbClr val="1F3756"/>
                </a:solidFill>
                <a:latin typeface="Calibri"/>
              </a:rPr>
              <a:t>Net effect: 2,148 rows removed (22.5% of the data) — a clean, fully-rated dataset of 7,403 restaurants ready for EDA and modelling.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tIns="27432" rIns="45720" bIns="27432" anchor="ctr">
            <a:spAutoFit/>
          </a:bodyPr>
          <a:lstStyle/>
          <a:p>
            <a:pPr algn="l"/>
            <a:r>
              <a:rPr sz="2600" b="1">
                <a:solidFill>
                  <a:srgbClr val="1F3756"/>
                </a:solidFill>
                <a:latin typeface="Calibri"/>
              </a:rPr>
              <a:t>CODING — STEP 1: LOAD &amp; INSPECT</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607040" y="6473952"/>
            <a:ext cx="1280160" cy="274320"/>
          </a:xfrm>
          <a:prstGeom prst="rect">
            <a:avLst/>
          </a:prstGeom>
          <a:noFill/>
        </p:spPr>
        <p:txBody>
          <a:bodyPr wrap="square" lIns="45720" tIns="27432" rIns="45720" bIns="27432" anchor="t">
            <a:spAutoFit/>
          </a:bodyPr>
          <a:lstStyle/>
          <a:p>
            <a:pPr algn="r"/>
            <a:r>
              <a:rPr sz="1100" b="0">
                <a:solidFill>
                  <a:srgbClr val="5B6778"/>
                </a:solidFill>
                <a:latin typeface="Calibri"/>
              </a:rPr>
              <a:t>Review 3  |  9</a:t>
            </a:r>
          </a:p>
        </p:txBody>
      </p:sp>
      <p:sp>
        <p:nvSpPr>
          <p:cNvPr id="7" name="Rounded Rectangle 6"/>
          <p:cNvSpPr/>
          <p:nvPr/>
        </p:nvSpPr>
        <p:spPr>
          <a:xfrm>
            <a:off x="457200" y="1143000"/>
            <a:ext cx="6675120" cy="3246120"/>
          </a:xfrm>
          <a:prstGeom prst="roundRect">
            <a:avLst>
              <a:gd name="adj" fmla="val 300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188720"/>
            <a:ext cx="6400800" cy="274320"/>
          </a:xfrm>
          <a:prstGeom prst="rect">
            <a:avLst/>
          </a:prstGeom>
          <a:noFill/>
        </p:spPr>
        <p:txBody>
          <a:bodyPr wrap="square" lIns="45720" tIns="27432" rIns="45720" bIns="27432" anchor="t">
            <a:spAutoFit/>
          </a:bodyPr>
          <a:lstStyle/>
          <a:p>
            <a:pPr algn="l"/>
            <a:r>
              <a:rPr sz="1100" b="1">
                <a:solidFill>
                  <a:srgbClr val="F0A06A"/>
                </a:solidFill>
                <a:latin typeface="Calibri"/>
              </a:rPr>
              <a:t>PYTHON  |  Load data</a:t>
            </a:r>
          </a:p>
        </p:txBody>
      </p:sp>
      <p:sp>
        <p:nvSpPr>
          <p:cNvPr id="9" name="TextBox 8"/>
          <p:cNvSpPr txBox="1"/>
          <p:nvPr/>
        </p:nvSpPr>
        <p:spPr>
          <a:xfrm>
            <a:off x="548640" y="1444752"/>
            <a:ext cx="6492240" cy="2631490"/>
          </a:xfrm>
          <a:prstGeom prst="rect">
            <a:avLst/>
          </a:prstGeom>
          <a:noFill/>
        </p:spPr>
        <p:txBody>
          <a:bodyPr wrap="square">
            <a:spAutoFit/>
          </a:bodyPr>
          <a:lstStyle/>
          <a:p>
            <a:r>
              <a:rPr sz="1500" dirty="0">
                <a:solidFill>
                  <a:srgbClr val="8FB4D9"/>
                </a:solidFill>
                <a:latin typeface="Consolas"/>
              </a:rPr>
              <a:t># Import libraries</a:t>
            </a:r>
          </a:p>
          <a:p>
            <a:r>
              <a:rPr sz="1500" dirty="0">
                <a:solidFill>
                  <a:srgbClr val="E6ECF5"/>
                </a:solidFill>
                <a:latin typeface="Consolas"/>
              </a:rPr>
              <a:t>import pandas as pd</a:t>
            </a:r>
          </a:p>
          <a:p>
            <a:r>
              <a:rPr sz="1500" dirty="0">
                <a:solidFill>
                  <a:srgbClr val="E6ECF5"/>
                </a:solidFill>
                <a:latin typeface="Consolas"/>
              </a:rPr>
              <a:t>import </a:t>
            </a:r>
            <a:r>
              <a:rPr sz="1500" dirty="0" err="1">
                <a:solidFill>
                  <a:srgbClr val="E6ECF5"/>
                </a:solidFill>
                <a:latin typeface="Consolas"/>
              </a:rPr>
              <a:t>numpy</a:t>
            </a:r>
            <a:r>
              <a:rPr sz="1500" dirty="0">
                <a:solidFill>
                  <a:srgbClr val="E6ECF5"/>
                </a:solidFill>
                <a:latin typeface="Consolas"/>
              </a:rPr>
              <a:t> as np</a:t>
            </a:r>
          </a:p>
          <a:p>
            <a:r>
              <a:rPr sz="1500" dirty="0">
                <a:solidFill>
                  <a:srgbClr val="E6ECF5"/>
                </a:solidFill>
                <a:latin typeface="Consolas"/>
              </a:rPr>
              <a:t>import </a:t>
            </a:r>
            <a:r>
              <a:rPr sz="1500" dirty="0" err="1">
                <a:solidFill>
                  <a:srgbClr val="E6ECF5"/>
                </a:solidFill>
                <a:latin typeface="Consolas"/>
              </a:rPr>
              <a:t>matplotlib.pyplot</a:t>
            </a:r>
            <a:r>
              <a:rPr sz="1500" dirty="0">
                <a:solidFill>
                  <a:srgbClr val="E6ECF5"/>
                </a:solidFill>
                <a:latin typeface="Consolas"/>
              </a:rPr>
              <a:t> as </a:t>
            </a:r>
            <a:r>
              <a:rPr sz="1500" dirty="0" err="1">
                <a:solidFill>
                  <a:srgbClr val="E6ECF5"/>
                </a:solidFill>
                <a:latin typeface="Consolas"/>
              </a:rPr>
              <a:t>plt</a:t>
            </a:r>
            <a:endParaRPr sz="1500" dirty="0">
              <a:solidFill>
                <a:srgbClr val="E6ECF5"/>
              </a:solidFill>
              <a:latin typeface="Consolas"/>
            </a:endParaRPr>
          </a:p>
          <a:p>
            <a:endParaRPr sz="1500" dirty="0">
              <a:solidFill>
                <a:srgbClr val="E6ECF5"/>
              </a:solidFill>
              <a:latin typeface="Consolas"/>
            </a:endParaRPr>
          </a:p>
          <a:p>
            <a:r>
              <a:rPr sz="1500" dirty="0">
                <a:solidFill>
                  <a:srgbClr val="8FB4D9"/>
                </a:solidFill>
                <a:latin typeface="Consolas"/>
              </a:rPr>
              <a:t># Load the CSV dataset (latin-1 encoding)</a:t>
            </a:r>
          </a:p>
          <a:p>
            <a:r>
              <a:rPr sz="1500" dirty="0" err="1">
                <a:solidFill>
                  <a:srgbClr val="E6ECF5"/>
                </a:solidFill>
                <a:latin typeface="Consolas"/>
              </a:rPr>
              <a:t>df</a:t>
            </a:r>
            <a:r>
              <a:rPr sz="1500" dirty="0">
                <a:solidFill>
                  <a:srgbClr val="E6ECF5"/>
                </a:solidFill>
                <a:latin typeface="Consolas"/>
              </a:rPr>
              <a:t> = </a:t>
            </a:r>
            <a:r>
              <a:rPr sz="1500" dirty="0" err="1">
                <a:solidFill>
                  <a:srgbClr val="E6ECF5"/>
                </a:solidFill>
                <a:latin typeface="Consolas"/>
              </a:rPr>
              <a:t>pd.read_csv</a:t>
            </a:r>
            <a:r>
              <a:rPr sz="1500" dirty="0">
                <a:solidFill>
                  <a:srgbClr val="E6ECF5"/>
                </a:solidFill>
                <a:latin typeface="Consolas"/>
              </a:rPr>
              <a:t>("</a:t>
            </a:r>
            <a:r>
              <a:rPr lang="en-IN" sz="1500" dirty="0">
                <a:solidFill>
                  <a:srgbClr val="E6ECF5"/>
                </a:solidFill>
                <a:latin typeface="Consolas"/>
              </a:rPr>
              <a:t>Sales</a:t>
            </a:r>
            <a:r>
              <a:rPr sz="1500" dirty="0">
                <a:solidFill>
                  <a:srgbClr val="E6ECF5"/>
                </a:solidFill>
                <a:latin typeface="Consolas"/>
              </a:rPr>
              <a:t>.csv", encoding="latin-1")</a:t>
            </a:r>
          </a:p>
          <a:p>
            <a:endParaRPr sz="1500" dirty="0">
              <a:solidFill>
                <a:srgbClr val="E6ECF5"/>
              </a:solidFill>
              <a:latin typeface="Consolas"/>
            </a:endParaRPr>
          </a:p>
          <a:p>
            <a:r>
              <a:rPr sz="1500" dirty="0">
                <a:solidFill>
                  <a:srgbClr val="E6ECF5"/>
                </a:solidFill>
                <a:latin typeface="Consolas"/>
              </a:rPr>
              <a:t>print(</a:t>
            </a:r>
            <a:r>
              <a:rPr sz="1500" dirty="0" err="1">
                <a:solidFill>
                  <a:srgbClr val="E6ECF5"/>
                </a:solidFill>
                <a:latin typeface="Consolas"/>
              </a:rPr>
              <a:t>df.shape</a:t>
            </a:r>
            <a:r>
              <a:rPr sz="1500" dirty="0">
                <a:solidFill>
                  <a:srgbClr val="E6ECF5"/>
                </a:solidFill>
                <a:latin typeface="Consolas"/>
              </a:rPr>
              <a:t>)        # rows, columns</a:t>
            </a:r>
          </a:p>
          <a:p>
            <a:r>
              <a:rPr sz="1500" dirty="0">
                <a:solidFill>
                  <a:srgbClr val="E6ECF5"/>
                </a:solidFill>
                <a:latin typeface="Consolas"/>
              </a:rPr>
              <a:t>print(</a:t>
            </a:r>
            <a:r>
              <a:rPr sz="1500" dirty="0" err="1">
                <a:solidFill>
                  <a:srgbClr val="E6ECF5"/>
                </a:solidFill>
                <a:latin typeface="Consolas"/>
              </a:rPr>
              <a:t>df.head</a:t>
            </a:r>
            <a:r>
              <a:rPr sz="1500" dirty="0">
                <a:solidFill>
                  <a:srgbClr val="E6ECF5"/>
                </a:solidFill>
                <a:latin typeface="Consolas"/>
              </a:rPr>
              <a:t>())       # first 5 records</a:t>
            </a:r>
          </a:p>
          <a:p>
            <a:r>
              <a:rPr sz="1500" dirty="0">
                <a:solidFill>
                  <a:srgbClr val="E6ECF5"/>
                </a:solidFill>
                <a:latin typeface="Consolas"/>
              </a:rPr>
              <a:t>df.info()              # data types + null counts</a:t>
            </a:r>
          </a:p>
        </p:txBody>
      </p:sp>
      <p:sp>
        <p:nvSpPr>
          <p:cNvPr id="10" name="Rounded Rectangle 9"/>
          <p:cNvSpPr/>
          <p:nvPr/>
        </p:nvSpPr>
        <p:spPr>
          <a:xfrm>
            <a:off x="457200" y="4526280"/>
            <a:ext cx="6675120" cy="2011680"/>
          </a:xfrm>
          <a:prstGeom prst="roundRect">
            <a:avLst>
              <a:gd name="adj" fmla="val 300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4572000"/>
            <a:ext cx="6400800" cy="274320"/>
          </a:xfrm>
          <a:prstGeom prst="rect">
            <a:avLst/>
          </a:prstGeom>
          <a:noFill/>
        </p:spPr>
        <p:txBody>
          <a:bodyPr wrap="square" lIns="45720" tIns="27432" rIns="45720" bIns="27432" anchor="t">
            <a:spAutoFit/>
          </a:bodyPr>
          <a:lstStyle/>
          <a:p>
            <a:pPr algn="l"/>
            <a:r>
              <a:rPr sz="1100" b="1">
                <a:solidFill>
                  <a:srgbClr val="F0A06A"/>
                </a:solidFill>
                <a:latin typeface="Calibri"/>
              </a:rPr>
              <a:t>OUTPUT</a:t>
            </a:r>
          </a:p>
        </p:txBody>
      </p:sp>
      <p:sp>
        <p:nvSpPr>
          <p:cNvPr id="12" name="TextBox 11"/>
          <p:cNvSpPr txBox="1"/>
          <p:nvPr/>
        </p:nvSpPr>
        <p:spPr>
          <a:xfrm>
            <a:off x="548640" y="4828032"/>
            <a:ext cx="6492240" cy="1645920"/>
          </a:xfrm>
          <a:prstGeom prst="rect">
            <a:avLst/>
          </a:prstGeom>
          <a:noFill/>
        </p:spPr>
        <p:txBody>
          <a:bodyPr wrap="square">
            <a:spAutoFit/>
          </a:bodyPr>
          <a:lstStyle/>
          <a:p>
            <a:r>
              <a:rPr sz="1300">
                <a:solidFill>
                  <a:srgbClr val="B8E6C4"/>
                </a:solidFill>
                <a:latin typeface="Consolas"/>
              </a:rPr>
              <a:t>(9551, 21)</a:t>
            </a:r>
          </a:p>
          <a:p>
            <a:r>
              <a:rPr sz="1300">
                <a:solidFill>
                  <a:srgbClr val="B8E6C4"/>
                </a:solidFill>
                <a:latin typeface="Consolas"/>
              </a:rPr>
              <a:t>Restaurant ID  Restaurant Name   Country Code  City ...</a:t>
            </a:r>
          </a:p>
          <a:p>
            <a:r>
              <a:rPr sz="1300">
                <a:solidFill>
                  <a:srgbClr val="B8E6C4"/>
                </a:solidFill>
                <a:latin typeface="Consolas"/>
              </a:rPr>
              <a:t>6317637        Le Petit Souffle  162           Makati City ...</a:t>
            </a:r>
          </a:p>
          <a:p>
            <a:r>
              <a:rPr sz="1300">
                <a:solidFill>
                  <a:srgbClr val="B8E6C4"/>
                </a:solidFill>
                <a:latin typeface="Consolas"/>
              </a:rPr>
              <a:t>6304287        Izakaya Kikufuji  162           Makati City ...</a:t>
            </a:r>
          </a:p>
        </p:txBody>
      </p:sp>
      <p:sp>
        <p:nvSpPr>
          <p:cNvPr id="13" name="TextBox 12"/>
          <p:cNvSpPr txBox="1"/>
          <p:nvPr/>
        </p:nvSpPr>
        <p:spPr>
          <a:xfrm>
            <a:off x="7406640" y="1097280"/>
            <a:ext cx="4389120" cy="365760"/>
          </a:xfrm>
          <a:prstGeom prst="rect">
            <a:avLst/>
          </a:prstGeom>
          <a:noFill/>
        </p:spPr>
        <p:txBody>
          <a:bodyPr wrap="square" lIns="45720" tIns="27432" rIns="45720" bIns="27432" anchor="t">
            <a:spAutoFit/>
          </a:bodyPr>
          <a:lstStyle/>
          <a:p>
            <a:pPr algn="l"/>
            <a:r>
              <a:rPr sz="1400" b="1">
                <a:solidFill>
                  <a:srgbClr val="E8742A"/>
                </a:solidFill>
                <a:latin typeface="Calibri"/>
              </a:rPr>
              <a:t>STEP-BY-STEP EXPLANATION</a:t>
            </a:r>
          </a:p>
        </p:txBody>
      </p:sp>
      <p:sp>
        <p:nvSpPr>
          <p:cNvPr id="14" name="Rounded Rectangle 13"/>
          <p:cNvSpPr/>
          <p:nvPr/>
        </p:nvSpPr>
        <p:spPr>
          <a:xfrm>
            <a:off x="7406640" y="1463040"/>
            <a:ext cx="438912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498079" y="1572768"/>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1">
                <a:solidFill>
                  <a:srgbClr val="FFFFFF"/>
                </a:solidFill>
              </a:rPr>
              <a:t>1</a:t>
            </a:r>
          </a:p>
        </p:txBody>
      </p:sp>
      <p:sp>
        <p:nvSpPr>
          <p:cNvPr id="16" name="TextBox 15"/>
          <p:cNvSpPr txBox="1"/>
          <p:nvPr/>
        </p:nvSpPr>
        <p:spPr>
          <a:xfrm>
            <a:off x="7909560" y="1527048"/>
            <a:ext cx="3840480" cy="320040"/>
          </a:xfrm>
          <a:prstGeom prst="rect">
            <a:avLst/>
          </a:prstGeom>
          <a:noFill/>
        </p:spPr>
        <p:txBody>
          <a:bodyPr wrap="square" lIns="45720" tIns="27432" rIns="45720" bIns="27432" anchor="t">
            <a:spAutoFit/>
          </a:bodyPr>
          <a:lstStyle/>
          <a:p>
            <a:pPr algn="l"/>
            <a:r>
              <a:rPr sz="1400" b="1">
                <a:solidFill>
                  <a:srgbClr val="1F3756"/>
                </a:solidFill>
                <a:latin typeface="Calibri"/>
              </a:rPr>
              <a:t>Import libraries</a:t>
            </a:r>
          </a:p>
        </p:txBody>
      </p:sp>
      <p:sp>
        <p:nvSpPr>
          <p:cNvPr id="17" name="TextBox 16"/>
          <p:cNvSpPr txBox="1"/>
          <p:nvPr/>
        </p:nvSpPr>
        <p:spPr>
          <a:xfrm>
            <a:off x="7909560" y="1847088"/>
            <a:ext cx="3840480" cy="1005840"/>
          </a:xfrm>
          <a:prstGeom prst="rect">
            <a:avLst/>
          </a:prstGeom>
          <a:noFill/>
        </p:spPr>
        <p:txBody>
          <a:bodyPr wrap="square" lIns="45720" tIns="27432" rIns="45720" bIns="27432" anchor="t">
            <a:spAutoFit/>
          </a:bodyPr>
          <a:lstStyle/>
          <a:p>
            <a:pPr algn="l"/>
            <a:r>
              <a:rPr sz="1350" b="0">
                <a:solidFill>
                  <a:srgbClr val="262F3D"/>
                </a:solidFill>
                <a:latin typeface="Calibri"/>
              </a:rPr>
              <a:t>Pandas for tables, NumPy for numbers, Matplotlib for charts.</a:t>
            </a:r>
          </a:p>
        </p:txBody>
      </p:sp>
      <p:sp>
        <p:nvSpPr>
          <p:cNvPr id="18" name="Rounded Rectangle 17"/>
          <p:cNvSpPr/>
          <p:nvPr/>
        </p:nvSpPr>
        <p:spPr>
          <a:xfrm>
            <a:off x="7406640" y="2990088"/>
            <a:ext cx="438912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498079" y="3099816"/>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1">
                <a:solidFill>
                  <a:srgbClr val="FFFFFF"/>
                </a:solidFill>
              </a:rPr>
              <a:t>2</a:t>
            </a:r>
          </a:p>
        </p:txBody>
      </p:sp>
      <p:sp>
        <p:nvSpPr>
          <p:cNvPr id="20" name="TextBox 19"/>
          <p:cNvSpPr txBox="1"/>
          <p:nvPr/>
        </p:nvSpPr>
        <p:spPr>
          <a:xfrm>
            <a:off x="7909560" y="3054096"/>
            <a:ext cx="3840480" cy="320040"/>
          </a:xfrm>
          <a:prstGeom prst="rect">
            <a:avLst/>
          </a:prstGeom>
          <a:noFill/>
        </p:spPr>
        <p:txBody>
          <a:bodyPr wrap="square" lIns="45720" tIns="27432" rIns="45720" bIns="27432" anchor="t">
            <a:spAutoFit/>
          </a:bodyPr>
          <a:lstStyle/>
          <a:p>
            <a:pPr algn="l"/>
            <a:r>
              <a:rPr sz="1400" b="1">
                <a:solidFill>
                  <a:srgbClr val="1F3756"/>
                </a:solidFill>
                <a:latin typeface="Calibri"/>
              </a:rPr>
              <a:t>Read the file</a:t>
            </a:r>
          </a:p>
        </p:txBody>
      </p:sp>
      <p:sp>
        <p:nvSpPr>
          <p:cNvPr id="21" name="TextBox 20"/>
          <p:cNvSpPr txBox="1"/>
          <p:nvPr/>
        </p:nvSpPr>
        <p:spPr>
          <a:xfrm>
            <a:off x="7909560" y="3374136"/>
            <a:ext cx="3840480" cy="1005840"/>
          </a:xfrm>
          <a:prstGeom prst="rect">
            <a:avLst/>
          </a:prstGeom>
          <a:noFill/>
        </p:spPr>
        <p:txBody>
          <a:bodyPr wrap="square" lIns="45720" tIns="27432" rIns="45720" bIns="27432" anchor="t">
            <a:spAutoFit/>
          </a:bodyPr>
          <a:lstStyle/>
          <a:p>
            <a:pPr algn="l"/>
            <a:r>
              <a:rPr sz="1350" b="0">
                <a:solidFill>
                  <a:srgbClr val="262F3D"/>
                </a:solidFill>
                <a:latin typeface="Calibri"/>
              </a:rPr>
              <a:t>read_csv loads the file into a DataFrame called df.</a:t>
            </a:r>
          </a:p>
        </p:txBody>
      </p:sp>
      <p:sp>
        <p:nvSpPr>
          <p:cNvPr id="22" name="Rounded Rectangle 21"/>
          <p:cNvSpPr/>
          <p:nvPr/>
        </p:nvSpPr>
        <p:spPr>
          <a:xfrm>
            <a:off x="7406640" y="4517136"/>
            <a:ext cx="438912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498079" y="4626864"/>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1">
                <a:solidFill>
                  <a:srgbClr val="FFFFFF"/>
                </a:solidFill>
              </a:rPr>
              <a:t>3</a:t>
            </a:r>
          </a:p>
        </p:txBody>
      </p:sp>
      <p:sp>
        <p:nvSpPr>
          <p:cNvPr id="24" name="TextBox 23"/>
          <p:cNvSpPr txBox="1"/>
          <p:nvPr/>
        </p:nvSpPr>
        <p:spPr>
          <a:xfrm>
            <a:off x="7909560" y="4581144"/>
            <a:ext cx="3840480" cy="320040"/>
          </a:xfrm>
          <a:prstGeom prst="rect">
            <a:avLst/>
          </a:prstGeom>
          <a:noFill/>
        </p:spPr>
        <p:txBody>
          <a:bodyPr wrap="square" lIns="45720" tIns="27432" rIns="45720" bIns="27432" anchor="t">
            <a:spAutoFit/>
          </a:bodyPr>
          <a:lstStyle/>
          <a:p>
            <a:pPr algn="l"/>
            <a:r>
              <a:rPr sz="1400" b="1">
                <a:solidFill>
                  <a:srgbClr val="1F3756"/>
                </a:solidFill>
                <a:latin typeface="Calibri"/>
              </a:rPr>
              <a:t>Inspect</a:t>
            </a:r>
          </a:p>
        </p:txBody>
      </p:sp>
      <p:sp>
        <p:nvSpPr>
          <p:cNvPr id="25" name="TextBox 24"/>
          <p:cNvSpPr txBox="1"/>
          <p:nvPr/>
        </p:nvSpPr>
        <p:spPr>
          <a:xfrm>
            <a:off x="7909560" y="4901183"/>
            <a:ext cx="3840480" cy="1005840"/>
          </a:xfrm>
          <a:prstGeom prst="rect">
            <a:avLst/>
          </a:prstGeom>
          <a:noFill/>
        </p:spPr>
        <p:txBody>
          <a:bodyPr wrap="square" lIns="45720" tIns="27432" rIns="45720" bIns="27432" anchor="t">
            <a:spAutoFit/>
          </a:bodyPr>
          <a:lstStyle/>
          <a:p>
            <a:pPr algn="l"/>
            <a:r>
              <a:rPr sz="1350" b="0">
                <a:solidFill>
                  <a:srgbClr val="262F3D"/>
                </a:solidFill>
                <a:latin typeface="Calibri"/>
              </a:rPr>
              <a:t>shape, head() and info() confirm size, columns and data types before any changes.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tIns="27432" rIns="45720" bIns="27432" anchor="ctr">
            <a:spAutoFit/>
          </a:bodyPr>
          <a:lstStyle/>
          <a:p>
            <a:pPr algn="l"/>
            <a:r>
              <a:rPr sz="2600" b="1">
                <a:solidFill>
                  <a:srgbClr val="1F3756"/>
                </a:solidFill>
                <a:latin typeface="Calibri"/>
              </a:rPr>
              <a:t>CODING — STEP 2: DETECT MISSING &amp; DUPLICATES</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607040" y="6473952"/>
            <a:ext cx="1280160" cy="274320"/>
          </a:xfrm>
          <a:prstGeom prst="rect">
            <a:avLst/>
          </a:prstGeom>
          <a:noFill/>
        </p:spPr>
        <p:txBody>
          <a:bodyPr wrap="square" lIns="45720" tIns="27432" rIns="45720" bIns="27432" anchor="t">
            <a:spAutoFit/>
          </a:bodyPr>
          <a:lstStyle/>
          <a:p>
            <a:pPr algn="r"/>
            <a:r>
              <a:rPr sz="1100" b="0">
                <a:solidFill>
                  <a:srgbClr val="5B6778"/>
                </a:solidFill>
                <a:latin typeface="Calibri"/>
              </a:rPr>
              <a:t>Review 3  |  10</a:t>
            </a:r>
          </a:p>
        </p:txBody>
      </p:sp>
      <p:sp>
        <p:nvSpPr>
          <p:cNvPr id="7" name="Rounded Rectangle 6"/>
          <p:cNvSpPr/>
          <p:nvPr/>
        </p:nvSpPr>
        <p:spPr>
          <a:xfrm>
            <a:off x="457200" y="1143000"/>
            <a:ext cx="6675120" cy="3246120"/>
          </a:xfrm>
          <a:prstGeom prst="roundRect">
            <a:avLst>
              <a:gd name="adj" fmla="val 300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188720"/>
            <a:ext cx="6400800" cy="274320"/>
          </a:xfrm>
          <a:prstGeom prst="rect">
            <a:avLst/>
          </a:prstGeom>
          <a:noFill/>
        </p:spPr>
        <p:txBody>
          <a:bodyPr wrap="square" lIns="45720" tIns="27432" rIns="45720" bIns="27432" anchor="t">
            <a:spAutoFit/>
          </a:bodyPr>
          <a:lstStyle/>
          <a:p>
            <a:pPr algn="l"/>
            <a:r>
              <a:rPr sz="1100" b="1">
                <a:solidFill>
                  <a:srgbClr val="F0A06A"/>
                </a:solidFill>
                <a:latin typeface="Calibri"/>
              </a:rPr>
              <a:t>PYTHON  |  Quality checks</a:t>
            </a:r>
          </a:p>
        </p:txBody>
      </p:sp>
      <p:sp>
        <p:nvSpPr>
          <p:cNvPr id="9" name="TextBox 8"/>
          <p:cNvSpPr txBox="1"/>
          <p:nvPr/>
        </p:nvSpPr>
        <p:spPr>
          <a:xfrm>
            <a:off x="548640" y="1444752"/>
            <a:ext cx="6492240" cy="2880360"/>
          </a:xfrm>
          <a:prstGeom prst="rect">
            <a:avLst/>
          </a:prstGeom>
          <a:noFill/>
        </p:spPr>
        <p:txBody>
          <a:bodyPr wrap="square">
            <a:spAutoFit/>
          </a:bodyPr>
          <a:lstStyle/>
          <a:p>
            <a:r>
              <a:rPr sz="1400">
                <a:solidFill>
                  <a:srgbClr val="8FB4D9"/>
                </a:solidFill>
                <a:latin typeface="Consolas"/>
              </a:rPr>
              <a:t># Missing values</a:t>
            </a:r>
          </a:p>
          <a:p>
            <a:r>
              <a:rPr sz="1400">
                <a:solidFill>
                  <a:srgbClr val="E6ECF5"/>
                </a:solidFill>
                <a:latin typeface="Consolas"/>
              </a:rPr>
              <a:t>print(df.isnull().sum().sum())</a:t>
            </a:r>
          </a:p>
          <a:p>
            <a:r>
              <a:rPr sz="1400">
                <a:solidFill>
                  <a:srgbClr val="E6ECF5"/>
                </a:solidFill>
                <a:latin typeface="Consolas"/>
              </a:rPr>
              <a:t>print((df["Aggregate rating"] == 0).sum())</a:t>
            </a:r>
          </a:p>
          <a:p>
            <a:endParaRPr sz="1400">
              <a:solidFill>
                <a:srgbClr val="E6ECF5"/>
              </a:solidFill>
              <a:latin typeface="Consolas"/>
            </a:endParaRPr>
          </a:p>
          <a:p>
            <a:r>
              <a:rPr sz="1400">
                <a:solidFill>
                  <a:srgbClr val="8FB4D9"/>
                </a:solidFill>
                <a:latin typeface="Consolas"/>
              </a:rPr>
              <a:t># Duplicate records</a:t>
            </a:r>
          </a:p>
          <a:p>
            <a:r>
              <a:rPr sz="1400">
                <a:solidFill>
                  <a:srgbClr val="E6ECF5"/>
                </a:solidFill>
                <a:latin typeface="Consolas"/>
              </a:rPr>
              <a:t>print(df.duplicated().sum())</a:t>
            </a:r>
          </a:p>
          <a:p>
            <a:r>
              <a:rPr sz="1400">
                <a:solidFill>
                  <a:srgbClr val="E6ECF5"/>
                </a:solidFill>
                <a:latin typeface="Consolas"/>
              </a:rPr>
              <a:t>print(df["Restaurant ID"].duplicated().sum())</a:t>
            </a:r>
          </a:p>
          <a:p>
            <a:endParaRPr sz="1400">
              <a:solidFill>
                <a:srgbClr val="E6ECF5"/>
              </a:solidFill>
              <a:latin typeface="Consolas"/>
            </a:endParaRPr>
          </a:p>
          <a:p>
            <a:r>
              <a:rPr sz="1400">
                <a:solidFill>
                  <a:srgbClr val="8FB4D9"/>
                </a:solidFill>
                <a:latin typeface="Consolas"/>
              </a:rPr>
              <a:t># Target: Y if rating &gt;= 3.5, NaN if unrated</a:t>
            </a:r>
          </a:p>
          <a:p>
            <a:r>
              <a:rPr sz="1400">
                <a:solidFill>
                  <a:srgbClr val="E6ECF5"/>
                </a:solidFill>
                <a:latin typeface="Consolas"/>
              </a:rPr>
              <a:t>r = df["Aggregate rating"]</a:t>
            </a:r>
          </a:p>
          <a:p>
            <a:r>
              <a:rPr sz="1400">
                <a:solidFill>
                  <a:srgbClr val="E6ECF5"/>
                </a:solidFill>
                <a:latin typeface="Consolas"/>
              </a:rPr>
              <a:t>df["Rating_Status"] = np.where(r &gt;= 3.5, "Y", "N")</a:t>
            </a:r>
          </a:p>
          <a:p>
            <a:r>
              <a:rPr sz="1400">
                <a:solidFill>
                  <a:srgbClr val="E6ECF5"/>
                </a:solidFill>
                <a:latin typeface="Consolas"/>
              </a:rPr>
              <a:t>df.loc[r == 0, "Rating_Status"] = np.nan</a:t>
            </a:r>
          </a:p>
          <a:p>
            <a:r>
              <a:rPr sz="1400">
                <a:solidFill>
                  <a:srgbClr val="E6ECF5"/>
                </a:solidFill>
                <a:latin typeface="Consolas"/>
              </a:rPr>
              <a:t>print(df["Rating_Status"].value_counts(dropna=False))</a:t>
            </a:r>
          </a:p>
        </p:txBody>
      </p:sp>
      <p:sp>
        <p:nvSpPr>
          <p:cNvPr id="10" name="Rounded Rectangle 9"/>
          <p:cNvSpPr/>
          <p:nvPr/>
        </p:nvSpPr>
        <p:spPr>
          <a:xfrm>
            <a:off x="457200" y="4526280"/>
            <a:ext cx="6675120" cy="2011680"/>
          </a:xfrm>
          <a:prstGeom prst="roundRect">
            <a:avLst>
              <a:gd name="adj" fmla="val 300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4572000"/>
            <a:ext cx="6400800" cy="274320"/>
          </a:xfrm>
          <a:prstGeom prst="rect">
            <a:avLst/>
          </a:prstGeom>
          <a:noFill/>
        </p:spPr>
        <p:txBody>
          <a:bodyPr wrap="square" lIns="45720" tIns="27432" rIns="45720" bIns="27432" anchor="t">
            <a:spAutoFit/>
          </a:bodyPr>
          <a:lstStyle/>
          <a:p>
            <a:pPr algn="l"/>
            <a:r>
              <a:rPr sz="1100" b="1">
                <a:solidFill>
                  <a:srgbClr val="F0A06A"/>
                </a:solidFill>
                <a:latin typeface="Calibri"/>
              </a:rPr>
              <a:t>OUTPUT</a:t>
            </a:r>
          </a:p>
        </p:txBody>
      </p:sp>
      <p:sp>
        <p:nvSpPr>
          <p:cNvPr id="12" name="TextBox 11"/>
          <p:cNvSpPr txBox="1"/>
          <p:nvPr/>
        </p:nvSpPr>
        <p:spPr>
          <a:xfrm>
            <a:off x="548640" y="4828032"/>
            <a:ext cx="6492240" cy="1645920"/>
          </a:xfrm>
          <a:prstGeom prst="rect">
            <a:avLst/>
          </a:prstGeom>
          <a:noFill/>
        </p:spPr>
        <p:txBody>
          <a:bodyPr wrap="square">
            <a:spAutoFit/>
          </a:bodyPr>
          <a:lstStyle/>
          <a:p>
            <a:r>
              <a:rPr sz="1250">
                <a:solidFill>
                  <a:srgbClr val="B8E6C4"/>
                </a:solidFill>
                <a:latin typeface="Consolas"/>
              </a:rPr>
              <a:t>9                    # total missing cells</a:t>
            </a:r>
          </a:p>
          <a:p>
            <a:r>
              <a:rPr sz="1250">
                <a:solidFill>
                  <a:srgbClr val="B8E6C4"/>
                </a:solidFill>
                <a:latin typeface="Consolas"/>
              </a:rPr>
              <a:t>2148                 # unrated restaurants (rating 0)</a:t>
            </a:r>
          </a:p>
          <a:p>
            <a:r>
              <a:rPr sz="1250">
                <a:solidFill>
                  <a:srgbClr val="B8E6C4"/>
                </a:solidFill>
                <a:latin typeface="Consolas"/>
              </a:rPr>
              <a:t>0                    # duplicate rows</a:t>
            </a:r>
          </a:p>
          <a:p>
            <a:r>
              <a:rPr sz="1250">
                <a:solidFill>
                  <a:srgbClr val="B8E6C4"/>
                </a:solidFill>
                <a:latin typeface="Consolas"/>
              </a:rPr>
              <a:t>0                    # duplicate Restaurant IDs</a:t>
            </a:r>
          </a:p>
          <a:p>
            <a:r>
              <a:rPr sz="1250">
                <a:solidFill>
                  <a:srgbClr val="B8E6C4"/>
                </a:solidFill>
                <a:latin typeface="Consolas"/>
              </a:rPr>
              <a:t>N      3923</a:t>
            </a:r>
          </a:p>
          <a:p>
            <a:r>
              <a:rPr sz="1250">
                <a:solidFill>
                  <a:srgbClr val="B8E6C4"/>
                </a:solidFill>
                <a:latin typeface="Consolas"/>
              </a:rPr>
              <a:t>Y      3480</a:t>
            </a:r>
          </a:p>
          <a:p>
            <a:r>
              <a:rPr sz="1250">
                <a:solidFill>
                  <a:srgbClr val="B8E6C4"/>
                </a:solidFill>
                <a:latin typeface="Consolas"/>
              </a:rPr>
              <a:t>NaN    2148</a:t>
            </a:r>
          </a:p>
        </p:txBody>
      </p:sp>
      <p:sp>
        <p:nvSpPr>
          <p:cNvPr id="13" name="TextBox 12"/>
          <p:cNvSpPr txBox="1"/>
          <p:nvPr/>
        </p:nvSpPr>
        <p:spPr>
          <a:xfrm>
            <a:off x="7406640" y="1097280"/>
            <a:ext cx="4389120" cy="365760"/>
          </a:xfrm>
          <a:prstGeom prst="rect">
            <a:avLst/>
          </a:prstGeom>
          <a:noFill/>
        </p:spPr>
        <p:txBody>
          <a:bodyPr wrap="square" lIns="45720" tIns="27432" rIns="45720" bIns="27432" anchor="t">
            <a:spAutoFit/>
          </a:bodyPr>
          <a:lstStyle/>
          <a:p>
            <a:pPr algn="l"/>
            <a:r>
              <a:rPr sz="1400" b="1">
                <a:solidFill>
                  <a:srgbClr val="E8742A"/>
                </a:solidFill>
                <a:latin typeface="Calibri"/>
              </a:rPr>
              <a:t>STEP-BY-STEP EXPLANATION</a:t>
            </a:r>
          </a:p>
        </p:txBody>
      </p:sp>
      <p:sp>
        <p:nvSpPr>
          <p:cNvPr id="14" name="Rounded Rectangle 13"/>
          <p:cNvSpPr/>
          <p:nvPr/>
        </p:nvSpPr>
        <p:spPr>
          <a:xfrm>
            <a:off x="7406640" y="1463040"/>
            <a:ext cx="438912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498079" y="1572768"/>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1">
                <a:solidFill>
                  <a:srgbClr val="FFFFFF"/>
                </a:solidFill>
              </a:rPr>
              <a:t>1</a:t>
            </a:r>
          </a:p>
        </p:txBody>
      </p:sp>
      <p:sp>
        <p:nvSpPr>
          <p:cNvPr id="16" name="TextBox 15"/>
          <p:cNvSpPr txBox="1"/>
          <p:nvPr/>
        </p:nvSpPr>
        <p:spPr>
          <a:xfrm>
            <a:off x="7909560" y="1527048"/>
            <a:ext cx="3840480" cy="320040"/>
          </a:xfrm>
          <a:prstGeom prst="rect">
            <a:avLst/>
          </a:prstGeom>
          <a:noFill/>
        </p:spPr>
        <p:txBody>
          <a:bodyPr wrap="square" lIns="45720" tIns="27432" rIns="45720" bIns="27432" anchor="t">
            <a:spAutoFit/>
          </a:bodyPr>
          <a:lstStyle/>
          <a:p>
            <a:pPr algn="l"/>
            <a:r>
              <a:rPr sz="1400" b="1">
                <a:solidFill>
                  <a:srgbClr val="1F3756"/>
                </a:solidFill>
                <a:latin typeface="Calibri"/>
              </a:rPr>
              <a:t>Count null cells</a:t>
            </a:r>
          </a:p>
        </p:txBody>
      </p:sp>
      <p:sp>
        <p:nvSpPr>
          <p:cNvPr id="17" name="TextBox 16"/>
          <p:cNvSpPr txBox="1"/>
          <p:nvPr/>
        </p:nvSpPr>
        <p:spPr>
          <a:xfrm>
            <a:off x="7909560" y="1847088"/>
            <a:ext cx="3840480" cy="1005840"/>
          </a:xfrm>
          <a:prstGeom prst="rect">
            <a:avLst/>
          </a:prstGeom>
          <a:noFill/>
        </p:spPr>
        <p:txBody>
          <a:bodyPr wrap="square" lIns="45720" tIns="27432" rIns="45720" bIns="27432" anchor="t">
            <a:spAutoFit/>
          </a:bodyPr>
          <a:lstStyle/>
          <a:p>
            <a:pPr algn="l"/>
            <a:r>
              <a:rPr sz="1350" b="0">
                <a:solidFill>
                  <a:srgbClr val="262F3D"/>
                </a:solidFill>
                <a:latin typeface="Calibri"/>
              </a:rPr>
              <a:t>isnull().sum().sum() adds up every missing cell in the table.</a:t>
            </a:r>
          </a:p>
        </p:txBody>
      </p:sp>
      <p:sp>
        <p:nvSpPr>
          <p:cNvPr id="18" name="Rounded Rectangle 17"/>
          <p:cNvSpPr/>
          <p:nvPr/>
        </p:nvSpPr>
        <p:spPr>
          <a:xfrm>
            <a:off x="7406640" y="2990088"/>
            <a:ext cx="438912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498079" y="3099816"/>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1">
                <a:solidFill>
                  <a:srgbClr val="FFFFFF"/>
                </a:solidFill>
              </a:rPr>
              <a:t>2</a:t>
            </a:r>
          </a:p>
        </p:txBody>
      </p:sp>
      <p:sp>
        <p:nvSpPr>
          <p:cNvPr id="20" name="TextBox 19"/>
          <p:cNvSpPr txBox="1"/>
          <p:nvPr/>
        </p:nvSpPr>
        <p:spPr>
          <a:xfrm>
            <a:off x="7909560" y="3054096"/>
            <a:ext cx="3840480" cy="320040"/>
          </a:xfrm>
          <a:prstGeom prst="rect">
            <a:avLst/>
          </a:prstGeom>
          <a:noFill/>
        </p:spPr>
        <p:txBody>
          <a:bodyPr wrap="square" lIns="45720" tIns="27432" rIns="45720" bIns="27432" anchor="t">
            <a:spAutoFit/>
          </a:bodyPr>
          <a:lstStyle/>
          <a:p>
            <a:pPr algn="l"/>
            <a:r>
              <a:rPr sz="1400" b="1">
                <a:solidFill>
                  <a:srgbClr val="1F3756"/>
                </a:solidFill>
                <a:latin typeface="Calibri"/>
              </a:rPr>
              <a:t>Check the target</a:t>
            </a:r>
          </a:p>
        </p:txBody>
      </p:sp>
      <p:sp>
        <p:nvSpPr>
          <p:cNvPr id="21" name="TextBox 20"/>
          <p:cNvSpPr txBox="1"/>
          <p:nvPr/>
        </p:nvSpPr>
        <p:spPr>
          <a:xfrm>
            <a:off x="7909560" y="3374136"/>
            <a:ext cx="3840480" cy="1005840"/>
          </a:xfrm>
          <a:prstGeom prst="rect">
            <a:avLst/>
          </a:prstGeom>
          <a:noFill/>
        </p:spPr>
        <p:txBody>
          <a:bodyPr wrap="square" lIns="45720" tIns="27432" rIns="45720" bIns="27432" anchor="t">
            <a:spAutoFit/>
          </a:bodyPr>
          <a:lstStyle/>
          <a:p>
            <a:pPr algn="l"/>
            <a:r>
              <a:rPr sz="1350" b="0">
                <a:solidFill>
                  <a:srgbClr val="262F3D"/>
                </a:solidFill>
                <a:latin typeface="Calibri"/>
              </a:rPr>
              <a:t>Unrated restaurants (rating 0) have no label, so they cannot be imputed.</a:t>
            </a:r>
          </a:p>
        </p:txBody>
      </p:sp>
      <p:sp>
        <p:nvSpPr>
          <p:cNvPr id="22" name="Rounded Rectangle 21"/>
          <p:cNvSpPr/>
          <p:nvPr/>
        </p:nvSpPr>
        <p:spPr>
          <a:xfrm>
            <a:off x="7406640" y="4517136"/>
            <a:ext cx="438912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498079" y="4626864"/>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1">
                <a:solidFill>
                  <a:srgbClr val="FFFFFF"/>
                </a:solidFill>
              </a:rPr>
              <a:t>3</a:t>
            </a:r>
          </a:p>
        </p:txBody>
      </p:sp>
      <p:sp>
        <p:nvSpPr>
          <p:cNvPr id="24" name="TextBox 23"/>
          <p:cNvSpPr txBox="1"/>
          <p:nvPr/>
        </p:nvSpPr>
        <p:spPr>
          <a:xfrm>
            <a:off x="7909560" y="4581144"/>
            <a:ext cx="3840480" cy="320040"/>
          </a:xfrm>
          <a:prstGeom prst="rect">
            <a:avLst/>
          </a:prstGeom>
          <a:noFill/>
        </p:spPr>
        <p:txBody>
          <a:bodyPr wrap="square" lIns="45720" tIns="27432" rIns="45720" bIns="27432" anchor="t">
            <a:spAutoFit/>
          </a:bodyPr>
          <a:lstStyle/>
          <a:p>
            <a:pPr algn="l"/>
            <a:r>
              <a:rPr sz="1400" b="1">
                <a:solidFill>
                  <a:srgbClr val="1F3756"/>
                </a:solidFill>
                <a:latin typeface="Calibri"/>
              </a:rPr>
              <a:t>Find duplicates</a:t>
            </a:r>
          </a:p>
        </p:txBody>
      </p:sp>
      <p:sp>
        <p:nvSpPr>
          <p:cNvPr id="25" name="TextBox 24"/>
          <p:cNvSpPr txBox="1"/>
          <p:nvPr/>
        </p:nvSpPr>
        <p:spPr>
          <a:xfrm>
            <a:off x="7909560" y="4901183"/>
            <a:ext cx="3840480" cy="1005840"/>
          </a:xfrm>
          <a:prstGeom prst="rect">
            <a:avLst/>
          </a:prstGeom>
          <a:noFill/>
        </p:spPr>
        <p:txBody>
          <a:bodyPr wrap="square" lIns="45720" tIns="27432" rIns="45720" bIns="27432" anchor="t">
            <a:spAutoFit/>
          </a:bodyPr>
          <a:lstStyle/>
          <a:p>
            <a:pPr algn="l"/>
            <a:r>
              <a:rPr sz="1350" b="0">
                <a:solidFill>
                  <a:srgbClr val="262F3D"/>
                </a:solidFill>
                <a:latin typeface="Calibri"/>
              </a:rPr>
              <a:t>duplicated() flags repeated rows; checking Restaurant ID catches repeated restaurants.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tIns="27432" rIns="45720" bIns="27432" anchor="ctr">
            <a:spAutoFit/>
          </a:bodyPr>
          <a:lstStyle/>
          <a:p>
            <a:pPr algn="l"/>
            <a:r>
              <a:rPr sz="2600" b="1">
                <a:solidFill>
                  <a:srgbClr val="1F3756"/>
                </a:solidFill>
                <a:latin typeface="Calibri"/>
              </a:rPr>
              <a:t>CODING — STEP 3: CLEAN &amp; TRANSFORM</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607040" y="6473952"/>
            <a:ext cx="1280160" cy="274320"/>
          </a:xfrm>
          <a:prstGeom prst="rect">
            <a:avLst/>
          </a:prstGeom>
          <a:noFill/>
        </p:spPr>
        <p:txBody>
          <a:bodyPr wrap="square" lIns="45720" tIns="27432" rIns="45720" bIns="27432" anchor="t">
            <a:spAutoFit/>
          </a:bodyPr>
          <a:lstStyle/>
          <a:p>
            <a:pPr algn="r"/>
            <a:r>
              <a:rPr sz="1100" b="0">
                <a:solidFill>
                  <a:srgbClr val="5B6778"/>
                </a:solidFill>
                <a:latin typeface="Calibri"/>
              </a:rPr>
              <a:t>Review 3  |  11</a:t>
            </a:r>
          </a:p>
        </p:txBody>
      </p:sp>
      <p:sp>
        <p:nvSpPr>
          <p:cNvPr id="7" name="Rounded Rectangle 6"/>
          <p:cNvSpPr/>
          <p:nvPr/>
        </p:nvSpPr>
        <p:spPr>
          <a:xfrm>
            <a:off x="457200" y="1143000"/>
            <a:ext cx="6675120" cy="4206240"/>
          </a:xfrm>
          <a:prstGeom prst="roundRect">
            <a:avLst>
              <a:gd name="adj" fmla="val 300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188720"/>
            <a:ext cx="6400800" cy="274320"/>
          </a:xfrm>
          <a:prstGeom prst="rect">
            <a:avLst/>
          </a:prstGeom>
          <a:noFill/>
        </p:spPr>
        <p:txBody>
          <a:bodyPr wrap="square" lIns="45720" tIns="27432" rIns="45720" bIns="27432" anchor="t">
            <a:spAutoFit/>
          </a:bodyPr>
          <a:lstStyle/>
          <a:p>
            <a:pPr algn="l"/>
            <a:r>
              <a:rPr sz="1100" b="1">
                <a:solidFill>
                  <a:srgbClr val="F0A06A"/>
                </a:solidFill>
                <a:latin typeface="Calibri"/>
              </a:rPr>
              <a:t>PYTHON  |  Cleaning</a:t>
            </a:r>
          </a:p>
        </p:txBody>
      </p:sp>
      <p:sp>
        <p:nvSpPr>
          <p:cNvPr id="9" name="TextBox 8"/>
          <p:cNvSpPr txBox="1"/>
          <p:nvPr/>
        </p:nvSpPr>
        <p:spPr>
          <a:xfrm>
            <a:off x="548640" y="1444752"/>
            <a:ext cx="6492240" cy="3840479"/>
          </a:xfrm>
          <a:prstGeom prst="rect">
            <a:avLst/>
          </a:prstGeom>
          <a:noFill/>
        </p:spPr>
        <p:txBody>
          <a:bodyPr wrap="square">
            <a:spAutoFit/>
          </a:bodyPr>
          <a:lstStyle/>
          <a:p>
            <a:r>
              <a:rPr sz="1250">
                <a:solidFill>
                  <a:srgbClr val="8FB4D9"/>
                </a:solidFill>
                <a:latin typeface="Consolas"/>
              </a:rPr>
              <a:t># Remove duplicates (none found, kept for safety)</a:t>
            </a:r>
          </a:p>
          <a:p>
            <a:r>
              <a:rPr sz="1250">
                <a:solidFill>
                  <a:srgbClr val="E6ECF5"/>
                </a:solidFill>
                <a:latin typeface="Consolas"/>
              </a:rPr>
              <a:t>df = df.drop_duplicates()</a:t>
            </a:r>
          </a:p>
          <a:p>
            <a:endParaRPr sz="1250">
              <a:solidFill>
                <a:srgbClr val="E6ECF5"/>
              </a:solidFill>
              <a:latin typeface="Consolas"/>
            </a:endParaRPr>
          </a:p>
          <a:p>
            <a:r>
              <a:rPr sz="1250">
                <a:solidFill>
                  <a:srgbClr val="8FB4D9"/>
                </a:solidFill>
                <a:latin typeface="Consolas"/>
              </a:rPr>
              <a:t># Median for numeric, mode for categorical</a:t>
            </a:r>
          </a:p>
          <a:p>
            <a:r>
              <a:rPr sz="1250">
                <a:solidFill>
                  <a:srgbClr val="E6ECF5"/>
                </a:solidFill>
                <a:latin typeface="Consolas"/>
              </a:rPr>
              <a:t>num = df.select_dtypes("number").columns</a:t>
            </a:r>
          </a:p>
          <a:p>
            <a:r>
              <a:rPr sz="1250">
                <a:solidFill>
                  <a:srgbClr val="E6ECF5"/>
                </a:solidFill>
                <a:latin typeface="Consolas"/>
              </a:rPr>
              <a:t>cat = df.select_dtypes("object").columns.drop("Rating_Status")</a:t>
            </a:r>
          </a:p>
          <a:p>
            <a:r>
              <a:rPr sz="1250">
                <a:solidFill>
                  <a:srgbClr val="E6ECF5"/>
                </a:solidFill>
                <a:latin typeface="Consolas"/>
              </a:rPr>
              <a:t>df[num] = df[num].fillna(df[num].median())</a:t>
            </a:r>
          </a:p>
          <a:p>
            <a:r>
              <a:rPr sz="1250">
                <a:solidFill>
                  <a:srgbClr val="E6ECF5"/>
                </a:solidFill>
                <a:latin typeface="Consolas"/>
              </a:rPr>
              <a:t>for c in cat:</a:t>
            </a:r>
          </a:p>
          <a:p>
            <a:r>
              <a:rPr sz="1250">
                <a:solidFill>
                  <a:srgbClr val="E6ECF5"/>
                </a:solidFill>
                <a:latin typeface="Consolas"/>
              </a:rPr>
              <a:t>    df[c] = df[c].fillna(df[c].mode()[0])</a:t>
            </a:r>
          </a:p>
          <a:p>
            <a:endParaRPr sz="1250">
              <a:solidFill>
                <a:srgbClr val="E6ECF5"/>
              </a:solidFill>
              <a:latin typeface="Consolas"/>
            </a:endParaRPr>
          </a:p>
          <a:p>
            <a:r>
              <a:rPr sz="1250">
                <a:solidFill>
                  <a:srgbClr val="8FB4D9"/>
                </a:solidFill>
                <a:latin typeface="Consolas"/>
              </a:rPr>
              <a:t># Derive helper columns from Cuisines</a:t>
            </a:r>
          </a:p>
          <a:p>
            <a:r>
              <a:rPr sz="1250">
                <a:solidFill>
                  <a:srgbClr val="E6ECF5"/>
                </a:solidFill>
                <a:latin typeface="Consolas"/>
              </a:rPr>
              <a:t>df["Primary_Cuisine"] = df["Cuisines"].str.split(",").str[0]</a:t>
            </a:r>
          </a:p>
          <a:p>
            <a:r>
              <a:rPr sz="1250">
                <a:solidFill>
                  <a:srgbClr val="E6ECF5"/>
                </a:solidFill>
                <a:latin typeface="Consolas"/>
              </a:rPr>
              <a:t>df["Cuisine_Count"]   = df["Cuisines"].str.split(",").str.len()</a:t>
            </a:r>
          </a:p>
          <a:p>
            <a:endParaRPr sz="1250">
              <a:solidFill>
                <a:srgbClr val="E6ECF5"/>
              </a:solidFill>
              <a:latin typeface="Consolas"/>
            </a:endParaRPr>
          </a:p>
          <a:p>
            <a:r>
              <a:rPr sz="1250">
                <a:solidFill>
                  <a:srgbClr val="8FB4D9"/>
                </a:solidFill>
                <a:latin typeface="Consolas"/>
              </a:rPr>
              <a:t># Drop the 2,148 unrated restaurants</a:t>
            </a:r>
          </a:p>
          <a:p>
            <a:r>
              <a:rPr sz="1250">
                <a:solidFill>
                  <a:srgbClr val="E6ECF5"/>
                </a:solidFill>
                <a:latin typeface="Consolas"/>
              </a:rPr>
              <a:t>df_model = df.dropna(subset=["Rating_Status"])</a:t>
            </a:r>
          </a:p>
          <a:p>
            <a:r>
              <a:rPr sz="1250">
                <a:solidFill>
                  <a:srgbClr val="E6ECF5"/>
                </a:solidFill>
                <a:latin typeface="Consolas"/>
              </a:rPr>
              <a:t>print(df_model.shape, df_model.isnull().sum().sum())</a:t>
            </a:r>
          </a:p>
        </p:txBody>
      </p:sp>
      <p:sp>
        <p:nvSpPr>
          <p:cNvPr id="10" name="Rounded Rectangle 9"/>
          <p:cNvSpPr/>
          <p:nvPr/>
        </p:nvSpPr>
        <p:spPr>
          <a:xfrm>
            <a:off x="457200" y="5486400"/>
            <a:ext cx="6675120" cy="1051560"/>
          </a:xfrm>
          <a:prstGeom prst="roundRect">
            <a:avLst>
              <a:gd name="adj" fmla="val 300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5532120"/>
            <a:ext cx="6400800" cy="274320"/>
          </a:xfrm>
          <a:prstGeom prst="rect">
            <a:avLst/>
          </a:prstGeom>
          <a:noFill/>
        </p:spPr>
        <p:txBody>
          <a:bodyPr wrap="square" lIns="45720" tIns="27432" rIns="45720" bIns="27432" anchor="t">
            <a:spAutoFit/>
          </a:bodyPr>
          <a:lstStyle/>
          <a:p>
            <a:pPr algn="l"/>
            <a:r>
              <a:rPr sz="1100" b="1">
                <a:solidFill>
                  <a:srgbClr val="F0A06A"/>
                </a:solidFill>
                <a:latin typeface="Calibri"/>
              </a:rPr>
              <a:t>OUTPUT</a:t>
            </a:r>
          </a:p>
        </p:txBody>
      </p:sp>
      <p:sp>
        <p:nvSpPr>
          <p:cNvPr id="12" name="TextBox 11"/>
          <p:cNvSpPr txBox="1"/>
          <p:nvPr/>
        </p:nvSpPr>
        <p:spPr>
          <a:xfrm>
            <a:off x="548640" y="5788152"/>
            <a:ext cx="6492240" cy="685800"/>
          </a:xfrm>
          <a:prstGeom prst="rect">
            <a:avLst/>
          </a:prstGeom>
          <a:noFill/>
        </p:spPr>
        <p:txBody>
          <a:bodyPr wrap="square">
            <a:spAutoFit/>
          </a:bodyPr>
          <a:lstStyle/>
          <a:p>
            <a:r>
              <a:rPr sz="1300">
                <a:solidFill>
                  <a:srgbClr val="B8E6C4"/>
                </a:solidFill>
                <a:latin typeface="Consolas"/>
              </a:rPr>
              <a:t>(7403, 24) 0       # 7,403 rows, 0 nulls (21 cols + 3 derived)</a:t>
            </a:r>
          </a:p>
        </p:txBody>
      </p:sp>
      <p:sp>
        <p:nvSpPr>
          <p:cNvPr id="13" name="TextBox 12"/>
          <p:cNvSpPr txBox="1"/>
          <p:nvPr/>
        </p:nvSpPr>
        <p:spPr>
          <a:xfrm>
            <a:off x="7406640" y="1097280"/>
            <a:ext cx="4389120" cy="365760"/>
          </a:xfrm>
          <a:prstGeom prst="rect">
            <a:avLst/>
          </a:prstGeom>
          <a:noFill/>
        </p:spPr>
        <p:txBody>
          <a:bodyPr wrap="square" lIns="45720" tIns="27432" rIns="45720" bIns="27432" anchor="t">
            <a:spAutoFit/>
          </a:bodyPr>
          <a:lstStyle/>
          <a:p>
            <a:pPr algn="l"/>
            <a:r>
              <a:rPr sz="1400" b="1">
                <a:solidFill>
                  <a:srgbClr val="E8742A"/>
                </a:solidFill>
                <a:latin typeface="Calibri"/>
              </a:rPr>
              <a:t>STEP-BY-STEP EXPLANATION</a:t>
            </a:r>
          </a:p>
        </p:txBody>
      </p:sp>
      <p:sp>
        <p:nvSpPr>
          <p:cNvPr id="14" name="Rounded Rectangle 13"/>
          <p:cNvSpPr/>
          <p:nvPr/>
        </p:nvSpPr>
        <p:spPr>
          <a:xfrm>
            <a:off x="7406640" y="1463040"/>
            <a:ext cx="4389120" cy="107899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498079" y="1572768"/>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1">
                <a:solidFill>
                  <a:srgbClr val="FFFFFF"/>
                </a:solidFill>
              </a:rPr>
              <a:t>1</a:t>
            </a:r>
          </a:p>
        </p:txBody>
      </p:sp>
      <p:sp>
        <p:nvSpPr>
          <p:cNvPr id="16" name="TextBox 15"/>
          <p:cNvSpPr txBox="1"/>
          <p:nvPr/>
        </p:nvSpPr>
        <p:spPr>
          <a:xfrm>
            <a:off x="7909560" y="1527048"/>
            <a:ext cx="3840480" cy="320040"/>
          </a:xfrm>
          <a:prstGeom prst="rect">
            <a:avLst/>
          </a:prstGeom>
          <a:noFill/>
        </p:spPr>
        <p:txBody>
          <a:bodyPr wrap="square" lIns="45720" tIns="27432" rIns="45720" bIns="27432" anchor="t">
            <a:spAutoFit/>
          </a:bodyPr>
          <a:lstStyle/>
          <a:p>
            <a:pPr algn="l"/>
            <a:r>
              <a:rPr sz="1400" b="1">
                <a:solidFill>
                  <a:srgbClr val="1F3756"/>
                </a:solidFill>
                <a:latin typeface="Calibri"/>
              </a:rPr>
              <a:t>Drop duplicates</a:t>
            </a:r>
          </a:p>
        </p:txBody>
      </p:sp>
      <p:sp>
        <p:nvSpPr>
          <p:cNvPr id="17" name="TextBox 16"/>
          <p:cNvSpPr txBox="1"/>
          <p:nvPr/>
        </p:nvSpPr>
        <p:spPr>
          <a:xfrm>
            <a:off x="7909560" y="1847088"/>
            <a:ext cx="3840480" cy="667512"/>
          </a:xfrm>
          <a:prstGeom prst="rect">
            <a:avLst/>
          </a:prstGeom>
          <a:noFill/>
        </p:spPr>
        <p:txBody>
          <a:bodyPr wrap="square" lIns="45720" tIns="27432" rIns="45720" bIns="27432" anchor="t">
            <a:spAutoFit/>
          </a:bodyPr>
          <a:lstStyle/>
          <a:p>
            <a:pPr algn="l"/>
            <a:r>
              <a:rPr sz="1350" b="0">
                <a:solidFill>
                  <a:srgbClr val="262F3D"/>
                </a:solidFill>
                <a:latin typeface="Calibri"/>
              </a:rPr>
              <a:t>Safe no-op here: the data had none.</a:t>
            </a:r>
          </a:p>
        </p:txBody>
      </p:sp>
      <p:sp>
        <p:nvSpPr>
          <p:cNvPr id="18" name="Rounded Rectangle 17"/>
          <p:cNvSpPr/>
          <p:nvPr/>
        </p:nvSpPr>
        <p:spPr>
          <a:xfrm>
            <a:off x="7406640" y="2651760"/>
            <a:ext cx="4389120" cy="107899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498079" y="2761488"/>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1">
                <a:solidFill>
                  <a:srgbClr val="FFFFFF"/>
                </a:solidFill>
              </a:rPr>
              <a:t>2</a:t>
            </a:r>
          </a:p>
        </p:txBody>
      </p:sp>
      <p:sp>
        <p:nvSpPr>
          <p:cNvPr id="20" name="TextBox 19"/>
          <p:cNvSpPr txBox="1"/>
          <p:nvPr/>
        </p:nvSpPr>
        <p:spPr>
          <a:xfrm>
            <a:off x="7909560" y="2715768"/>
            <a:ext cx="3840480" cy="320040"/>
          </a:xfrm>
          <a:prstGeom prst="rect">
            <a:avLst/>
          </a:prstGeom>
          <a:noFill/>
        </p:spPr>
        <p:txBody>
          <a:bodyPr wrap="square" lIns="45720" tIns="27432" rIns="45720" bIns="27432" anchor="t">
            <a:spAutoFit/>
          </a:bodyPr>
          <a:lstStyle/>
          <a:p>
            <a:pPr algn="l"/>
            <a:r>
              <a:rPr sz="1400" b="1">
                <a:solidFill>
                  <a:srgbClr val="1F3756"/>
                </a:solidFill>
                <a:latin typeface="Calibri"/>
              </a:rPr>
              <a:t>Fill missing values</a:t>
            </a:r>
          </a:p>
        </p:txBody>
      </p:sp>
      <p:sp>
        <p:nvSpPr>
          <p:cNvPr id="21" name="TextBox 20"/>
          <p:cNvSpPr txBox="1"/>
          <p:nvPr/>
        </p:nvSpPr>
        <p:spPr>
          <a:xfrm>
            <a:off x="7909560" y="3035808"/>
            <a:ext cx="3840480" cy="667512"/>
          </a:xfrm>
          <a:prstGeom prst="rect">
            <a:avLst/>
          </a:prstGeom>
          <a:noFill/>
        </p:spPr>
        <p:txBody>
          <a:bodyPr wrap="square" lIns="45720" tIns="27432" rIns="45720" bIns="27432" anchor="t">
            <a:spAutoFit/>
          </a:bodyPr>
          <a:lstStyle/>
          <a:p>
            <a:pPr algn="l"/>
            <a:r>
              <a:rPr sz="1350" b="0">
                <a:solidFill>
                  <a:srgbClr val="262F3D"/>
                </a:solidFill>
                <a:latin typeface="Calibri"/>
              </a:rPr>
              <a:t>Median for numeric columns, most-frequent value for categorical ones.</a:t>
            </a:r>
          </a:p>
        </p:txBody>
      </p:sp>
      <p:sp>
        <p:nvSpPr>
          <p:cNvPr id="22" name="Rounded Rectangle 21"/>
          <p:cNvSpPr/>
          <p:nvPr/>
        </p:nvSpPr>
        <p:spPr>
          <a:xfrm>
            <a:off x="7406640" y="3840480"/>
            <a:ext cx="4389120" cy="107899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498079" y="3950208"/>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1">
                <a:solidFill>
                  <a:srgbClr val="FFFFFF"/>
                </a:solidFill>
              </a:rPr>
              <a:t>3</a:t>
            </a:r>
          </a:p>
        </p:txBody>
      </p:sp>
      <p:sp>
        <p:nvSpPr>
          <p:cNvPr id="24" name="TextBox 23"/>
          <p:cNvSpPr txBox="1"/>
          <p:nvPr/>
        </p:nvSpPr>
        <p:spPr>
          <a:xfrm>
            <a:off x="7909560" y="3904488"/>
            <a:ext cx="3840480" cy="320040"/>
          </a:xfrm>
          <a:prstGeom prst="rect">
            <a:avLst/>
          </a:prstGeom>
          <a:noFill/>
        </p:spPr>
        <p:txBody>
          <a:bodyPr wrap="square" lIns="45720" tIns="27432" rIns="45720" bIns="27432" anchor="t">
            <a:spAutoFit/>
          </a:bodyPr>
          <a:lstStyle/>
          <a:p>
            <a:pPr algn="l"/>
            <a:r>
              <a:rPr sz="1400" b="1">
                <a:solidFill>
                  <a:srgbClr val="1F3756"/>
                </a:solidFill>
                <a:latin typeface="Calibri"/>
              </a:rPr>
              <a:t>Derive columns</a:t>
            </a:r>
          </a:p>
        </p:txBody>
      </p:sp>
      <p:sp>
        <p:nvSpPr>
          <p:cNvPr id="25" name="TextBox 24"/>
          <p:cNvSpPr txBox="1"/>
          <p:nvPr/>
        </p:nvSpPr>
        <p:spPr>
          <a:xfrm>
            <a:off x="7909560" y="4224528"/>
            <a:ext cx="3840480" cy="667512"/>
          </a:xfrm>
          <a:prstGeom prst="rect">
            <a:avLst/>
          </a:prstGeom>
          <a:noFill/>
        </p:spPr>
        <p:txBody>
          <a:bodyPr wrap="square" lIns="45720" tIns="27432" rIns="45720" bIns="27432" anchor="t">
            <a:spAutoFit/>
          </a:bodyPr>
          <a:lstStyle/>
          <a:p>
            <a:pPr algn="l"/>
            <a:r>
              <a:rPr sz="1350" b="0">
                <a:solidFill>
                  <a:srgbClr val="262F3D"/>
                </a:solidFill>
                <a:latin typeface="Calibri"/>
              </a:rPr>
              <a:t>Split Cuisines into Primary_Cuisine and Cuisine_Count.</a:t>
            </a:r>
          </a:p>
        </p:txBody>
      </p:sp>
      <p:sp>
        <p:nvSpPr>
          <p:cNvPr id="26" name="Rounded Rectangle 25"/>
          <p:cNvSpPr/>
          <p:nvPr/>
        </p:nvSpPr>
        <p:spPr>
          <a:xfrm>
            <a:off x="7406640" y="5029200"/>
            <a:ext cx="4389120" cy="107899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498079" y="5138928"/>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1">
                <a:solidFill>
                  <a:srgbClr val="FFFFFF"/>
                </a:solidFill>
              </a:rPr>
              <a:t>4</a:t>
            </a:r>
          </a:p>
        </p:txBody>
      </p:sp>
      <p:sp>
        <p:nvSpPr>
          <p:cNvPr id="28" name="TextBox 27"/>
          <p:cNvSpPr txBox="1"/>
          <p:nvPr/>
        </p:nvSpPr>
        <p:spPr>
          <a:xfrm>
            <a:off x="7909560" y="5093208"/>
            <a:ext cx="3840480" cy="320040"/>
          </a:xfrm>
          <a:prstGeom prst="rect">
            <a:avLst/>
          </a:prstGeom>
          <a:noFill/>
        </p:spPr>
        <p:txBody>
          <a:bodyPr wrap="square" lIns="45720" tIns="27432" rIns="45720" bIns="27432" anchor="t">
            <a:spAutoFit/>
          </a:bodyPr>
          <a:lstStyle/>
          <a:p>
            <a:pPr algn="l"/>
            <a:r>
              <a:rPr sz="1400" b="1">
                <a:solidFill>
                  <a:srgbClr val="1F3756"/>
                </a:solidFill>
                <a:latin typeface="Calibri"/>
              </a:rPr>
              <a:t>Exclude unrated</a:t>
            </a:r>
          </a:p>
        </p:txBody>
      </p:sp>
      <p:sp>
        <p:nvSpPr>
          <p:cNvPr id="29" name="TextBox 28"/>
          <p:cNvSpPr txBox="1"/>
          <p:nvPr/>
        </p:nvSpPr>
        <p:spPr>
          <a:xfrm>
            <a:off x="7909560" y="5413248"/>
            <a:ext cx="3840480" cy="667512"/>
          </a:xfrm>
          <a:prstGeom prst="rect">
            <a:avLst/>
          </a:prstGeom>
          <a:noFill/>
        </p:spPr>
        <p:txBody>
          <a:bodyPr wrap="square" lIns="45720" tIns="27432" rIns="45720" bIns="27432" anchor="t">
            <a:spAutoFit/>
          </a:bodyPr>
          <a:lstStyle/>
          <a:p>
            <a:pPr algn="l"/>
            <a:r>
              <a:rPr sz="1350" b="0">
                <a:solidFill>
                  <a:srgbClr val="262F3D"/>
                </a:solidFill>
                <a:latin typeface="Calibri"/>
              </a:rPr>
              <a:t>Unrated rows have no target and cannot train a classifier.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tIns="27432" rIns="45720" bIns="27432" anchor="ctr">
            <a:spAutoFit/>
          </a:bodyPr>
          <a:lstStyle/>
          <a:p>
            <a:pPr algn="l"/>
            <a:r>
              <a:rPr sz="2600" b="1">
                <a:solidFill>
                  <a:srgbClr val="1F3756"/>
                </a:solidFill>
                <a:latin typeface="Calibri"/>
              </a:rPr>
              <a:t>CODING — STEP 4: EDA &amp; GROUP COMPARISONS</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607040" y="6473952"/>
            <a:ext cx="1280160" cy="274320"/>
          </a:xfrm>
          <a:prstGeom prst="rect">
            <a:avLst/>
          </a:prstGeom>
          <a:noFill/>
        </p:spPr>
        <p:txBody>
          <a:bodyPr wrap="square" lIns="45720" tIns="27432" rIns="45720" bIns="27432" anchor="t">
            <a:spAutoFit/>
          </a:bodyPr>
          <a:lstStyle/>
          <a:p>
            <a:pPr algn="r"/>
            <a:r>
              <a:rPr sz="1100" b="0">
                <a:solidFill>
                  <a:srgbClr val="5B6778"/>
                </a:solidFill>
                <a:latin typeface="Calibri"/>
              </a:rPr>
              <a:t>Review 3  |  12</a:t>
            </a:r>
          </a:p>
        </p:txBody>
      </p:sp>
      <p:sp>
        <p:nvSpPr>
          <p:cNvPr id="7" name="Rounded Rectangle 6"/>
          <p:cNvSpPr/>
          <p:nvPr/>
        </p:nvSpPr>
        <p:spPr>
          <a:xfrm>
            <a:off x="457200" y="1143000"/>
            <a:ext cx="6675120" cy="2743200"/>
          </a:xfrm>
          <a:prstGeom prst="roundRect">
            <a:avLst>
              <a:gd name="adj" fmla="val 300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188720"/>
            <a:ext cx="6400800" cy="274320"/>
          </a:xfrm>
          <a:prstGeom prst="rect">
            <a:avLst/>
          </a:prstGeom>
          <a:noFill/>
        </p:spPr>
        <p:txBody>
          <a:bodyPr wrap="square" lIns="45720" tIns="27432" rIns="45720" bIns="27432" anchor="t">
            <a:spAutoFit/>
          </a:bodyPr>
          <a:lstStyle/>
          <a:p>
            <a:pPr algn="l"/>
            <a:r>
              <a:rPr sz="1100" b="1">
                <a:solidFill>
                  <a:srgbClr val="F0A06A"/>
                </a:solidFill>
                <a:latin typeface="Calibri"/>
              </a:rPr>
              <a:t>PYTHON  |  Analysis</a:t>
            </a:r>
          </a:p>
        </p:txBody>
      </p:sp>
      <p:sp>
        <p:nvSpPr>
          <p:cNvPr id="9" name="TextBox 8"/>
          <p:cNvSpPr txBox="1"/>
          <p:nvPr/>
        </p:nvSpPr>
        <p:spPr>
          <a:xfrm>
            <a:off x="548640" y="1444752"/>
            <a:ext cx="6492240" cy="2377440"/>
          </a:xfrm>
          <a:prstGeom prst="rect">
            <a:avLst/>
          </a:prstGeom>
          <a:noFill/>
        </p:spPr>
        <p:txBody>
          <a:bodyPr wrap="square">
            <a:spAutoFit/>
          </a:bodyPr>
          <a:lstStyle/>
          <a:p>
            <a:r>
              <a:rPr sz="1300">
                <a:solidFill>
                  <a:srgbClr val="8FB4D9"/>
                </a:solidFill>
                <a:latin typeface="Consolas"/>
              </a:rPr>
              <a:t># Numeric target for averaging</a:t>
            </a:r>
          </a:p>
          <a:p>
            <a:r>
              <a:rPr sz="1300">
                <a:solidFill>
                  <a:srgbClr val="E6ECF5"/>
                </a:solidFill>
                <a:latin typeface="Consolas"/>
              </a:rPr>
              <a:t>df_model["Is_Good"] = (df_model["Rating_Status"] == "Y").astype(int)</a:t>
            </a:r>
          </a:p>
          <a:p>
            <a:endParaRPr sz="1300">
              <a:solidFill>
                <a:srgbClr val="E6ECF5"/>
              </a:solidFill>
              <a:latin typeface="Consolas"/>
            </a:endParaRPr>
          </a:p>
          <a:p>
            <a:r>
              <a:rPr sz="1300">
                <a:solidFill>
                  <a:srgbClr val="E6ECF5"/>
                </a:solidFill>
                <a:latin typeface="Consolas"/>
              </a:rPr>
              <a:t>print(df_model["Rating_Status"].value_counts())</a:t>
            </a:r>
          </a:p>
          <a:p>
            <a:endParaRPr sz="1300">
              <a:solidFill>
                <a:srgbClr val="E6ECF5"/>
              </a:solidFill>
              <a:latin typeface="Consolas"/>
            </a:endParaRPr>
          </a:p>
          <a:p>
            <a:r>
              <a:rPr sz="1300">
                <a:solidFill>
                  <a:srgbClr val="8FB4D9"/>
                </a:solidFill>
                <a:latin typeface="Consolas"/>
              </a:rPr>
              <a:t># High-rating rate (%) per group (top 5 each)</a:t>
            </a:r>
          </a:p>
          <a:p>
            <a:r>
              <a:rPr sz="1300">
                <a:solidFill>
                  <a:srgbClr val="E6ECF5"/>
                </a:solidFill>
                <a:latin typeface="Consolas"/>
              </a:rPr>
              <a:t>for col in ["Price range", "City", "Primary_Cuisine"]:</a:t>
            </a:r>
          </a:p>
          <a:p>
            <a:r>
              <a:rPr sz="1300">
                <a:solidFill>
                  <a:srgbClr val="E6ECF5"/>
                </a:solidFill>
                <a:latin typeface="Consolas"/>
              </a:rPr>
              <a:t>    top = df_model[col].value_counts().head(5).index</a:t>
            </a:r>
          </a:p>
          <a:p>
            <a:r>
              <a:rPr sz="1300">
                <a:solidFill>
                  <a:srgbClr val="E6ECF5"/>
                </a:solidFill>
                <a:latin typeface="Consolas"/>
              </a:rPr>
              <a:t>    sub = df_model[df_model[col].isin(top)]</a:t>
            </a:r>
          </a:p>
          <a:p>
            <a:r>
              <a:rPr sz="1300">
                <a:solidFill>
                  <a:srgbClr val="E6ECF5"/>
                </a:solidFill>
                <a:latin typeface="Consolas"/>
              </a:rPr>
              <a:t>    rate = sub.groupby(col)["Is_Good"].mean() * 100</a:t>
            </a:r>
          </a:p>
          <a:p>
            <a:r>
              <a:rPr sz="1300">
                <a:solidFill>
                  <a:srgbClr val="E6ECF5"/>
                </a:solidFill>
                <a:latin typeface="Consolas"/>
              </a:rPr>
              <a:t>    print(rate.round(1))</a:t>
            </a:r>
          </a:p>
        </p:txBody>
      </p:sp>
      <p:sp>
        <p:nvSpPr>
          <p:cNvPr id="10" name="Rounded Rectangle 9"/>
          <p:cNvSpPr/>
          <p:nvPr/>
        </p:nvSpPr>
        <p:spPr>
          <a:xfrm>
            <a:off x="457200" y="4023360"/>
            <a:ext cx="6675120" cy="2514600"/>
          </a:xfrm>
          <a:prstGeom prst="roundRect">
            <a:avLst>
              <a:gd name="adj" fmla="val 300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4069080"/>
            <a:ext cx="6400800" cy="274320"/>
          </a:xfrm>
          <a:prstGeom prst="rect">
            <a:avLst/>
          </a:prstGeom>
          <a:noFill/>
        </p:spPr>
        <p:txBody>
          <a:bodyPr wrap="square" lIns="45720" tIns="27432" rIns="45720" bIns="27432" anchor="t">
            <a:spAutoFit/>
          </a:bodyPr>
          <a:lstStyle/>
          <a:p>
            <a:pPr algn="l"/>
            <a:r>
              <a:rPr sz="1100" b="1">
                <a:solidFill>
                  <a:srgbClr val="F0A06A"/>
                </a:solidFill>
                <a:latin typeface="Calibri"/>
              </a:rPr>
              <a:t>OUTPUT</a:t>
            </a:r>
          </a:p>
        </p:txBody>
      </p:sp>
      <p:sp>
        <p:nvSpPr>
          <p:cNvPr id="12" name="TextBox 11"/>
          <p:cNvSpPr txBox="1"/>
          <p:nvPr/>
        </p:nvSpPr>
        <p:spPr>
          <a:xfrm>
            <a:off x="548640" y="4325112"/>
            <a:ext cx="6492240" cy="2148840"/>
          </a:xfrm>
          <a:prstGeom prst="rect">
            <a:avLst/>
          </a:prstGeom>
          <a:noFill/>
        </p:spPr>
        <p:txBody>
          <a:bodyPr wrap="square">
            <a:spAutoFit/>
          </a:bodyPr>
          <a:lstStyle/>
          <a:p>
            <a:r>
              <a:rPr sz="1150">
                <a:solidFill>
                  <a:srgbClr val="B8E6C4"/>
                </a:solidFill>
                <a:latin typeface="Consolas"/>
              </a:rPr>
              <a:t>N  3923   Y  3480</a:t>
            </a:r>
          </a:p>
          <a:p>
            <a:r>
              <a:rPr sz="1150">
                <a:solidFill>
                  <a:srgbClr val="B8E6C4"/>
                </a:solidFill>
                <a:latin typeface="Consolas"/>
              </a:rPr>
              <a:t>Price:    1→28.6  2→43.8</a:t>
            </a:r>
          </a:p>
          <a:p>
            <a:r>
              <a:rPr sz="1150">
                <a:solidFill>
                  <a:srgbClr val="B8E6C4"/>
                </a:solidFill>
                <a:latin typeface="Consolas"/>
              </a:rPr>
              <a:t>          3→75.7  4→81.4</a:t>
            </a:r>
          </a:p>
          <a:p>
            <a:r>
              <a:rPr sz="1150">
                <a:solidFill>
                  <a:srgbClr val="B8E6C4"/>
                </a:solidFill>
                <a:latin typeface="Consolas"/>
              </a:rPr>
              <a:t>City:     Faridabad 17.2 | Ghaziabad 17.4 | Gurgaon 39.6</a:t>
            </a:r>
          </a:p>
          <a:p>
            <a:r>
              <a:rPr sz="1150">
                <a:solidFill>
                  <a:srgbClr val="B8E6C4"/>
                </a:solidFill>
                <a:latin typeface="Consolas"/>
              </a:rPr>
              <a:t>          New Delhi 36.0 | Noida 29.0</a:t>
            </a:r>
          </a:p>
          <a:p>
            <a:r>
              <a:rPr sz="1150">
                <a:solidFill>
                  <a:srgbClr val="B8E6C4"/>
                </a:solidFill>
                <a:latin typeface="Consolas"/>
              </a:rPr>
              <a:t>Cuisine:  Bakery 37.5 | Cafe 64.7 | Chinese 35.7</a:t>
            </a:r>
          </a:p>
          <a:p>
            <a:r>
              <a:rPr sz="1150">
                <a:solidFill>
                  <a:srgbClr val="B8E6C4"/>
                </a:solidFill>
                <a:latin typeface="Consolas"/>
              </a:rPr>
              <a:t>          Fast Food 33.6 | North Indian 31.4</a:t>
            </a:r>
          </a:p>
        </p:txBody>
      </p:sp>
      <p:sp>
        <p:nvSpPr>
          <p:cNvPr id="13" name="TextBox 12"/>
          <p:cNvSpPr txBox="1"/>
          <p:nvPr/>
        </p:nvSpPr>
        <p:spPr>
          <a:xfrm>
            <a:off x="7406640" y="1097280"/>
            <a:ext cx="4389120" cy="365760"/>
          </a:xfrm>
          <a:prstGeom prst="rect">
            <a:avLst/>
          </a:prstGeom>
          <a:noFill/>
        </p:spPr>
        <p:txBody>
          <a:bodyPr wrap="square" lIns="45720" tIns="27432" rIns="45720" bIns="27432" anchor="t">
            <a:spAutoFit/>
          </a:bodyPr>
          <a:lstStyle/>
          <a:p>
            <a:pPr algn="l"/>
            <a:r>
              <a:rPr sz="1400" b="1">
                <a:solidFill>
                  <a:srgbClr val="E8742A"/>
                </a:solidFill>
                <a:latin typeface="Calibri"/>
              </a:rPr>
              <a:t>STEP-BY-STEP EXPLANATION</a:t>
            </a:r>
          </a:p>
        </p:txBody>
      </p:sp>
      <p:sp>
        <p:nvSpPr>
          <p:cNvPr id="14" name="Rounded Rectangle 13"/>
          <p:cNvSpPr/>
          <p:nvPr/>
        </p:nvSpPr>
        <p:spPr>
          <a:xfrm>
            <a:off x="7406640" y="1463040"/>
            <a:ext cx="438912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498079" y="1572768"/>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1">
                <a:solidFill>
                  <a:srgbClr val="FFFFFF"/>
                </a:solidFill>
              </a:rPr>
              <a:t>1</a:t>
            </a:r>
          </a:p>
        </p:txBody>
      </p:sp>
      <p:sp>
        <p:nvSpPr>
          <p:cNvPr id="16" name="TextBox 15"/>
          <p:cNvSpPr txBox="1"/>
          <p:nvPr/>
        </p:nvSpPr>
        <p:spPr>
          <a:xfrm>
            <a:off x="7909560" y="1527048"/>
            <a:ext cx="3840480" cy="320040"/>
          </a:xfrm>
          <a:prstGeom prst="rect">
            <a:avLst/>
          </a:prstGeom>
          <a:noFill/>
        </p:spPr>
        <p:txBody>
          <a:bodyPr wrap="square" lIns="45720" tIns="27432" rIns="45720" bIns="27432" anchor="t">
            <a:spAutoFit/>
          </a:bodyPr>
          <a:lstStyle/>
          <a:p>
            <a:pPr algn="l"/>
            <a:r>
              <a:rPr sz="1400" b="1">
                <a:solidFill>
                  <a:srgbClr val="1F3756"/>
                </a:solidFill>
                <a:latin typeface="Calibri"/>
              </a:rPr>
              <a:t>Encode target</a:t>
            </a:r>
          </a:p>
        </p:txBody>
      </p:sp>
      <p:sp>
        <p:nvSpPr>
          <p:cNvPr id="17" name="TextBox 16"/>
          <p:cNvSpPr txBox="1"/>
          <p:nvPr/>
        </p:nvSpPr>
        <p:spPr>
          <a:xfrm>
            <a:off x="7909560" y="1847088"/>
            <a:ext cx="3840480" cy="1005840"/>
          </a:xfrm>
          <a:prstGeom prst="rect">
            <a:avLst/>
          </a:prstGeom>
          <a:noFill/>
        </p:spPr>
        <p:txBody>
          <a:bodyPr wrap="square" lIns="45720" tIns="27432" rIns="45720" bIns="27432" anchor="t">
            <a:spAutoFit/>
          </a:bodyPr>
          <a:lstStyle/>
          <a:p>
            <a:pPr algn="l"/>
            <a:r>
              <a:rPr sz="1350" b="0">
                <a:solidFill>
                  <a:srgbClr val="262F3D"/>
                </a:solidFill>
                <a:latin typeface="Calibri"/>
              </a:rPr>
              <a:t>Y→1, N→0, so the mean of the column equals the high-rating rate.</a:t>
            </a:r>
          </a:p>
        </p:txBody>
      </p:sp>
      <p:sp>
        <p:nvSpPr>
          <p:cNvPr id="18" name="Rounded Rectangle 17"/>
          <p:cNvSpPr/>
          <p:nvPr/>
        </p:nvSpPr>
        <p:spPr>
          <a:xfrm>
            <a:off x="7406640" y="2990088"/>
            <a:ext cx="438912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498079" y="3099816"/>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1">
                <a:solidFill>
                  <a:srgbClr val="FFFFFF"/>
                </a:solidFill>
              </a:rPr>
              <a:t>2</a:t>
            </a:r>
          </a:p>
        </p:txBody>
      </p:sp>
      <p:sp>
        <p:nvSpPr>
          <p:cNvPr id="20" name="TextBox 19"/>
          <p:cNvSpPr txBox="1"/>
          <p:nvPr/>
        </p:nvSpPr>
        <p:spPr>
          <a:xfrm>
            <a:off x="7909560" y="3054096"/>
            <a:ext cx="3840480" cy="320040"/>
          </a:xfrm>
          <a:prstGeom prst="rect">
            <a:avLst/>
          </a:prstGeom>
          <a:noFill/>
        </p:spPr>
        <p:txBody>
          <a:bodyPr wrap="square" lIns="45720" tIns="27432" rIns="45720" bIns="27432" anchor="t">
            <a:spAutoFit/>
          </a:bodyPr>
          <a:lstStyle/>
          <a:p>
            <a:pPr algn="l"/>
            <a:r>
              <a:rPr sz="1400" b="1">
                <a:solidFill>
                  <a:srgbClr val="1F3756"/>
                </a:solidFill>
                <a:latin typeface="Calibri"/>
              </a:rPr>
              <a:t>Count outcomes</a:t>
            </a:r>
          </a:p>
        </p:txBody>
      </p:sp>
      <p:sp>
        <p:nvSpPr>
          <p:cNvPr id="21" name="TextBox 20"/>
          <p:cNvSpPr txBox="1"/>
          <p:nvPr/>
        </p:nvSpPr>
        <p:spPr>
          <a:xfrm>
            <a:off x="7909560" y="3374136"/>
            <a:ext cx="3840480" cy="1005840"/>
          </a:xfrm>
          <a:prstGeom prst="rect">
            <a:avLst/>
          </a:prstGeom>
          <a:noFill/>
        </p:spPr>
        <p:txBody>
          <a:bodyPr wrap="square" lIns="45720" tIns="27432" rIns="45720" bIns="27432" anchor="t">
            <a:spAutoFit/>
          </a:bodyPr>
          <a:lstStyle/>
          <a:p>
            <a:pPr algn="l"/>
            <a:r>
              <a:rPr sz="1350" b="0">
                <a:solidFill>
                  <a:srgbClr val="262F3D"/>
                </a:solidFill>
                <a:latin typeface="Calibri"/>
              </a:rPr>
              <a:t>value_counts() shows class balance: 3,480 Y vs 3,923 N.</a:t>
            </a:r>
          </a:p>
        </p:txBody>
      </p:sp>
      <p:sp>
        <p:nvSpPr>
          <p:cNvPr id="22" name="Rounded Rectangle 21"/>
          <p:cNvSpPr/>
          <p:nvPr/>
        </p:nvSpPr>
        <p:spPr>
          <a:xfrm>
            <a:off x="7406640" y="4517136"/>
            <a:ext cx="438912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498079" y="4626864"/>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1">
                <a:solidFill>
                  <a:srgbClr val="FFFFFF"/>
                </a:solidFill>
              </a:rPr>
              <a:t>3</a:t>
            </a:r>
          </a:p>
        </p:txBody>
      </p:sp>
      <p:sp>
        <p:nvSpPr>
          <p:cNvPr id="24" name="TextBox 23"/>
          <p:cNvSpPr txBox="1"/>
          <p:nvPr/>
        </p:nvSpPr>
        <p:spPr>
          <a:xfrm>
            <a:off x="7909560" y="4581144"/>
            <a:ext cx="3840480" cy="320040"/>
          </a:xfrm>
          <a:prstGeom prst="rect">
            <a:avLst/>
          </a:prstGeom>
          <a:noFill/>
        </p:spPr>
        <p:txBody>
          <a:bodyPr wrap="square" lIns="45720" tIns="27432" rIns="45720" bIns="27432" anchor="t">
            <a:spAutoFit/>
          </a:bodyPr>
          <a:lstStyle/>
          <a:p>
            <a:pPr algn="l"/>
            <a:r>
              <a:rPr sz="1400" b="1">
                <a:solidFill>
                  <a:srgbClr val="1F3756"/>
                </a:solidFill>
                <a:latin typeface="Calibri"/>
              </a:rPr>
              <a:t>Group &amp; aggregate</a:t>
            </a:r>
          </a:p>
        </p:txBody>
      </p:sp>
      <p:sp>
        <p:nvSpPr>
          <p:cNvPr id="25" name="TextBox 24"/>
          <p:cNvSpPr txBox="1"/>
          <p:nvPr/>
        </p:nvSpPr>
        <p:spPr>
          <a:xfrm>
            <a:off x="7909560" y="4901183"/>
            <a:ext cx="3840480" cy="1005840"/>
          </a:xfrm>
          <a:prstGeom prst="rect">
            <a:avLst/>
          </a:prstGeom>
          <a:noFill/>
        </p:spPr>
        <p:txBody>
          <a:bodyPr wrap="square" lIns="45720" tIns="27432" rIns="45720" bIns="27432" anchor="t">
            <a:spAutoFit/>
          </a:bodyPr>
          <a:lstStyle/>
          <a:p>
            <a:pPr algn="l"/>
            <a:r>
              <a:rPr sz="1350" b="0">
                <a:solidFill>
                  <a:srgbClr val="262F3D"/>
                </a:solidFill>
                <a:latin typeface="Calibri"/>
              </a:rPr>
              <a:t>groupby + mean gives the high-rating rate by price range, city and cuisine (top 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tIns="27432" rIns="45720" bIns="27432" anchor="ctr">
            <a:spAutoFit/>
          </a:bodyPr>
          <a:lstStyle/>
          <a:p>
            <a:pPr algn="l"/>
            <a:r>
              <a:rPr sz="2600" b="1">
                <a:solidFill>
                  <a:srgbClr val="1F3756"/>
                </a:solidFill>
                <a:latin typeface="Calibri"/>
              </a:rPr>
              <a:t>CODING — STEP 5: TRAIN THE PREDICTION MODEL</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607040" y="6473952"/>
            <a:ext cx="1280160" cy="274320"/>
          </a:xfrm>
          <a:prstGeom prst="rect">
            <a:avLst/>
          </a:prstGeom>
          <a:noFill/>
        </p:spPr>
        <p:txBody>
          <a:bodyPr wrap="square" lIns="45720" tIns="27432" rIns="45720" bIns="27432" anchor="t">
            <a:spAutoFit/>
          </a:bodyPr>
          <a:lstStyle/>
          <a:p>
            <a:pPr algn="r"/>
            <a:r>
              <a:rPr sz="1100" b="0">
                <a:solidFill>
                  <a:srgbClr val="5B6778"/>
                </a:solidFill>
                <a:latin typeface="Calibri"/>
              </a:rPr>
              <a:t>Review 3  |  13</a:t>
            </a:r>
          </a:p>
        </p:txBody>
      </p:sp>
      <p:sp>
        <p:nvSpPr>
          <p:cNvPr id="7" name="Rounded Rectangle 6"/>
          <p:cNvSpPr/>
          <p:nvPr/>
        </p:nvSpPr>
        <p:spPr>
          <a:xfrm>
            <a:off x="457200" y="1143000"/>
            <a:ext cx="6675120" cy="4480560"/>
          </a:xfrm>
          <a:prstGeom prst="roundRect">
            <a:avLst>
              <a:gd name="adj" fmla="val 300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188720"/>
            <a:ext cx="6400800" cy="274320"/>
          </a:xfrm>
          <a:prstGeom prst="rect">
            <a:avLst/>
          </a:prstGeom>
          <a:noFill/>
        </p:spPr>
        <p:txBody>
          <a:bodyPr wrap="square" lIns="45720" tIns="27432" rIns="45720" bIns="27432" anchor="t">
            <a:spAutoFit/>
          </a:bodyPr>
          <a:lstStyle/>
          <a:p>
            <a:pPr algn="l"/>
            <a:r>
              <a:rPr sz="1100" b="1">
                <a:solidFill>
                  <a:srgbClr val="F0A06A"/>
                </a:solidFill>
                <a:latin typeface="Calibri"/>
              </a:rPr>
              <a:t>PYTHON  |  Modelling</a:t>
            </a:r>
          </a:p>
        </p:txBody>
      </p:sp>
      <p:sp>
        <p:nvSpPr>
          <p:cNvPr id="9" name="TextBox 8"/>
          <p:cNvSpPr txBox="1"/>
          <p:nvPr/>
        </p:nvSpPr>
        <p:spPr>
          <a:xfrm>
            <a:off x="548640" y="1444752"/>
            <a:ext cx="6492240" cy="4114800"/>
          </a:xfrm>
          <a:prstGeom prst="rect">
            <a:avLst/>
          </a:prstGeom>
          <a:noFill/>
        </p:spPr>
        <p:txBody>
          <a:bodyPr wrap="square">
            <a:spAutoFit/>
          </a:bodyPr>
          <a:lstStyle/>
          <a:p>
            <a:r>
              <a:rPr sz="1050">
                <a:solidFill>
                  <a:srgbClr val="E6ECF5"/>
                </a:solidFill>
                <a:latin typeface="Consolas"/>
              </a:rPr>
              <a:t>from sklearn.model_selection import train_test_split</a:t>
            </a:r>
          </a:p>
          <a:p>
            <a:r>
              <a:rPr sz="1050">
                <a:solidFill>
                  <a:srgbClr val="E6ECF5"/>
                </a:solidFill>
                <a:latin typeface="Consolas"/>
              </a:rPr>
              <a:t>from sklearn.pipeline import Pipeline</a:t>
            </a:r>
          </a:p>
          <a:p>
            <a:r>
              <a:rPr sz="1050">
                <a:solidFill>
                  <a:srgbClr val="E6ECF5"/>
                </a:solidFill>
                <a:latin typeface="Consolas"/>
              </a:rPr>
              <a:t>from sklearn.compose import ColumnTransformer</a:t>
            </a:r>
          </a:p>
          <a:p>
            <a:r>
              <a:rPr sz="1050">
                <a:solidFill>
                  <a:srgbClr val="E6ECF5"/>
                </a:solidFill>
                <a:latin typeface="Consolas"/>
              </a:rPr>
              <a:t>from sklearn.impute import SimpleImputer</a:t>
            </a:r>
          </a:p>
          <a:p>
            <a:r>
              <a:rPr sz="1050">
                <a:solidFill>
                  <a:srgbClr val="E6ECF5"/>
                </a:solidFill>
                <a:latin typeface="Consolas"/>
              </a:rPr>
              <a:t>from sklearn.preprocessing import StandardScaler, OneHotEncoder</a:t>
            </a:r>
          </a:p>
          <a:p>
            <a:r>
              <a:rPr sz="1050">
                <a:solidFill>
                  <a:srgbClr val="E6ECF5"/>
                </a:solidFill>
                <a:latin typeface="Consolas"/>
              </a:rPr>
              <a:t>from sklearn.linear_model import LogisticRegression</a:t>
            </a:r>
          </a:p>
          <a:p>
            <a:r>
              <a:rPr sz="1050">
                <a:solidFill>
                  <a:srgbClr val="E6ECF5"/>
                </a:solidFill>
                <a:latin typeface="Consolas"/>
              </a:rPr>
              <a:t> </a:t>
            </a:r>
          </a:p>
          <a:p>
            <a:r>
              <a:rPr sz="1050">
                <a:solidFill>
                  <a:srgbClr val="E6ECF5"/>
                </a:solidFill>
                <a:latin typeface="Consolas"/>
              </a:rPr>
              <a:t>num = ["Votes", "Price range", "Cuisine_Count"]</a:t>
            </a:r>
          </a:p>
          <a:p>
            <a:r>
              <a:rPr sz="1050">
                <a:solidFill>
                  <a:srgbClr val="E6ECF5"/>
                </a:solidFill>
                <a:latin typeface="Consolas"/>
              </a:rPr>
              <a:t>cat = ["Has Table booking", "Has Online delivery", "Country Code"]</a:t>
            </a:r>
          </a:p>
          <a:p>
            <a:r>
              <a:rPr sz="1050">
                <a:solidFill>
                  <a:srgbClr val="E6ECF5"/>
                </a:solidFill>
                <a:latin typeface="Consolas"/>
              </a:rPr>
              <a:t>X = df_model[num + cat]   # rating columns excluded (leakage)</a:t>
            </a:r>
          </a:p>
          <a:p>
            <a:r>
              <a:rPr sz="1050">
                <a:solidFill>
                  <a:srgbClr val="E6ECF5"/>
                </a:solidFill>
                <a:latin typeface="Consolas"/>
              </a:rPr>
              <a:t>y = df_model["Is_Good"]</a:t>
            </a:r>
          </a:p>
          <a:p>
            <a:r>
              <a:rPr sz="1050">
                <a:solidFill>
                  <a:srgbClr val="E6ECF5"/>
                </a:solidFill>
                <a:latin typeface="Consolas"/>
              </a:rPr>
              <a:t> </a:t>
            </a:r>
          </a:p>
          <a:p>
            <a:r>
              <a:rPr sz="1050">
                <a:solidFill>
                  <a:srgbClr val="E6ECF5"/>
                </a:solidFill>
                <a:latin typeface="Consolas"/>
              </a:rPr>
              <a:t>X_tr, X_te, y_tr, y_te = train_test_split(</a:t>
            </a:r>
          </a:p>
          <a:p>
            <a:r>
              <a:rPr sz="1050">
                <a:solidFill>
                  <a:srgbClr val="E6ECF5"/>
                </a:solidFill>
                <a:latin typeface="Consolas"/>
              </a:rPr>
              <a:t>    X, y, test_size=0.2, stratify=y, random_state=42)</a:t>
            </a:r>
          </a:p>
          <a:p>
            <a:r>
              <a:rPr sz="1050">
                <a:solidFill>
                  <a:srgbClr val="E6ECF5"/>
                </a:solidFill>
                <a:latin typeface="Consolas"/>
              </a:rPr>
              <a:t> </a:t>
            </a:r>
          </a:p>
          <a:p>
            <a:r>
              <a:rPr sz="1050">
                <a:solidFill>
                  <a:srgbClr val="E6ECF5"/>
                </a:solidFill>
                <a:latin typeface="Consolas"/>
              </a:rPr>
              <a:t>prep = ColumnTransformer([</a:t>
            </a:r>
          </a:p>
          <a:p>
            <a:r>
              <a:rPr sz="1050">
                <a:solidFill>
                  <a:srgbClr val="E6ECF5"/>
                </a:solidFill>
                <a:latin typeface="Consolas"/>
              </a:rPr>
              <a:t>  ("num", Pipeline([("imp", SimpleImputer(strategy="median")),</a:t>
            </a:r>
          </a:p>
          <a:p>
            <a:r>
              <a:rPr sz="1050">
                <a:solidFill>
                  <a:srgbClr val="E6ECF5"/>
                </a:solidFill>
                <a:latin typeface="Consolas"/>
              </a:rPr>
              <a:t>                    ("sc", StandardScaler())]), num),</a:t>
            </a:r>
          </a:p>
          <a:p>
            <a:r>
              <a:rPr sz="1050">
                <a:solidFill>
                  <a:srgbClr val="E6ECF5"/>
                </a:solidFill>
                <a:latin typeface="Consolas"/>
              </a:rPr>
              <a:t>  ("cat", Pipeline([("imp", SimpleImputer(strategy="most_frequent")),</a:t>
            </a:r>
          </a:p>
          <a:p>
            <a:r>
              <a:rPr sz="1050">
                <a:solidFill>
                  <a:srgbClr val="E6ECF5"/>
                </a:solidFill>
                <a:latin typeface="Consolas"/>
              </a:rPr>
              <a:t>                    ("oh", OneHotEncoder(handle_unknown="ignore"))]), cat)])</a:t>
            </a:r>
          </a:p>
          <a:p>
            <a:r>
              <a:rPr sz="1050">
                <a:solidFill>
                  <a:srgbClr val="E6ECF5"/>
                </a:solidFill>
                <a:latin typeface="Consolas"/>
              </a:rPr>
              <a:t> </a:t>
            </a:r>
          </a:p>
          <a:p>
            <a:r>
              <a:rPr sz="1050">
                <a:solidFill>
                  <a:srgbClr val="E6ECF5"/>
                </a:solidFill>
                <a:latin typeface="Consolas"/>
              </a:rPr>
              <a:t>model = Pipeline([("prep", prep),</a:t>
            </a:r>
          </a:p>
          <a:p>
            <a:r>
              <a:rPr sz="1050">
                <a:solidFill>
                  <a:srgbClr val="E6ECF5"/>
                </a:solidFill>
                <a:latin typeface="Consolas"/>
              </a:rPr>
              <a:t>                  ("clf", LogisticRegression(max_iter=1000))])</a:t>
            </a:r>
          </a:p>
          <a:p>
            <a:r>
              <a:rPr sz="1050">
                <a:solidFill>
                  <a:srgbClr val="E6ECF5"/>
                </a:solidFill>
                <a:latin typeface="Consolas"/>
              </a:rPr>
              <a:t>model.fit(X_tr, y_tr)</a:t>
            </a:r>
          </a:p>
          <a:p>
            <a:r>
              <a:rPr sz="1050">
                <a:solidFill>
                  <a:srgbClr val="E6ECF5"/>
                </a:solidFill>
                <a:latin typeface="Consolas"/>
              </a:rPr>
              <a:t>pred = model.predict(X_te)</a:t>
            </a:r>
          </a:p>
        </p:txBody>
      </p:sp>
      <p:sp>
        <p:nvSpPr>
          <p:cNvPr id="10" name="Rounded Rectangle 9"/>
          <p:cNvSpPr/>
          <p:nvPr/>
        </p:nvSpPr>
        <p:spPr>
          <a:xfrm>
            <a:off x="457200" y="5760720"/>
            <a:ext cx="6675120" cy="777240"/>
          </a:xfrm>
          <a:prstGeom prst="roundRect">
            <a:avLst>
              <a:gd name="adj" fmla="val 300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5806440"/>
            <a:ext cx="6400800" cy="274320"/>
          </a:xfrm>
          <a:prstGeom prst="rect">
            <a:avLst/>
          </a:prstGeom>
          <a:noFill/>
        </p:spPr>
        <p:txBody>
          <a:bodyPr wrap="square" lIns="45720" tIns="27432" rIns="45720" bIns="27432" anchor="t">
            <a:spAutoFit/>
          </a:bodyPr>
          <a:lstStyle/>
          <a:p>
            <a:pPr algn="l"/>
            <a:r>
              <a:rPr sz="1100" b="1">
                <a:solidFill>
                  <a:srgbClr val="F0A06A"/>
                </a:solidFill>
                <a:latin typeface="Calibri"/>
              </a:rPr>
              <a:t>OUTPUT</a:t>
            </a:r>
          </a:p>
        </p:txBody>
      </p:sp>
      <p:sp>
        <p:nvSpPr>
          <p:cNvPr id="12" name="TextBox 11"/>
          <p:cNvSpPr txBox="1"/>
          <p:nvPr/>
        </p:nvSpPr>
        <p:spPr>
          <a:xfrm>
            <a:off x="548640" y="6062472"/>
            <a:ext cx="6492240" cy="411479"/>
          </a:xfrm>
          <a:prstGeom prst="rect">
            <a:avLst/>
          </a:prstGeom>
          <a:noFill/>
        </p:spPr>
        <p:txBody>
          <a:bodyPr wrap="square">
            <a:spAutoFit/>
          </a:bodyPr>
          <a:lstStyle/>
          <a:p>
            <a:r>
              <a:rPr sz="1200">
                <a:solidFill>
                  <a:srgbClr val="B8E6C4"/>
                </a:solidFill>
                <a:latin typeface="Consolas"/>
              </a:rPr>
              <a:t>Training rows: 5922    Test rows: 1481</a:t>
            </a:r>
          </a:p>
          <a:p>
            <a:r>
              <a:rPr sz="1200">
                <a:solidFill>
                  <a:srgbClr val="B8E6C4"/>
                </a:solidFill>
                <a:latin typeface="Consolas"/>
              </a:rPr>
              <a:t>Model trained successfully (Logistic Regression)</a:t>
            </a:r>
          </a:p>
        </p:txBody>
      </p:sp>
      <p:sp>
        <p:nvSpPr>
          <p:cNvPr id="13" name="TextBox 12"/>
          <p:cNvSpPr txBox="1"/>
          <p:nvPr/>
        </p:nvSpPr>
        <p:spPr>
          <a:xfrm>
            <a:off x="7406640" y="1097280"/>
            <a:ext cx="4389120" cy="365760"/>
          </a:xfrm>
          <a:prstGeom prst="rect">
            <a:avLst/>
          </a:prstGeom>
          <a:noFill/>
        </p:spPr>
        <p:txBody>
          <a:bodyPr wrap="square" lIns="45720" tIns="27432" rIns="45720" bIns="27432" anchor="t">
            <a:spAutoFit/>
          </a:bodyPr>
          <a:lstStyle/>
          <a:p>
            <a:pPr algn="l"/>
            <a:r>
              <a:rPr sz="1400" b="1">
                <a:solidFill>
                  <a:srgbClr val="E8742A"/>
                </a:solidFill>
                <a:latin typeface="Calibri"/>
              </a:rPr>
              <a:t>STEP-BY-STEP EXPLANATION</a:t>
            </a:r>
          </a:p>
        </p:txBody>
      </p:sp>
      <p:sp>
        <p:nvSpPr>
          <p:cNvPr id="14" name="Rounded Rectangle 13"/>
          <p:cNvSpPr/>
          <p:nvPr/>
        </p:nvSpPr>
        <p:spPr>
          <a:xfrm>
            <a:off x="7406640" y="1463040"/>
            <a:ext cx="4389120" cy="107899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498079" y="1572768"/>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1">
                <a:solidFill>
                  <a:srgbClr val="FFFFFF"/>
                </a:solidFill>
              </a:rPr>
              <a:t>1</a:t>
            </a:r>
          </a:p>
        </p:txBody>
      </p:sp>
      <p:sp>
        <p:nvSpPr>
          <p:cNvPr id="16" name="TextBox 15"/>
          <p:cNvSpPr txBox="1"/>
          <p:nvPr/>
        </p:nvSpPr>
        <p:spPr>
          <a:xfrm>
            <a:off x="7909560" y="1527048"/>
            <a:ext cx="3840480" cy="320040"/>
          </a:xfrm>
          <a:prstGeom prst="rect">
            <a:avLst/>
          </a:prstGeom>
          <a:noFill/>
        </p:spPr>
        <p:txBody>
          <a:bodyPr wrap="square" lIns="45720" tIns="27432" rIns="45720" bIns="27432" anchor="t">
            <a:spAutoFit/>
          </a:bodyPr>
          <a:lstStyle/>
          <a:p>
            <a:pPr algn="l"/>
            <a:r>
              <a:rPr sz="1400" b="1">
                <a:solidFill>
                  <a:srgbClr val="1F3756"/>
                </a:solidFill>
                <a:latin typeface="Calibri"/>
              </a:rPr>
              <a:t>Select features</a:t>
            </a:r>
          </a:p>
        </p:txBody>
      </p:sp>
      <p:sp>
        <p:nvSpPr>
          <p:cNvPr id="17" name="TextBox 16"/>
          <p:cNvSpPr txBox="1"/>
          <p:nvPr/>
        </p:nvSpPr>
        <p:spPr>
          <a:xfrm>
            <a:off x="7909560" y="1847088"/>
            <a:ext cx="3840480" cy="667512"/>
          </a:xfrm>
          <a:prstGeom prst="rect">
            <a:avLst/>
          </a:prstGeom>
          <a:noFill/>
        </p:spPr>
        <p:txBody>
          <a:bodyPr wrap="square" lIns="45720" tIns="27432" rIns="45720" bIns="27432" anchor="t">
            <a:spAutoFit/>
          </a:bodyPr>
          <a:lstStyle/>
          <a:p>
            <a:pPr algn="l"/>
            <a:r>
              <a:rPr sz="1350" b="0">
                <a:solidFill>
                  <a:srgbClr val="262F3D"/>
                </a:solidFill>
                <a:latin typeface="Calibri"/>
              </a:rPr>
              <a:t>Six predictors; Aggregate rating is left out because it defines the target.</a:t>
            </a:r>
          </a:p>
        </p:txBody>
      </p:sp>
      <p:sp>
        <p:nvSpPr>
          <p:cNvPr id="18" name="Rounded Rectangle 17"/>
          <p:cNvSpPr/>
          <p:nvPr/>
        </p:nvSpPr>
        <p:spPr>
          <a:xfrm>
            <a:off x="7406640" y="2651760"/>
            <a:ext cx="4389120" cy="107899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498079" y="2761488"/>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1">
                <a:solidFill>
                  <a:srgbClr val="FFFFFF"/>
                </a:solidFill>
              </a:rPr>
              <a:t>2</a:t>
            </a:r>
          </a:p>
        </p:txBody>
      </p:sp>
      <p:sp>
        <p:nvSpPr>
          <p:cNvPr id="20" name="TextBox 19"/>
          <p:cNvSpPr txBox="1"/>
          <p:nvPr/>
        </p:nvSpPr>
        <p:spPr>
          <a:xfrm>
            <a:off x="7909560" y="2715768"/>
            <a:ext cx="3840480" cy="320040"/>
          </a:xfrm>
          <a:prstGeom prst="rect">
            <a:avLst/>
          </a:prstGeom>
          <a:noFill/>
        </p:spPr>
        <p:txBody>
          <a:bodyPr wrap="square" lIns="45720" tIns="27432" rIns="45720" bIns="27432" anchor="t">
            <a:spAutoFit/>
          </a:bodyPr>
          <a:lstStyle/>
          <a:p>
            <a:pPr algn="l"/>
            <a:r>
              <a:rPr sz="1400" b="1">
                <a:solidFill>
                  <a:srgbClr val="1F3756"/>
                </a:solidFill>
                <a:latin typeface="Calibri"/>
              </a:rPr>
              <a:t>Stratified split</a:t>
            </a:r>
          </a:p>
        </p:txBody>
      </p:sp>
      <p:sp>
        <p:nvSpPr>
          <p:cNvPr id="21" name="TextBox 20"/>
          <p:cNvSpPr txBox="1"/>
          <p:nvPr/>
        </p:nvSpPr>
        <p:spPr>
          <a:xfrm>
            <a:off x="7909560" y="3035808"/>
            <a:ext cx="3840480" cy="667512"/>
          </a:xfrm>
          <a:prstGeom prst="rect">
            <a:avLst/>
          </a:prstGeom>
          <a:noFill/>
        </p:spPr>
        <p:txBody>
          <a:bodyPr wrap="square" lIns="45720" tIns="27432" rIns="45720" bIns="27432" anchor="t">
            <a:spAutoFit/>
          </a:bodyPr>
          <a:lstStyle/>
          <a:p>
            <a:pPr algn="l"/>
            <a:r>
              <a:rPr sz="1350" b="0">
                <a:solidFill>
                  <a:srgbClr val="262F3D"/>
                </a:solidFill>
                <a:latin typeface="Calibri"/>
              </a:rPr>
              <a:t>80% train (5,922) / 20% test (1,481), same Y/N ratio in both.</a:t>
            </a:r>
          </a:p>
        </p:txBody>
      </p:sp>
      <p:sp>
        <p:nvSpPr>
          <p:cNvPr id="22" name="Rounded Rectangle 21"/>
          <p:cNvSpPr/>
          <p:nvPr/>
        </p:nvSpPr>
        <p:spPr>
          <a:xfrm>
            <a:off x="7406640" y="3840480"/>
            <a:ext cx="4389120" cy="107899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498079" y="3950208"/>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1">
                <a:solidFill>
                  <a:srgbClr val="FFFFFF"/>
                </a:solidFill>
              </a:rPr>
              <a:t>3</a:t>
            </a:r>
          </a:p>
        </p:txBody>
      </p:sp>
      <p:sp>
        <p:nvSpPr>
          <p:cNvPr id="24" name="TextBox 23"/>
          <p:cNvSpPr txBox="1"/>
          <p:nvPr/>
        </p:nvSpPr>
        <p:spPr>
          <a:xfrm>
            <a:off x="7909560" y="3904488"/>
            <a:ext cx="3840480" cy="320040"/>
          </a:xfrm>
          <a:prstGeom prst="rect">
            <a:avLst/>
          </a:prstGeom>
          <a:noFill/>
        </p:spPr>
        <p:txBody>
          <a:bodyPr wrap="square" lIns="45720" tIns="27432" rIns="45720" bIns="27432" anchor="t">
            <a:spAutoFit/>
          </a:bodyPr>
          <a:lstStyle/>
          <a:p>
            <a:pPr algn="l"/>
            <a:r>
              <a:rPr sz="1400" b="1">
                <a:solidFill>
                  <a:srgbClr val="1F3756"/>
                </a:solidFill>
                <a:latin typeface="Calibri"/>
              </a:rPr>
              <a:t>Preprocess</a:t>
            </a:r>
          </a:p>
        </p:txBody>
      </p:sp>
      <p:sp>
        <p:nvSpPr>
          <p:cNvPr id="25" name="TextBox 24"/>
          <p:cNvSpPr txBox="1"/>
          <p:nvPr/>
        </p:nvSpPr>
        <p:spPr>
          <a:xfrm>
            <a:off x="7909560" y="4224528"/>
            <a:ext cx="3840480" cy="667512"/>
          </a:xfrm>
          <a:prstGeom prst="rect">
            <a:avLst/>
          </a:prstGeom>
          <a:noFill/>
        </p:spPr>
        <p:txBody>
          <a:bodyPr wrap="square" lIns="45720" tIns="27432" rIns="45720" bIns="27432" anchor="t">
            <a:spAutoFit/>
          </a:bodyPr>
          <a:lstStyle/>
          <a:p>
            <a:pPr algn="l"/>
            <a:r>
              <a:rPr sz="1350" b="0">
                <a:solidFill>
                  <a:srgbClr val="262F3D"/>
                </a:solidFill>
                <a:latin typeface="Calibri"/>
              </a:rPr>
              <a:t>Numeric: median + scaling. Categorical: mode + one-hot encoding.</a:t>
            </a:r>
          </a:p>
        </p:txBody>
      </p:sp>
      <p:sp>
        <p:nvSpPr>
          <p:cNvPr id="26" name="Rounded Rectangle 25"/>
          <p:cNvSpPr/>
          <p:nvPr/>
        </p:nvSpPr>
        <p:spPr>
          <a:xfrm>
            <a:off x="7406640" y="5029200"/>
            <a:ext cx="4389120" cy="1078992"/>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498079" y="5138928"/>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1">
                <a:solidFill>
                  <a:srgbClr val="FFFFFF"/>
                </a:solidFill>
              </a:rPr>
              <a:t>4</a:t>
            </a:r>
          </a:p>
        </p:txBody>
      </p:sp>
      <p:sp>
        <p:nvSpPr>
          <p:cNvPr id="28" name="TextBox 27"/>
          <p:cNvSpPr txBox="1"/>
          <p:nvPr/>
        </p:nvSpPr>
        <p:spPr>
          <a:xfrm>
            <a:off x="7909560" y="5093208"/>
            <a:ext cx="3840480" cy="320040"/>
          </a:xfrm>
          <a:prstGeom prst="rect">
            <a:avLst/>
          </a:prstGeom>
          <a:noFill/>
        </p:spPr>
        <p:txBody>
          <a:bodyPr wrap="square" lIns="45720" tIns="27432" rIns="45720" bIns="27432" anchor="t">
            <a:spAutoFit/>
          </a:bodyPr>
          <a:lstStyle/>
          <a:p>
            <a:pPr algn="l"/>
            <a:r>
              <a:rPr sz="1400" b="1">
                <a:solidFill>
                  <a:srgbClr val="1F3756"/>
                </a:solidFill>
                <a:latin typeface="Calibri"/>
              </a:rPr>
              <a:t>Fit &amp; predict</a:t>
            </a:r>
          </a:p>
        </p:txBody>
      </p:sp>
      <p:sp>
        <p:nvSpPr>
          <p:cNvPr id="29" name="TextBox 28"/>
          <p:cNvSpPr txBox="1"/>
          <p:nvPr/>
        </p:nvSpPr>
        <p:spPr>
          <a:xfrm>
            <a:off x="7909560" y="5413248"/>
            <a:ext cx="3840480" cy="667512"/>
          </a:xfrm>
          <a:prstGeom prst="rect">
            <a:avLst/>
          </a:prstGeom>
          <a:noFill/>
        </p:spPr>
        <p:txBody>
          <a:bodyPr wrap="square" lIns="45720" tIns="27432" rIns="45720" bIns="27432" anchor="t">
            <a:spAutoFit/>
          </a:bodyPr>
          <a:lstStyle/>
          <a:p>
            <a:pPr algn="l"/>
            <a:r>
              <a:rPr sz="1350" b="0">
                <a:solidFill>
                  <a:srgbClr val="262F3D"/>
                </a:solidFill>
                <a:latin typeface="Calibri"/>
              </a:rPr>
              <a:t>Logistic Regression learns on train data, predicts the unseen test set.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tIns="27432" rIns="45720" bIns="27432" anchor="ctr">
            <a:spAutoFit/>
          </a:bodyPr>
          <a:lstStyle/>
          <a:p>
            <a:pPr algn="l"/>
            <a:r>
              <a:rPr sz="2600" b="1">
                <a:solidFill>
                  <a:srgbClr val="1F3756"/>
                </a:solidFill>
                <a:latin typeface="Calibri"/>
              </a:rPr>
              <a:t>CODING — STEP 6: EVALUATE THE MODEL</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607040" y="6473952"/>
            <a:ext cx="1280160" cy="274320"/>
          </a:xfrm>
          <a:prstGeom prst="rect">
            <a:avLst/>
          </a:prstGeom>
          <a:noFill/>
        </p:spPr>
        <p:txBody>
          <a:bodyPr wrap="square" lIns="45720" tIns="27432" rIns="45720" bIns="27432" anchor="t">
            <a:spAutoFit/>
          </a:bodyPr>
          <a:lstStyle/>
          <a:p>
            <a:pPr algn="r"/>
            <a:r>
              <a:rPr sz="1100" b="0">
                <a:solidFill>
                  <a:srgbClr val="5B6778"/>
                </a:solidFill>
                <a:latin typeface="Calibri"/>
              </a:rPr>
              <a:t>Review 3  |  14</a:t>
            </a:r>
          </a:p>
        </p:txBody>
      </p:sp>
      <p:sp>
        <p:nvSpPr>
          <p:cNvPr id="7" name="Rounded Rectangle 6"/>
          <p:cNvSpPr/>
          <p:nvPr/>
        </p:nvSpPr>
        <p:spPr>
          <a:xfrm>
            <a:off x="457200" y="1143000"/>
            <a:ext cx="6675120" cy="2651760"/>
          </a:xfrm>
          <a:prstGeom prst="roundRect">
            <a:avLst>
              <a:gd name="adj" fmla="val 300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188720"/>
            <a:ext cx="6400800" cy="274320"/>
          </a:xfrm>
          <a:prstGeom prst="rect">
            <a:avLst/>
          </a:prstGeom>
          <a:noFill/>
        </p:spPr>
        <p:txBody>
          <a:bodyPr wrap="square" lIns="45720" tIns="27432" rIns="45720" bIns="27432" anchor="t">
            <a:spAutoFit/>
          </a:bodyPr>
          <a:lstStyle/>
          <a:p>
            <a:pPr algn="l"/>
            <a:r>
              <a:rPr sz="1100" b="1">
                <a:solidFill>
                  <a:srgbClr val="F0A06A"/>
                </a:solidFill>
                <a:latin typeface="Calibri"/>
              </a:rPr>
              <a:t>PYTHON  |  Evaluation</a:t>
            </a:r>
          </a:p>
        </p:txBody>
      </p:sp>
      <p:sp>
        <p:nvSpPr>
          <p:cNvPr id="9" name="TextBox 8"/>
          <p:cNvSpPr txBox="1"/>
          <p:nvPr/>
        </p:nvSpPr>
        <p:spPr>
          <a:xfrm>
            <a:off x="548640" y="1444752"/>
            <a:ext cx="6492240" cy="2286000"/>
          </a:xfrm>
          <a:prstGeom prst="rect">
            <a:avLst/>
          </a:prstGeom>
          <a:noFill/>
        </p:spPr>
        <p:txBody>
          <a:bodyPr wrap="square">
            <a:spAutoFit/>
          </a:bodyPr>
          <a:lstStyle/>
          <a:p>
            <a:r>
              <a:rPr sz="1400">
                <a:solidFill>
                  <a:srgbClr val="E6ECF5"/>
                </a:solidFill>
                <a:latin typeface="Consolas"/>
              </a:rPr>
              <a:t>from sklearn.metrics import *</a:t>
            </a:r>
          </a:p>
          <a:p>
            <a:r>
              <a:rPr sz="1400">
                <a:solidFill>
                  <a:srgbClr val="E6ECF5"/>
                </a:solidFill>
                <a:latin typeface="Consolas"/>
              </a:rPr>
              <a:t> </a:t>
            </a:r>
          </a:p>
          <a:p>
            <a:r>
              <a:rPr sz="1400">
                <a:solidFill>
                  <a:srgbClr val="E6ECF5"/>
                </a:solidFill>
                <a:latin typeface="Consolas"/>
              </a:rPr>
              <a:t>print(f"Accuracy : {accuracy_score(y_te, pred):.3f}")</a:t>
            </a:r>
          </a:p>
          <a:p>
            <a:r>
              <a:rPr sz="1400">
                <a:solidFill>
                  <a:srgbClr val="E6ECF5"/>
                </a:solidFill>
                <a:latin typeface="Consolas"/>
              </a:rPr>
              <a:t>print(f"Precision: {precision_score(y_te, pred):.3f}")</a:t>
            </a:r>
          </a:p>
          <a:p>
            <a:r>
              <a:rPr sz="1400">
                <a:solidFill>
                  <a:srgbClr val="E6ECF5"/>
                </a:solidFill>
                <a:latin typeface="Consolas"/>
              </a:rPr>
              <a:t>print(f"Recall   : {recall_score(y_te, pred):.3f}")</a:t>
            </a:r>
          </a:p>
          <a:p>
            <a:r>
              <a:rPr sz="1400">
                <a:solidFill>
                  <a:srgbClr val="E6ECF5"/>
                </a:solidFill>
                <a:latin typeface="Consolas"/>
              </a:rPr>
              <a:t>print(f"F1 Score : {f1_score(y_te, pred):.3f}")</a:t>
            </a:r>
          </a:p>
          <a:p>
            <a:r>
              <a:rPr sz="1400">
                <a:solidFill>
                  <a:srgbClr val="E6ECF5"/>
                </a:solidFill>
                <a:latin typeface="Consolas"/>
              </a:rPr>
              <a:t>print(confusion_matrix(y_te, pred))</a:t>
            </a:r>
          </a:p>
        </p:txBody>
      </p:sp>
      <p:sp>
        <p:nvSpPr>
          <p:cNvPr id="10" name="Rounded Rectangle 9"/>
          <p:cNvSpPr/>
          <p:nvPr/>
        </p:nvSpPr>
        <p:spPr>
          <a:xfrm>
            <a:off x="457200" y="3931920"/>
            <a:ext cx="6675120" cy="2606040"/>
          </a:xfrm>
          <a:prstGeom prst="roundRect">
            <a:avLst>
              <a:gd name="adj" fmla="val 300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3977640"/>
            <a:ext cx="6400800" cy="274320"/>
          </a:xfrm>
          <a:prstGeom prst="rect">
            <a:avLst/>
          </a:prstGeom>
          <a:noFill/>
        </p:spPr>
        <p:txBody>
          <a:bodyPr wrap="square" lIns="45720" tIns="27432" rIns="45720" bIns="27432" anchor="t">
            <a:spAutoFit/>
          </a:bodyPr>
          <a:lstStyle/>
          <a:p>
            <a:pPr algn="l"/>
            <a:r>
              <a:rPr sz="1100" b="1">
                <a:solidFill>
                  <a:srgbClr val="F0A06A"/>
                </a:solidFill>
                <a:latin typeface="Calibri"/>
              </a:rPr>
              <a:t>OUTPUT</a:t>
            </a:r>
          </a:p>
        </p:txBody>
      </p:sp>
      <p:sp>
        <p:nvSpPr>
          <p:cNvPr id="12" name="TextBox 11"/>
          <p:cNvSpPr txBox="1"/>
          <p:nvPr/>
        </p:nvSpPr>
        <p:spPr>
          <a:xfrm>
            <a:off x="548640" y="4233672"/>
            <a:ext cx="6492240" cy="2240280"/>
          </a:xfrm>
          <a:prstGeom prst="rect">
            <a:avLst/>
          </a:prstGeom>
          <a:noFill/>
        </p:spPr>
        <p:txBody>
          <a:bodyPr wrap="square">
            <a:spAutoFit/>
          </a:bodyPr>
          <a:lstStyle/>
          <a:p>
            <a:r>
              <a:rPr sz="1400">
                <a:solidFill>
                  <a:srgbClr val="B8E6C4"/>
                </a:solidFill>
                <a:latin typeface="Consolas"/>
              </a:rPr>
              <a:t>Accuracy : 0.799</a:t>
            </a:r>
          </a:p>
          <a:p>
            <a:r>
              <a:rPr sz="1400">
                <a:solidFill>
                  <a:srgbClr val="B8E6C4"/>
                </a:solidFill>
                <a:latin typeface="Consolas"/>
              </a:rPr>
              <a:t>Precision: 0.871</a:t>
            </a:r>
          </a:p>
          <a:p>
            <a:r>
              <a:rPr sz="1400">
                <a:solidFill>
                  <a:srgbClr val="B8E6C4"/>
                </a:solidFill>
                <a:latin typeface="Consolas"/>
              </a:rPr>
              <a:t>Recall   : 0.671</a:t>
            </a:r>
          </a:p>
          <a:p>
            <a:r>
              <a:rPr sz="1400">
                <a:solidFill>
                  <a:srgbClr val="B8E6C4"/>
                </a:solidFill>
                <a:latin typeface="Consolas"/>
              </a:rPr>
              <a:t>F1 Score : 0.758</a:t>
            </a:r>
          </a:p>
          <a:p>
            <a:r>
              <a:rPr sz="1400">
                <a:solidFill>
                  <a:srgbClr val="B8E6C4"/>
                </a:solidFill>
                <a:latin typeface="Consolas"/>
              </a:rPr>
              <a:t>[[716  69]</a:t>
            </a:r>
          </a:p>
          <a:p>
            <a:r>
              <a:rPr sz="1400">
                <a:solidFill>
                  <a:srgbClr val="B8E6C4"/>
                </a:solidFill>
                <a:latin typeface="Consolas"/>
              </a:rPr>
              <a:t> [229 467]]     # real matrix on the test set</a:t>
            </a:r>
          </a:p>
        </p:txBody>
      </p:sp>
      <p:sp>
        <p:nvSpPr>
          <p:cNvPr id="13" name="TextBox 12"/>
          <p:cNvSpPr txBox="1"/>
          <p:nvPr/>
        </p:nvSpPr>
        <p:spPr>
          <a:xfrm>
            <a:off x="7406640" y="1097280"/>
            <a:ext cx="4389120" cy="365760"/>
          </a:xfrm>
          <a:prstGeom prst="rect">
            <a:avLst/>
          </a:prstGeom>
          <a:noFill/>
        </p:spPr>
        <p:txBody>
          <a:bodyPr wrap="square" lIns="45720" tIns="27432" rIns="45720" bIns="27432" anchor="t">
            <a:spAutoFit/>
          </a:bodyPr>
          <a:lstStyle/>
          <a:p>
            <a:pPr algn="l"/>
            <a:r>
              <a:rPr sz="1400" b="1">
                <a:solidFill>
                  <a:srgbClr val="E8742A"/>
                </a:solidFill>
                <a:latin typeface="Calibri"/>
              </a:rPr>
              <a:t>STEP-BY-STEP EXPLANATION</a:t>
            </a:r>
          </a:p>
        </p:txBody>
      </p:sp>
      <p:sp>
        <p:nvSpPr>
          <p:cNvPr id="14" name="Rounded Rectangle 13"/>
          <p:cNvSpPr/>
          <p:nvPr/>
        </p:nvSpPr>
        <p:spPr>
          <a:xfrm>
            <a:off x="7406640" y="1463040"/>
            <a:ext cx="438912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498079" y="1572768"/>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1">
                <a:solidFill>
                  <a:srgbClr val="FFFFFF"/>
                </a:solidFill>
              </a:rPr>
              <a:t>1</a:t>
            </a:r>
          </a:p>
        </p:txBody>
      </p:sp>
      <p:sp>
        <p:nvSpPr>
          <p:cNvPr id="16" name="TextBox 15"/>
          <p:cNvSpPr txBox="1"/>
          <p:nvPr/>
        </p:nvSpPr>
        <p:spPr>
          <a:xfrm>
            <a:off x="7909560" y="1527048"/>
            <a:ext cx="3840480" cy="320040"/>
          </a:xfrm>
          <a:prstGeom prst="rect">
            <a:avLst/>
          </a:prstGeom>
          <a:noFill/>
        </p:spPr>
        <p:txBody>
          <a:bodyPr wrap="square" lIns="45720" tIns="27432" rIns="45720" bIns="27432" anchor="t">
            <a:spAutoFit/>
          </a:bodyPr>
          <a:lstStyle/>
          <a:p>
            <a:pPr algn="l"/>
            <a:r>
              <a:rPr sz="1400" b="1">
                <a:solidFill>
                  <a:srgbClr val="1F3756"/>
                </a:solidFill>
                <a:latin typeface="Calibri"/>
              </a:rPr>
              <a:t>Score predictions</a:t>
            </a:r>
          </a:p>
        </p:txBody>
      </p:sp>
      <p:sp>
        <p:nvSpPr>
          <p:cNvPr id="17" name="TextBox 16"/>
          <p:cNvSpPr txBox="1"/>
          <p:nvPr/>
        </p:nvSpPr>
        <p:spPr>
          <a:xfrm>
            <a:off x="7909560" y="1847088"/>
            <a:ext cx="3840480" cy="1005840"/>
          </a:xfrm>
          <a:prstGeom prst="rect">
            <a:avLst/>
          </a:prstGeom>
          <a:noFill/>
        </p:spPr>
        <p:txBody>
          <a:bodyPr wrap="square" lIns="45720" tIns="27432" rIns="45720" bIns="27432" anchor="t">
            <a:spAutoFit/>
          </a:bodyPr>
          <a:lstStyle/>
          <a:p>
            <a:pPr algn="l"/>
            <a:r>
              <a:rPr sz="1350" b="0">
                <a:solidFill>
                  <a:srgbClr val="262F3D"/>
                </a:solidFill>
                <a:latin typeface="Calibri"/>
              </a:rPr>
              <a:t>Each metric compares predicted labels (pred) with true labels (y_te).</a:t>
            </a:r>
          </a:p>
        </p:txBody>
      </p:sp>
      <p:sp>
        <p:nvSpPr>
          <p:cNvPr id="18" name="Rounded Rectangle 17"/>
          <p:cNvSpPr/>
          <p:nvPr/>
        </p:nvSpPr>
        <p:spPr>
          <a:xfrm>
            <a:off x="7406640" y="2990088"/>
            <a:ext cx="438912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498079" y="3099816"/>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1">
                <a:solidFill>
                  <a:srgbClr val="FFFFFF"/>
                </a:solidFill>
              </a:rPr>
              <a:t>2</a:t>
            </a:r>
          </a:p>
        </p:txBody>
      </p:sp>
      <p:sp>
        <p:nvSpPr>
          <p:cNvPr id="20" name="TextBox 19"/>
          <p:cNvSpPr txBox="1"/>
          <p:nvPr/>
        </p:nvSpPr>
        <p:spPr>
          <a:xfrm>
            <a:off x="7909560" y="3054096"/>
            <a:ext cx="3840480" cy="320040"/>
          </a:xfrm>
          <a:prstGeom prst="rect">
            <a:avLst/>
          </a:prstGeom>
          <a:noFill/>
        </p:spPr>
        <p:txBody>
          <a:bodyPr wrap="square" lIns="45720" tIns="27432" rIns="45720" bIns="27432" anchor="t">
            <a:spAutoFit/>
          </a:bodyPr>
          <a:lstStyle/>
          <a:p>
            <a:pPr algn="l"/>
            <a:r>
              <a:rPr sz="1400" b="1">
                <a:solidFill>
                  <a:srgbClr val="1F3756"/>
                </a:solidFill>
                <a:latin typeface="Calibri"/>
              </a:rPr>
              <a:t>Confusion matrix</a:t>
            </a:r>
          </a:p>
        </p:txBody>
      </p:sp>
      <p:sp>
        <p:nvSpPr>
          <p:cNvPr id="21" name="TextBox 20"/>
          <p:cNvSpPr txBox="1"/>
          <p:nvPr/>
        </p:nvSpPr>
        <p:spPr>
          <a:xfrm>
            <a:off x="7909560" y="3374136"/>
            <a:ext cx="3840480" cy="1005840"/>
          </a:xfrm>
          <a:prstGeom prst="rect">
            <a:avLst/>
          </a:prstGeom>
          <a:noFill/>
        </p:spPr>
        <p:txBody>
          <a:bodyPr wrap="square" lIns="45720" tIns="27432" rIns="45720" bIns="27432" anchor="t">
            <a:spAutoFit/>
          </a:bodyPr>
          <a:lstStyle/>
          <a:p>
            <a:pPr algn="l"/>
            <a:r>
              <a:rPr sz="1350" b="0">
                <a:solidFill>
                  <a:srgbClr val="262F3D"/>
                </a:solidFill>
                <a:latin typeface="Calibri"/>
              </a:rPr>
              <a:t>Counts correct and wrong predictions for each class.</a:t>
            </a:r>
          </a:p>
        </p:txBody>
      </p:sp>
      <p:sp>
        <p:nvSpPr>
          <p:cNvPr id="22" name="Rounded Rectangle 21"/>
          <p:cNvSpPr/>
          <p:nvPr/>
        </p:nvSpPr>
        <p:spPr>
          <a:xfrm>
            <a:off x="7406640" y="4517136"/>
            <a:ext cx="438912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498079" y="4626864"/>
            <a:ext cx="347472" cy="347472"/>
          </a:xfrm>
          <a:prstGeom prst="ellipse">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300" b="1">
                <a:solidFill>
                  <a:srgbClr val="FFFFFF"/>
                </a:solidFill>
              </a:rPr>
              <a:t>3</a:t>
            </a:r>
          </a:p>
        </p:txBody>
      </p:sp>
      <p:sp>
        <p:nvSpPr>
          <p:cNvPr id="24" name="TextBox 23"/>
          <p:cNvSpPr txBox="1"/>
          <p:nvPr/>
        </p:nvSpPr>
        <p:spPr>
          <a:xfrm>
            <a:off x="7909560" y="4581144"/>
            <a:ext cx="3840480" cy="320040"/>
          </a:xfrm>
          <a:prstGeom prst="rect">
            <a:avLst/>
          </a:prstGeom>
          <a:noFill/>
        </p:spPr>
        <p:txBody>
          <a:bodyPr wrap="square" lIns="45720" tIns="27432" rIns="45720" bIns="27432" anchor="t">
            <a:spAutoFit/>
          </a:bodyPr>
          <a:lstStyle/>
          <a:p>
            <a:pPr algn="l"/>
            <a:r>
              <a:rPr sz="1400" b="1">
                <a:solidFill>
                  <a:srgbClr val="1F3756"/>
                </a:solidFill>
                <a:latin typeface="Calibri"/>
              </a:rPr>
              <a:t>Read the result</a:t>
            </a:r>
          </a:p>
        </p:txBody>
      </p:sp>
      <p:sp>
        <p:nvSpPr>
          <p:cNvPr id="25" name="TextBox 24"/>
          <p:cNvSpPr txBox="1"/>
          <p:nvPr/>
        </p:nvSpPr>
        <p:spPr>
          <a:xfrm>
            <a:off x="7909560" y="4901183"/>
            <a:ext cx="3840480" cy="1005840"/>
          </a:xfrm>
          <a:prstGeom prst="rect">
            <a:avLst/>
          </a:prstGeom>
          <a:noFill/>
        </p:spPr>
        <p:txBody>
          <a:bodyPr wrap="square" lIns="45720" tIns="27432" rIns="45720" bIns="27432" anchor="t">
            <a:spAutoFit/>
          </a:bodyPr>
          <a:lstStyle/>
          <a:p>
            <a:pPr algn="l"/>
            <a:r>
              <a:rPr sz="1350" b="0">
                <a:solidFill>
                  <a:srgbClr val="262F3D"/>
                </a:solidFill>
                <a:latin typeface="Calibri"/>
              </a:rPr>
              <a:t>Precision is highest: when it predicts "highly rated", it is usually right.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tIns="27432" rIns="45720" bIns="27432" anchor="ctr">
            <a:spAutoFit/>
          </a:bodyPr>
          <a:lstStyle/>
          <a:p>
            <a:pPr algn="l"/>
            <a:r>
              <a:rPr sz="2600" b="1">
                <a:solidFill>
                  <a:srgbClr val="1F3756"/>
                </a:solidFill>
                <a:latin typeface="Calibri"/>
              </a:rPr>
              <a:t>EXPECTED VS ACTUAL OUTPUTS</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103120" y="914400"/>
            <a:ext cx="9601200" cy="365760"/>
          </a:xfrm>
          <a:prstGeom prst="rect">
            <a:avLst/>
          </a:prstGeom>
          <a:noFill/>
        </p:spPr>
        <p:txBody>
          <a:bodyPr wrap="square" lIns="45720" tIns="27432" rIns="45720" bIns="27432" anchor="t">
            <a:spAutoFit/>
          </a:bodyPr>
          <a:lstStyle/>
          <a:p>
            <a:pPr algn="l"/>
            <a:r>
              <a:rPr sz="1400" b="0">
                <a:solidFill>
                  <a:srgbClr val="5B6778"/>
                </a:solidFill>
                <a:latin typeface="Calibri"/>
              </a:rPr>
              <a:t>Expected outputs were set in Review 1; actual outputs come from the executed notebook</a:t>
            </a:r>
          </a:p>
        </p:txBody>
      </p:sp>
      <p:sp>
        <p:nvSpPr>
          <p:cNvPr id="7" name="TextBox 6"/>
          <p:cNvSpPr txBox="1"/>
          <p:nvPr/>
        </p:nvSpPr>
        <p:spPr>
          <a:xfrm>
            <a:off x="10607040" y="6473952"/>
            <a:ext cx="1280160" cy="274320"/>
          </a:xfrm>
          <a:prstGeom prst="rect">
            <a:avLst/>
          </a:prstGeom>
          <a:noFill/>
        </p:spPr>
        <p:txBody>
          <a:bodyPr wrap="square" lIns="45720" tIns="27432" rIns="45720" bIns="27432" anchor="t">
            <a:spAutoFit/>
          </a:bodyPr>
          <a:lstStyle/>
          <a:p>
            <a:pPr algn="r"/>
            <a:r>
              <a:rPr sz="1100" b="0">
                <a:solidFill>
                  <a:srgbClr val="5B6778"/>
                </a:solidFill>
                <a:latin typeface="Calibri"/>
              </a:rPr>
              <a:t>Review 3  |  15</a:t>
            </a:r>
          </a:p>
        </p:txBody>
      </p:sp>
      <p:graphicFrame>
        <p:nvGraphicFramePr>
          <p:cNvPr id="8" name="Table 7"/>
          <p:cNvGraphicFramePr>
            <a:graphicFrameLocks noGrp="1"/>
          </p:cNvGraphicFramePr>
          <p:nvPr/>
        </p:nvGraphicFramePr>
        <p:xfrm>
          <a:off x="457200" y="1417320"/>
          <a:ext cx="11292840" cy="4608576"/>
        </p:xfrm>
        <a:graphic>
          <a:graphicData uri="http://schemas.openxmlformats.org/drawingml/2006/table">
            <a:tbl>
              <a:tblPr>
                <a:tableStyleId>{5C22544A-7EE6-4342-B048-85BDC9FD1C3A}</a:tableStyleId>
              </a:tblPr>
              <a:tblGrid>
                <a:gridCol w="338328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tblGrid>
              <a:tr h="512064">
                <a:tc>
                  <a:txBody>
                    <a:bodyPr/>
                    <a:lstStyle/>
                    <a:p>
                      <a:r>
                        <a:rPr sz="1300" b="1">
                          <a:solidFill>
                            <a:srgbClr val="FFFFFF"/>
                          </a:solidFill>
                          <a:latin typeface="Calibri"/>
                        </a:rPr>
                        <a:t>Expected output (Review 1)</a:t>
                      </a:r>
                    </a:p>
                  </a:txBody>
                  <a:tcPr marT="27432" marB="27432" anchor="ctr">
                    <a:solidFill>
                      <a:srgbClr val="1F3756"/>
                    </a:solidFill>
                  </a:tcPr>
                </a:tc>
                <a:tc>
                  <a:txBody>
                    <a:bodyPr/>
                    <a:lstStyle/>
                    <a:p>
                      <a:r>
                        <a:rPr sz="1300" b="1">
                          <a:solidFill>
                            <a:srgbClr val="FFFFFF"/>
                          </a:solidFill>
                          <a:latin typeface="Calibri"/>
                        </a:rPr>
                        <a:t>Actual output (Review 3)</a:t>
                      </a:r>
                    </a:p>
                  </a:txBody>
                  <a:tcPr marT="27432" marB="27432" anchor="ctr">
                    <a:solidFill>
                      <a:srgbClr val="1F3756"/>
                    </a:solidFill>
                  </a:tcPr>
                </a:tc>
                <a:tc>
                  <a:txBody>
                    <a:bodyPr/>
                    <a:lstStyle/>
                    <a:p>
                      <a:r>
                        <a:rPr sz="1300" b="1">
                          <a:solidFill>
                            <a:srgbClr val="FFFFFF"/>
                          </a:solidFill>
                          <a:latin typeface="Calibri"/>
                        </a:rPr>
                        <a:t>Status</a:t>
                      </a:r>
                    </a:p>
                  </a:txBody>
                  <a:tcPr marT="27432" marB="27432" anchor="ctr">
                    <a:solidFill>
                      <a:srgbClr val="1F3756"/>
                    </a:solidFill>
                  </a:tcPr>
                </a:tc>
                <a:extLst>
                  <a:ext uri="{0D108BD9-81ED-4DB2-BD59-A6C34878D82A}">
                    <a16:rowId xmlns:a16="http://schemas.microsoft.com/office/drawing/2014/main" val="10000"/>
                  </a:ext>
                </a:extLst>
              </a:tr>
              <a:tr h="512064">
                <a:tc>
                  <a:txBody>
                    <a:bodyPr/>
                    <a:lstStyle/>
                    <a:p>
                      <a:r>
                        <a:rPr sz="1300" b="1">
                          <a:solidFill>
                            <a:srgbClr val="1F3756"/>
                          </a:solidFill>
                          <a:latin typeface="Calibri"/>
                        </a:rPr>
                        <a:t>Dataset information</a:t>
                      </a:r>
                    </a:p>
                  </a:txBody>
                  <a:tcPr marT="27432" marB="27432" anchor="ctr">
                    <a:solidFill>
                      <a:srgbClr val="FFFFFF"/>
                    </a:solidFill>
                  </a:tcPr>
                </a:tc>
                <a:tc>
                  <a:txBody>
                    <a:bodyPr/>
                    <a:lstStyle/>
                    <a:p>
                      <a:r>
                        <a:rPr sz="1300">
                          <a:solidFill>
                            <a:srgbClr val="262F3D"/>
                          </a:solidFill>
                          <a:latin typeface="Calibri"/>
                        </a:rPr>
                        <a:t>Shape (9551, 21); columns, dtypes and head() displayed</a:t>
                      </a:r>
                    </a:p>
                  </a:txBody>
                  <a:tcPr marT="27432" marB="27432" anchor="ctr">
                    <a:solidFill>
                      <a:srgbClr val="FFFFFF"/>
                    </a:solidFill>
                  </a:tcPr>
                </a:tc>
                <a:tc>
                  <a:txBody>
                    <a:bodyPr/>
                    <a:lstStyle/>
                    <a:p>
                      <a:r>
                        <a:rPr sz="1300" b="1">
                          <a:solidFill>
                            <a:srgbClr val="2E7D4F"/>
                          </a:solidFill>
                          <a:latin typeface="Calibri"/>
                        </a:rPr>
                        <a:t>Achieved</a:t>
                      </a:r>
                    </a:p>
                  </a:txBody>
                  <a:tcPr marT="27432" marB="27432" anchor="ctr">
                    <a:solidFill>
                      <a:srgbClr val="FFFFFF"/>
                    </a:solidFill>
                  </a:tcPr>
                </a:tc>
                <a:extLst>
                  <a:ext uri="{0D108BD9-81ED-4DB2-BD59-A6C34878D82A}">
                    <a16:rowId xmlns:a16="http://schemas.microsoft.com/office/drawing/2014/main" val="10001"/>
                  </a:ext>
                </a:extLst>
              </a:tr>
              <a:tr h="512064">
                <a:tc>
                  <a:txBody>
                    <a:bodyPr/>
                    <a:lstStyle/>
                    <a:p>
                      <a:r>
                        <a:rPr sz="1300" b="1">
                          <a:solidFill>
                            <a:srgbClr val="1F3756"/>
                          </a:solidFill>
                          <a:latin typeface="Calibri"/>
                        </a:rPr>
                        <a:t>Missing value report</a:t>
                      </a:r>
                    </a:p>
                  </a:txBody>
                  <a:tcPr marT="27432" marB="27432" anchor="ctr">
                    <a:solidFill>
                      <a:srgbClr val="F1F4F9"/>
                    </a:solidFill>
                  </a:tcPr>
                </a:tc>
                <a:tc>
                  <a:txBody>
                    <a:bodyPr/>
                    <a:lstStyle/>
                    <a:p>
                      <a:r>
                        <a:rPr sz="1300">
                          <a:solidFill>
                            <a:srgbClr val="262F3D"/>
                          </a:solidFill>
                          <a:latin typeface="Calibri"/>
                        </a:rPr>
                        <a:t>9 missing cells (all in Cuisines) and 2,148 unrated restaurants reported</a:t>
                      </a:r>
                    </a:p>
                  </a:txBody>
                  <a:tcPr marT="27432" marB="27432" anchor="ctr">
                    <a:solidFill>
                      <a:srgbClr val="F1F4F9"/>
                    </a:solidFill>
                  </a:tcPr>
                </a:tc>
                <a:tc>
                  <a:txBody>
                    <a:bodyPr/>
                    <a:lstStyle/>
                    <a:p>
                      <a:r>
                        <a:rPr sz="1300" b="1">
                          <a:solidFill>
                            <a:srgbClr val="2E7D4F"/>
                          </a:solidFill>
                          <a:latin typeface="Calibri"/>
                        </a:rPr>
                        <a:t>Achieved</a:t>
                      </a:r>
                    </a:p>
                  </a:txBody>
                  <a:tcPr marT="27432" marB="27432" anchor="ctr">
                    <a:solidFill>
                      <a:srgbClr val="F1F4F9"/>
                    </a:solidFill>
                  </a:tcPr>
                </a:tc>
                <a:extLst>
                  <a:ext uri="{0D108BD9-81ED-4DB2-BD59-A6C34878D82A}">
                    <a16:rowId xmlns:a16="http://schemas.microsoft.com/office/drawing/2014/main" val="10002"/>
                  </a:ext>
                </a:extLst>
              </a:tr>
              <a:tr h="512064">
                <a:tc>
                  <a:txBody>
                    <a:bodyPr/>
                    <a:lstStyle/>
                    <a:p>
                      <a:r>
                        <a:rPr sz="1300" b="1">
                          <a:solidFill>
                            <a:srgbClr val="1F3756"/>
                          </a:solidFill>
                          <a:latin typeface="Calibri"/>
                        </a:rPr>
                        <a:t>Cleaned dataset</a:t>
                      </a:r>
                    </a:p>
                  </a:txBody>
                  <a:tcPr marT="27432" marB="27432" anchor="ctr">
                    <a:solidFill>
                      <a:srgbClr val="FFFFFF"/>
                    </a:solidFill>
                  </a:tcPr>
                </a:tc>
                <a:tc>
                  <a:txBody>
                    <a:bodyPr/>
                    <a:lstStyle/>
                    <a:p>
                      <a:r>
                        <a:rPr sz="1300">
                          <a:solidFill>
                            <a:srgbClr val="262F3D"/>
                          </a:solidFill>
                          <a:latin typeface="Calibri"/>
                        </a:rPr>
                        <a:t>7,403 rated rows, 0 nulls, 0 duplicates</a:t>
                      </a:r>
                    </a:p>
                  </a:txBody>
                  <a:tcPr marT="27432" marB="27432" anchor="ctr">
                    <a:solidFill>
                      <a:srgbClr val="FFFFFF"/>
                    </a:solidFill>
                  </a:tcPr>
                </a:tc>
                <a:tc>
                  <a:txBody>
                    <a:bodyPr/>
                    <a:lstStyle/>
                    <a:p>
                      <a:r>
                        <a:rPr sz="1300" b="1">
                          <a:solidFill>
                            <a:srgbClr val="2E7D4F"/>
                          </a:solidFill>
                          <a:latin typeface="Calibri"/>
                        </a:rPr>
                        <a:t>Achieved</a:t>
                      </a:r>
                    </a:p>
                  </a:txBody>
                  <a:tcPr marT="27432" marB="27432" anchor="ctr">
                    <a:solidFill>
                      <a:srgbClr val="FFFFFF"/>
                    </a:solidFill>
                  </a:tcPr>
                </a:tc>
                <a:extLst>
                  <a:ext uri="{0D108BD9-81ED-4DB2-BD59-A6C34878D82A}">
                    <a16:rowId xmlns:a16="http://schemas.microsoft.com/office/drawing/2014/main" val="10003"/>
                  </a:ext>
                </a:extLst>
              </a:tr>
              <a:tr h="512064">
                <a:tc>
                  <a:txBody>
                    <a:bodyPr/>
                    <a:lstStyle/>
                    <a:p>
                      <a:r>
                        <a:rPr sz="1300" b="1">
                          <a:solidFill>
                            <a:srgbClr val="1F3756"/>
                          </a:solidFill>
                          <a:latin typeface="Calibri"/>
                        </a:rPr>
                        <a:t>Grouped / aggregated dataset</a:t>
                      </a:r>
                    </a:p>
                  </a:txBody>
                  <a:tcPr marT="27432" marB="27432" anchor="ctr">
                    <a:solidFill>
                      <a:srgbClr val="F1F4F9"/>
                    </a:solidFill>
                  </a:tcPr>
                </a:tc>
                <a:tc>
                  <a:txBody>
                    <a:bodyPr/>
                    <a:lstStyle/>
                    <a:p>
                      <a:r>
                        <a:rPr sz="1300">
                          <a:solidFill>
                            <a:srgbClr val="262F3D"/>
                          </a:solidFill>
                          <a:latin typeface="Calibri"/>
                        </a:rPr>
                        <a:t>High-rating rate by price range, city and cuisine via groupby</a:t>
                      </a:r>
                    </a:p>
                  </a:txBody>
                  <a:tcPr marT="27432" marB="27432" anchor="ctr">
                    <a:solidFill>
                      <a:srgbClr val="F1F4F9"/>
                    </a:solidFill>
                  </a:tcPr>
                </a:tc>
                <a:tc>
                  <a:txBody>
                    <a:bodyPr/>
                    <a:lstStyle/>
                    <a:p>
                      <a:r>
                        <a:rPr sz="1300" b="1">
                          <a:solidFill>
                            <a:srgbClr val="2E7D4F"/>
                          </a:solidFill>
                          <a:latin typeface="Calibri"/>
                        </a:rPr>
                        <a:t>Achieved</a:t>
                      </a:r>
                    </a:p>
                  </a:txBody>
                  <a:tcPr marT="27432" marB="27432" anchor="ctr">
                    <a:solidFill>
                      <a:srgbClr val="F1F4F9"/>
                    </a:solidFill>
                  </a:tcPr>
                </a:tc>
                <a:extLst>
                  <a:ext uri="{0D108BD9-81ED-4DB2-BD59-A6C34878D82A}">
                    <a16:rowId xmlns:a16="http://schemas.microsoft.com/office/drawing/2014/main" val="10004"/>
                  </a:ext>
                </a:extLst>
              </a:tr>
              <a:tr h="512064">
                <a:tc>
                  <a:txBody>
                    <a:bodyPr/>
                    <a:lstStyle/>
                    <a:p>
                      <a:r>
                        <a:rPr sz="1300" b="1">
                          <a:solidFill>
                            <a:srgbClr val="1F3756"/>
                          </a:solidFill>
                          <a:latin typeface="Calibri"/>
                        </a:rPr>
                        <a:t>Charts and graphs</a:t>
                      </a:r>
                    </a:p>
                  </a:txBody>
                  <a:tcPr marT="27432" marB="27432" anchor="ctr">
                    <a:solidFill>
                      <a:srgbClr val="FFFFFF"/>
                    </a:solidFill>
                  </a:tcPr>
                </a:tc>
                <a:tc>
                  <a:txBody>
                    <a:bodyPr/>
                    <a:lstStyle/>
                    <a:p>
                      <a:r>
                        <a:rPr sz="1300">
                          <a:solidFill>
                            <a:srgbClr val="262F3D"/>
                          </a:solidFill>
                          <a:latin typeface="Calibri"/>
                        </a:rPr>
                        <a:t>4 bar charts: outcome, price range, city, cuisine</a:t>
                      </a:r>
                    </a:p>
                  </a:txBody>
                  <a:tcPr marT="27432" marB="27432" anchor="ctr">
                    <a:solidFill>
                      <a:srgbClr val="FFFFFF"/>
                    </a:solidFill>
                  </a:tcPr>
                </a:tc>
                <a:tc>
                  <a:txBody>
                    <a:bodyPr/>
                    <a:lstStyle/>
                    <a:p>
                      <a:r>
                        <a:rPr sz="1300" b="1">
                          <a:solidFill>
                            <a:srgbClr val="2E7D4F"/>
                          </a:solidFill>
                          <a:latin typeface="Calibri"/>
                        </a:rPr>
                        <a:t>Achieved</a:t>
                      </a:r>
                    </a:p>
                  </a:txBody>
                  <a:tcPr marT="27432" marB="27432" anchor="ctr">
                    <a:solidFill>
                      <a:srgbClr val="FFFFFF"/>
                    </a:solidFill>
                  </a:tcPr>
                </a:tc>
                <a:extLst>
                  <a:ext uri="{0D108BD9-81ED-4DB2-BD59-A6C34878D82A}">
                    <a16:rowId xmlns:a16="http://schemas.microsoft.com/office/drawing/2014/main" val="10005"/>
                  </a:ext>
                </a:extLst>
              </a:tr>
              <a:tr h="512064">
                <a:tc>
                  <a:txBody>
                    <a:bodyPr/>
                    <a:lstStyle/>
                    <a:p>
                      <a:r>
                        <a:rPr sz="1300" b="1">
                          <a:solidFill>
                            <a:srgbClr val="1F3756"/>
                          </a:solidFill>
                          <a:latin typeface="Calibri"/>
                        </a:rPr>
                        <a:t>Insights</a:t>
                      </a:r>
                    </a:p>
                  </a:txBody>
                  <a:tcPr marT="27432" marB="27432" anchor="ctr">
                    <a:solidFill>
                      <a:srgbClr val="F1F4F9"/>
                    </a:solidFill>
                  </a:tcPr>
                </a:tc>
                <a:tc>
                  <a:txBody>
                    <a:bodyPr/>
                    <a:lstStyle/>
                    <a:p>
                      <a:r>
                        <a:rPr sz="1300">
                          <a:solidFill>
                            <a:srgbClr val="262F3D"/>
                          </a:solidFill>
                          <a:latin typeface="Calibri"/>
                        </a:rPr>
                        <a:t>High-rating rate rises from 28.6% to 81.4% as price range goes 1→4</a:t>
                      </a:r>
                    </a:p>
                  </a:txBody>
                  <a:tcPr marT="27432" marB="27432" anchor="ctr">
                    <a:solidFill>
                      <a:srgbClr val="F1F4F9"/>
                    </a:solidFill>
                  </a:tcPr>
                </a:tc>
                <a:tc>
                  <a:txBody>
                    <a:bodyPr/>
                    <a:lstStyle/>
                    <a:p>
                      <a:r>
                        <a:rPr sz="1300" b="1">
                          <a:solidFill>
                            <a:srgbClr val="2E7D4F"/>
                          </a:solidFill>
                          <a:latin typeface="Calibri"/>
                        </a:rPr>
                        <a:t>Achieved</a:t>
                      </a:r>
                    </a:p>
                  </a:txBody>
                  <a:tcPr marT="27432" marB="27432" anchor="ctr">
                    <a:solidFill>
                      <a:srgbClr val="F1F4F9"/>
                    </a:solidFill>
                  </a:tcPr>
                </a:tc>
                <a:extLst>
                  <a:ext uri="{0D108BD9-81ED-4DB2-BD59-A6C34878D82A}">
                    <a16:rowId xmlns:a16="http://schemas.microsoft.com/office/drawing/2014/main" val="10006"/>
                  </a:ext>
                </a:extLst>
              </a:tr>
              <a:tr h="512064">
                <a:tc>
                  <a:txBody>
                    <a:bodyPr/>
                    <a:lstStyle/>
                    <a:p>
                      <a:r>
                        <a:rPr sz="1300" b="1">
                          <a:solidFill>
                            <a:srgbClr val="1F3756"/>
                          </a:solidFill>
                          <a:latin typeface="Calibri"/>
                        </a:rPr>
                        <a:t>Prediction model (added in Review 2)</a:t>
                      </a:r>
                    </a:p>
                  </a:txBody>
                  <a:tcPr marT="27432" marB="27432" anchor="ctr">
                    <a:solidFill>
                      <a:srgbClr val="FFFFFF"/>
                    </a:solidFill>
                  </a:tcPr>
                </a:tc>
                <a:tc>
                  <a:txBody>
                    <a:bodyPr/>
                    <a:lstStyle/>
                    <a:p>
                      <a:r>
                        <a:rPr sz="1300">
                          <a:solidFill>
                            <a:srgbClr val="262F3D"/>
                          </a:solidFill>
                          <a:latin typeface="Calibri"/>
                        </a:rPr>
                        <a:t>Logistic Regression: 79.9% accuracy, 75.8% F1</a:t>
                      </a:r>
                    </a:p>
                  </a:txBody>
                  <a:tcPr marT="27432" marB="27432" anchor="ctr">
                    <a:solidFill>
                      <a:srgbClr val="FFFFFF"/>
                    </a:solidFill>
                  </a:tcPr>
                </a:tc>
                <a:tc>
                  <a:txBody>
                    <a:bodyPr/>
                    <a:lstStyle/>
                    <a:p>
                      <a:r>
                        <a:rPr sz="1300" b="1">
                          <a:solidFill>
                            <a:srgbClr val="2E7D4F"/>
                          </a:solidFill>
                          <a:latin typeface="Calibri"/>
                        </a:rPr>
                        <a:t>Achieved</a:t>
                      </a:r>
                    </a:p>
                  </a:txBody>
                  <a:tcPr marT="27432" marB="27432" anchor="ctr">
                    <a:solidFill>
                      <a:srgbClr val="FFFFFF"/>
                    </a:solidFill>
                  </a:tcPr>
                </a:tc>
                <a:extLst>
                  <a:ext uri="{0D108BD9-81ED-4DB2-BD59-A6C34878D82A}">
                    <a16:rowId xmlns:a16="http://schemas.microsoft.com/office/drawing/2014/main" val="10007"/>
                  </a:ext>
                </a:extLst>
              </a:tr>
              <a:tr h="512064">
                <a:tc>
                  <a:txBody>
                    <a:bodyPr/>
                    <a:lstStyle/>
                    <a:p>
                      <a:r>
                        <a:rPr sz="1300" b="1">
                          <a:solidFill>
                            <a:srgbClr val="1F3756"/>
                          </a:solidFill>
                          <a:latin typeface="Calibri"/>
                        </a:rPr>
                        <a:t>Location view (map of restaurants)</a:t>
                      </a:r>
                    </a:p>
                  </a:txBody>
                  <a:tcPr marT="27432" marB="27432" anchor="ctr">
                    <a:solidFill>
                      <a:srgbClr val="F1F4F9"/>
                    </a:solidFill>
                  </a:tcPr>
                </a:tc>
                <a:tc>
                  <a:txBody>
                    <a:bodyPr/>
                    <a:lstStyle/>
                    <a:p>
                      <a:r>
                        <a:rPr sz="1300">
                          <a:solidFill>
                            <a:srgbClr val="262F3D"/>
                          </a:solidFill>
                          <a:latin typeface="Calibri"/>
                        </a:rPr>
                        <a:t>Latitude / longitude available; map not yet plotted</a:t>
                      </a:r>
                    </a:p>
                  </a:txBody>
                  <a:tcPr marT="27432" marB="27432" anchor="ctr">
                    <a:solidFill>
                      <a:srgbClr val="F1F4F9"/>
                    </a:solidFill>
                  </a:tcPr>
                </a:tc>
                <a:tc>
                  <a:txBody>
                    <a:bodyPr/>
                    <a:lstStyle/>
                    <a:p>
                      <a:r>
                        <a:rPr sz="1300" b="1">
                          <a:solidFill>
                            <a:srgbClr val="E8742A"/>
                          </a:solidFill>
                          <a:latin typeface="Calibri"/>
                        </a:rPr>
                        <a:t>Future work</a:t>
                      </a:r>
                    </a:p>
                  </a:txBody>
                  <a:tcPr marT="27432" marB="27432" anchor="ctr">
                    <a:solidFill>
                      <a:srgbClr val="F1F4F9"/>
                    </a:solidFill>
                  </a:tcPr>
                </a:tc>
                <a:extLst>
                  <a:ext uri="{0D108BD9-81ED-4DB2-BD59-A6C34878D82A}">
                    <a16:rowId xmlns:a16="http://schemas.microsoft.com/office/drawing/2014/main" val="10008"/>
                  </a:ext>
                </a:extLst>
              </a:tr>
            </a:tbl>
          </a:graphicData>
        </a:graphic>
      </p:graphicFrame>
      <p:sp>
        <p:nvSpPr>
          <p:cNvPr id="9" name="TextBox 8"/>
          <p:cNvSpPr txBox="1"/>
          <p:nvPr/>
        </p:nvSpPr>
        <p:spPr>
          <a:xfrm>
            <a:off x="457200" y="6126480"/>
            <a:ext cx="11247120" cy="365760"/>
          </a:xfrm>
          <a:prstGeom prst="rect">
            <a:avLst/>
          </a:prstGeom>
          <a:noFill/>
        </p:spPr>
        <p:txBody>
          <a:bodyPr wrap="square" lIns="45720" tIns="27432" rIns="45720" bIns="27432" anchor="t">
            <a:spAutoFit/>
          </a:bodyPr>
          <a:lstStyle/>
          <a:p>
            <a:pPr algn="l"/>
            <a:r>
              <a:rPr sz="1400" b="1">
                <a:solidFill>
                  <a:srgbClr val="1F3756"/>
                </a:solidFill>
                <a:latin typeface="Calibri"/>
              </a:rPr>
              <a:t>Result: 7 of 8 expected outputs fully delivered; the location map is the one remaining item.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tIns="27432" rIns="45720" bIns="27432" anchor="ctr">
            <a:spAutoFit/>
          </a:bodyPr>
          <a:lstStyle/>
          <a:p>
            <a:pPr algn="l"/>
            <a:r>
              <a:rPr sz="2600" b="1">
                <a:solidFill>
                  <a:srgbClr val="1F3756"/>
                </a:solidFill>
                <a:latin typeface="Calibri"/>
              </a:rPr>
              <a:t>PREDICTION MODEL — LOGISTIC REGRESSION</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607040" y="6473952"/>
            <a:ext cx="1280160" cy="274320"/>
          </a:xfrm>
          <a:prstGeom prst="rect">
            <a:avLst/>
          </a:prstGeom>
          <a:noFill/>
        </p:spPr>
        <p:txBody>
          <a:bodyPr wrap="square" lIns="45720" tIns="27432" rIns="45720" bIns="27432" anchor="t">
            <a:spAutoFit/>
          </a:bodyPr>
          <a:lstStyle/>
          <a:p>
            <a:pPr algn="r"/>
            <a:r>
              <a:rPr sz="1100" b="0">
                <a:solidFill>
                  <a:srgbClr val="5B6778"/>
                </a:solidFill>
                <a:latin typeface="Calibri"/>
              </a:rPr>
              <a:t>Review 3  |  16</a:t>
            </a:r>
          </a:p>
        </p:txBody>
      </p:sp>
      <p:sp>
        <p:nvSpPr>
          <p:cNvPr id="7" name="TextBox 6"/>
          <p:cNvSpPr txBox="1"/>
          <p:nvPr/>
        </p:nvSpPr>
        <p:spPr>
          <a:xfrm>
            <a:off x="457200" y="1188720"/>
            <a:ext cx="10972800" cy="365760"/>
          </a:xfrm>
          <a:prstGeom prst="rect">
            <a:avLst/>
          </a:prstGeom>
          <a:noFill/>
        </p:spPr>
        <p:txBody>
          <a:bodyPr wrap="square" lIns="45720" tIns="27432" rIns="45720" bIns="27432" anchor="t">
            <a:spAutoFit/>
          </a:bodyPr>
          <a:lstStyle/>
          <a:p>
            <a:pPr algn="l"/>
            <a:r>
              <a:rPr sz="1400" b="1">
                <a:solidFill>
                  <a:srgbClr val="E8742A"/>
                </a:solidFill>
                <a:latin typeface="Calibri"/>
              </a:rPr>
              <a:t>MODEL PIPELINE</a:t>
            </a:r>
          </a:p>
        </p:txBody>
      </p:sp>
      <p:sp>
        <p:nvSpPr>
          <p:cNvPr id="8" name="Rounded Rectangle 7"/>
          <p:cNvSpPr/>
          <p:nvPr/>
        </p:nvSpPr>
        <p:spPr>
          <a:xfrm>
            <a:off x="457200" y="1600200"/>
            <a:ext cx="2606040" cy="1783080"/>
          </a:xfrm>
          <a:prstGeom prst="roundRect">
            <a:avLst>
              <a:gd name="adj" fmla="val 8000"/>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64208"/>
            <a:ext cx="2423160" cy="365760"/>
          </a:xfrm>
          <a:prstGeom prst="rect">
            <a:avLst/>
          </a:prstGeom>
          <a:noFill/>
        </p:spPr>
        <p:txBody>
          <a:bodyPr wrap="square" lIns="45720" tIns="27432" rIns="45720" bIns="27432" anchor="t">
            <a:spAutoFit/>
          </a:bodyPr>
          <a:lstStyle/>
          <a:p>
            <a:pPr algn="ctr"/>
            <a:r>
              <a:rPr sz="1500" b="1">
                <a:solidFill>
                  <a:srgbClr val="FFFFFF"/>
                </a:solidFill>
                <a:latin typeface="Calibri"/>
              </a:rPr>
              <a:t>Input features</a:t>
            </a:r>
          </a:p>
        </p:txBody>
      </p:sp>
      <p:sp>
        <p:nvSpPr>
          <p:cNvPr id="10" name="TextBox 9"/>
          <p:cNvSpPr txBox="1"/>
          <p:nvPr/>
        </p:nvSpPr>
        <p:spPr>
          <a:xfrm>
            <a:off x="548640" y="2103120"/>
            <a:ext cx="2423160" cy="1280160"/>
          </a:xfrm>
          <a:prstGeom prst="rect">
            <a:avLst/>
          </a:prstGeom>
          <a:noFill/>
        </p:spPr>
        <p:txBody>
          <a:bodyPr wrap="square" lIns="45720" tIns="27432" rIns="45720" bIns="27432" anchor="t">
            <a:spAutoFit/>
          </a:bodyPr>
          <a:lstStyle/>
          <a:p>
            <a:pPr algn="ctr"/>
            <a:r>
              <a:rPr sz="1400" b="0">
                <a:solidFill>
                  <a:srgbClr val="FFFFFF"/>
                </a:solidFill>
                <a:latin typeface="Calibri"/>
              </a:rPr>
              <a:t>Votes, Price range, Cuisine_Count
Table booking, Online delivery, Country Code</a:t>
            </a:r>
          </a:p>
        </p:txBody>
      </p:sp>
      <p:sp>
        <p:nvSpPr>
          <p:cNvPr id="11" name="TextBox 10"/>
          <p:cNvSpPr txBox="1"/>
          <p:nvPr/>
        </p:nvSpPr>
        <p:spPr>
          <a:xfrm>
            <a:off x="3035808" y="2194560"/>
            <a:ext cx="365760" cy="457200"/>
          </a:xfrm>
          <a:prstGeom prst="rect">
            <a:avLst/>
          </a:prstGeom>
          <a:noFill/>
        </p:spPr>
        <p:txBody>
          <a:bodyPr wrap="square" lIns="45720" tIns="27432" rIns="45720" bIns="27432" anchor="t">
            <a:spAutoFit/>
          </a:bodyPr>
          <a:lstStyle/>
          <a:p>
            <a:pPr algn="ctr"/>
            <a:r>
              <a:rPr sz="1800" b="1">
                <a:solidFill>
                  <a:srgbClr val="E8742A"/>
                </a:solidFill>
                <a:latin typeface="Calibri"/>
              </a:rPr>
              <a:t>▶</a:t>
            </a:r>
          </a:p>
        </p:txBody>
      </p:sp>
      <p:sp>
        <p:nvSpPr>
          <p:cNvPr id="12" name="Rounded Rectangle 11"/>
          <p:cNvSpPr/>
          <p:nvPr/>
        </p:nvSpPr>
        <p:spPr>
          <a:xfrm>
            <a:off x="3310128" y="1600200"/>
            <a:ext cx="2606040" cy="178308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01568" y="1664208"/>
            <a:ext cx="2423160" cy="365760"/>
          </a:xfrm>
          <a:prstGeom prst="rect">
            <a:avLst/>
          </a:prstGeom>
          <a:noFill/>
        </p:spPr>
        <p:txBody>
          <a:bodyPr wrap="square" lIns="45720" tIns="27432" rIns="45720" bIns="27432" anchor="t">
            <a:spAutoFit/>
          </a:bodyPr>
          <a:lstStyle/>
          <a:p>
            <a:pPr algn="ctr"/>
            <a:r>
              <a:rPr sz="1500" b="1">
                <a:solidFill>
                  <a:srgbClr val="1F3756"/>
                </a:solidFill>
                <a:latin typeface="Calibri"/>
              </a:rPr>
              <a:t>Preprocess</a:t>
            </a:r>
          </a:p>
        </p:txBody>
      </p:sp>
      <p:sp>
        <p:nvSpPr>
          <p:cNvPr id="14" name="TextBox 13"/>
          <p:cNvSpPr txBox="1"/>
          <p:nvPr/>
        </p:nvSpPr>
        <p:spPr>
          <a:xfrm>
            <a:off x="3401568" y="2103120"/>
            <a:ext cx="2423160" cy="1280160"/>
          </a:xfrm>
          <a:prstGeom prst="rect">
            <a:avLst/>
          </a:prstGeom>
          <a:noFill/>
        </p:spPr>
        <p:txBody>
          <a:bodyPr wrap="square" lIns="45720" tIns="27432" rIns="45720" bIns="27432" anchor="t">
            <a:spAutoFit/>
          </a:bodyPr>
          <a:lstStyle/>
          <a:p>
            <a:pPr algn="ctr"/>
            <a:r>
              <a:rPr sz="1400" b="0">
                <a:solidFill>
                  <a:srgbClr val="262F3D"/>
                </a:solidFill>
                <a:latin typeface="Calibri"/>
              </a:rPr>
              <a:t>Numeric: median impute + StandardScaler
Categorical: mode impute + One-Hot</a:t>
            </a:r>
          </a:p>
        </p:txBody>
      </p:sp>
      <p:sp>
        <p:nvSpPr>
          <p:cNvPr id="15" name="TextBox 14"/>
          <p:cNvSpPr txBox="1"/>
          <p:nvPr/>
        </p:nvSpPr>
        <p:spPr>
          <a:xfrm>
            <a:off x="5888736" y="2194560"/>
            <a:ext cx="365760" cy="457200"/>
          </a:xfrm>
          <a:prstGeom prst="rect">
            <a:avLst/>
          </a:prstGeom>
          <a:noFill/>
        </p:spPr>
        <p:txBody>
          <a:bodyPr wrap="square" lIns="45720" tIns="27432" rIns="45720" bIns="27432" anchor="t">
            <a:spAutoFit/>
          </a:bodyPr>
          <a:lstStyle/>
          <a:p>
            <a:pPr algn="ctr"/>
            <a:r>
              <a:rPr sz="1800" b="1">
                <a:solidFill>
                  <a:srgbClr val="E8742A"/>
                </a:solidFill>
                <a:latin typeface="Calibri"/>
              </a:rPr>
              <a:t>▶</a:t>
            </a:r>
          </a:p>
        </p:txBody>
      </p:sp>
      <p:sp>
        <p:nvSpPr>
          <p:cNvPr id="16" name="Rounded Rectangle 15"/>
          <p:cNvSpPr/>
          <p:nvPr/>
        </p:nvSpPr>
        <p:spPr>
          <a:xfrm>
            <a:off x="6163056" y="1600200"/>
            <a:ext cx="2606040" cy="178308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54496" y="1664208"/>
            <a:ext cx="2423160" cy="365760"/>
          </a:xfrm>
          <a:prstGeom prst="rect">
            <a:avLst/>
          </a:prstGeom>
          <a:noFill/>
        </p:spPr>
        <p:txBody>
          <a:bodyPr wrap="square" lIns="45720" tIns="27432" rIns="45720" bIns="27432" anchor="t">
            <a:spAutoFit/>
          </a:bodyPr>
          <a:lstStyle/>
          <a:p>
            <a:pPr algn="ctr"/>
            <a:r>
              <a:rPr sz="1500" b="1">
                <a:solidFill>
                  <a:srgbClr val="1F3756"/>
                </a:solidFill>
                <a:latin typeface="Calibri"/>
              </a:rPr>
              <a:t>Logistic Regression</a:t>
            </a:r>
          </a:p>
        </p:txBody>
      </p:sp>
      <p:sp>
        <p:nvSpPr>
          <p:cNvPr id="18" name="TextBox 17"/>
          <p:cNvSpPr txBox="1"/>
          <p:nvPr/>
        </p:nvSpPr>
        <p:spPr>
          <a:xfrm>
            <a:off x="6254496" y="2103120"/>
            <a:ext cx="2423160" cy="1280160"/>
          </a:xfrm>
          <a:prstGeom prst="rect">
            <a:avLst/>
          </a:prstGeom>
          <a:noFill/>
        </p:spPr>
        <p:txBody>
          <a:bodyPr wrap="square" lIns="45720" tIns="27432" rIns="45720" bIns="27432" anchor="t">
            <a:spAutoFit/>
          </a:bodyPr>
          <a:lstStyle/>
          <a:p>
            <a:pPr algn="ctr"/>
            <a:r>
              <a:rPr sz="1400" b="0">
                <a:solidFill>
                  <a:srgbClr val="262F3D"/>
                </a:solidFill>
                <a:latin typeface="Calibri"/>
              </a:rPr>
              <a:t>Learns a weight per feature; outputs probability of High rating (Y)</a:t>
            </a:r>
          </a:p>
        </p:txBody>
      </p:sp>
      <p:sp>
        <p:nvSpPr>
          <p:cNvPr id="19" name="TextBox 18"/>
          <p:cNvSpPr txBox="1"/>
          <p:nvPr/>
        </p:nvSpPr>
        <p:spPr>
          <a:xfrm>
            <a:off x="8741664" y="2194560"/>
            <a:ext cx="365760" cy="457200"/>
          </a:xfrm>
          <a:prstGeom prst="rect">
            <a:avLst/>
          </a:prstGeom>
          <a:noFill/>
        </p:spPr>
        <p:txBody>
          <a:bodyPr wrap="square" lIns="45720" tIns="27432" rIns="45720" bIns="27432" anchor="t">
            <a:spAutoFit/>
          </a:bodyPr>
          <a:lstStyle/>
          <a:p>
            <a:pPr algn="ctr"/>
            <a:r>
              <a:rPr sz="1800" b="1">
                <a:solidFill>
                  <a:srgbClr val="E8742A"/>
                </a:solidFill>
                <a:latin typeface="Calibri"/>
              </a:rPr>
              <a:t>▶</a:t>
            </a:r>
          </a:p>
        </p:txBody>
      </p:sp>
      <p:sp>
        <p:nvSpPr>
          <p:cNvPr id="20" name="Rounded Rectangle 19"/>
          <p:cNvSpPr/>
          <p:nvPr/>
        </p:nvSpPr>
        <p:spPr>
          <a:xfrm>
            <a:off x="9015984" y="1600200"/>
            <a:ext cx="2606040" cy="1783080"/>
          </a:xfrm>
          <a:prstGeom prst="roundRect">
            <a:avLst>
              <a:gd name="adj" fmla="val 8000"/>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07424" y="1664208"/>
            <a:ext cx="2423160" cy="365760"/>
          </a:xfrm>
          <a:prstGeom prst="rect">
            <a:avLst/>
          </a:prstGeom>
          <a:noFill/>
        </p:spPr>
        <p:txBody>
          <a:bodyPr wrap="square" lIns="45720" tIns="27432" rIns="45720" bIns="27432" anchor="t">
            <a:spAutoFit/>
          </a:bodyPr>
          <a:lstStyle/>
          <a:p>
            <a:pPr algn="ctr"/>
            <a:r>
              <a:rPr sz="1500" b="1">
                <a:solidFill>
                  <a:srgbClr val="FFFFFF"/>
                </a:solidFill>
                <a:latin typeface="Calibri"/>
              </a:rPr>
              <a:t>Prediction</a:t>
            </a:r>
          </a:p>
        </p:txBody>
      </p:sp>
      <p:sp>
        <p:nvSpPr>
          <p:cNvPr id="22" name="TextBox 21"/>
          <p:cNvSpPr txBox="1"/>
          <p:nvPr/>
        </p:nvSpPr>
        <p:spPr>
          <a:xfrm>
            <a:off x="9107424" y="2103120"/>
            <a:ext cx="2423160" cy="1280160"/>
          </a:xfrm>
          <a:prstGeom prst="rect">
            <a:avLst/>
          </a:prstGeom>
          <a:noFill/>
        </p:spPr>
        <p:txBody>
          <a:bodyPr wrap="square" lIns="45720" tIns="27432" rIns="45720" bIns="27432" anchor="t">
            <a:spAutoFit/>
          </a:bodyPr>
          <a:lstStyle/>
          <a:p>
            <a:pPr algn="ctr"/>
            <a:r>
              <a:rPr sz="1400" b="0">
                <a:solidFill>
                  <a:srgbClr val="FFFFFF"/>
                </a:solidFill>
                <a:latin typeface="Calibri"/>
              </a:rPr>
              <a:t>P ≥ 0.5 → Highly rated (Y)
P &lt; 0.5 → Not highly rated (N)</a:t>
            </a:r>
          </a:p>
        </p:txBody>
      </p:sp>
      <p:sp>
        <p:nvSpPr>
          <p:cNvPr id="23" name="Rounded Rectangle 22"/>
          <p:cNvSpPr/>
          <p:nvPr/>
        </p:nvSpPr>
        <p:spPr>
          <a:xfrm>
            <a:off x="457200" y="3657600"/>
            <a:ext cx="3657600" cy="260604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57200" y="3767328"/>
            <a:ext cx="64008" cy="238658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 y="3730752"/>
            <a:ext cx="3383280" cy="365760"/>
          </a:xfrm>
          <a:prstGeom prst="rect">
            <a:avLst/>
          </a:prstGeom>
          <a:noFill/>
        </p:spPr>
        <p:txBody>
          <a:bodyPr wrap="square" lIns="45720" tIns="27432" rIns="45720" bIns="27432" anchor="t">
            <a:spAutoFit/>
          </a:bodyPr>
          <a:lstStyle/>
          <a:p>
            <a:pPr algn="l"/>
            <a:r>
              <a:rPr sz="1700" b="1">
                <a:solidFill>
                  <a:srgbClr val="1F3756"/>
                </a:solidFill>
                <a:latin typeface="Calibri"/>
              </a:rPr>
              <a:t>Why Logistic Regression?</a:t>
            </a:r>
          </a:p>
        </p:txBody>
      </p:sp>
      <p:sp>
        <p:nvSpPr>
          <p:cNvPr id="26" name="TextBox 25"/>
          <p:cNvSpPr txBox="1"/>
          <p:nvPr/>
        </p:nvSpPr>
        <p:spPr>
          <a:xfrm>
            <a:off x="640080" y="4114800"/>
            <a:ext cx="3383280" cy="2103120"/>
          </a:xfrm>
          <a:prstGeom prst="rect">
            <a:avLst/>
          </a:prstGeom>
          <a:noFill/>
        </p:spPr>
        <p:txBody>
          <a:bodyPr wrap="square" lIns="45720" tIns="27432" rIns="45720" bIns="27432" anchor="t">
            <a:spAutoFit/>
          </a:bodyPr>
          <a:lstStyle/>
          <a:p>
            <a:pPr algn="l"/>
            <a:r>
              <a:rPr sz="1500" b="0">
                <a:solidFill>
                  <a:srgbClr val="262F3D"/>
                </a:solidFill>
                <a:latin typeface="Calibri"/>
              </a:rPr>
              <a:t>Target is binary (Y/N).
Fast and works well on 7,403 rows.
Coefficients are interpretable — we can explain which features push a restaurant toward a lower or higher rating.
Provides a solid baseline.</a:t>
            </a:r>
          </a:p>
        </p:txBody>
      </p:sp>
      <p:sp>
        <p:nvSpPr>
          <p:cNvPr id="27" name="Rounded Rectangle 26"/>
          <p:cNvSpPr/>
          <p:nvPr/>
        </p:nvSpPr>
        <p:spPr>
          <a:xfrm>
            <a:off x="4297680" y="3657600"/>
            <a:ext cx="3657600" cy="260604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297680" y="3767328"/>
            <a:ext cx="64008" cy="238658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480560" y="3730752"/>
            <a:ext cx="3383280" cy="365760"/>
          </a:xfrm>
          <a:prstGeom prst="rect">
            <a:avLst/>
          </a:prstGeom>
          <a:noFill/>
        </p:spPr>
        <p:txBody>
          <a:bodyPr wrap="square" lIns="45720" tIns="27432" rIns="45720" bIns="27432" anchor="t">
            <a:spAutoFit/>
          </a:bodyPr>
          <a:lstStyle/>
          <a:p>
            <a:pPr algn="l"/>
            <a:r>
              <a:rPr sz="1700" b="1">
                <a:solidFill>
                  <a:srgbClr val="1F3756"/>
                </a:solidFill>
                <a:latin typeface="Calibri"/>
              </a:rPr>
              <a:t>Training setup</a:t>
            </a:r>
          </a:p>
        </p:txBody>
      </p:sp>
      <p:sp>
        <p:nvSpPr>
          <p:cNvPr id="30" name="TextBox 29"/>
          <p:cNvSpPr txBox="1"/>
          <p:nvPr/>
        </p:nvSpPr>
        <p:spPr>
          <a:xfrm>
            <a:off x="4480560" y="4114800"/>
            <a:ext cx="3383280" cy="2103120"/>
          </a:xfrm>
          <a:prstGeom prst="rect">
            <a:avLst/>
          </a:prstGeom>
          <a:noFill/>
        </p:spPr>
        <p:txBody>
          <a:bodyPr wrap="square" lIns="45720" tIns="27432" rIns="45720" bIns="27432" anchor="t">
            <a:spAutoFit/>
          </a:bodyPr>
          <a:lstStyle/>
          <a:p>
            <a:pPr algn="l"/>
            <a:r>
              <a:rPr sz="1500" b="0">
                <a:solidFill>
                  <a:srgbClr val="262F3D"/>
                </a:solidFill>
                <a:latin typeface="Calibri"/>
              </a:rPr>
              <a:t>Train: 5,922 restaurants (80%)
Test: 1,481 restaurants (20%)
Stratified split, random_state = 42
max_iter = 1000
Target leakage avoided: Aggregate rating not used as a feature.</a:t>
            </a:r>
          </a:p>
        </p:txBody>
      </p:sp>
      <p:sp>
        <p:nvSpPr>
          <p:cNvPr id="31" name="Rounded Rectangle 30"/>
          <p:cNvSpPr/>
          <p:nvPr/>
        </p:nvSpPr>
        <p:spPr>
          <a:xfrm>
            <a:off x="8138160" y="3657600"/>
            <a:ext cx="3611880" cy="260604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138160" y="3767328"/>
            <a:ext cx="64008" cy="238658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321040" y="3730752"/>
            <a:ext cx="3337560" cy="365760"/>
          </a:xfrm>
          <a:prstGeom prst="rect">
            <a:avLst/>
          </a:prstGeom>
          <a:noFill/>
        </p:spPr>
        <p:txBody>
          <a:bodyPr wrap="square" lIns="45720" tIns="27432" rIns="45720" bIns="27432" anchor="t">
            <a:spAutoFit/>
          </a:bodyPr>
          <a:lstStyle/>
          <a:p>
            <a:pPr algn="l"/>
            <a:r>
              <a:rPr sz="1700" b="1">
                <a:solidFill>
                  <a:srgbClr val="1F3756"/>
                </a:solidFill>
                <a:latin typeface="Calibri"/>
              </a:rPr>
              <a:t>Prediction formula</a:t>
            </a:r>
          </a:p>
        </p:txBody>
      </p:sp>
      <p:sp>
        <p:nvSpPr>
          <p:cNvPr id="34" name="TextBox 33"/>
          <p:cNvSpPr txBox="1"/>
          <p:nvPr/>
        </p:nvSpPr>
        <p:spPr>
          <a:xfrm>
            <a:off x="8321040" y="4114800"/>
            <a:ext cx="3337560" cy="2103120"/>
          </a:xfrm>
          <a:prstGeom prst="rect">
            <a:avLst/>
          </a:prstGeom>
          <a:noFill/>
        </p:spPr>
        <p:txBody>
          <a:bodyPr wrap="square" lIns="45720" tIns="27432" rIns="45720" bIns="27432" anchor="t">
            <a:spAutoFit/>
          </a:bodyPr>
          <a:lstStyle/>
          <a:p>
            <a:pPr algn="l"/>
            <a:r>
              <a:rPr sz="1500" b="0">
                <a:solidFill>
                  <a:srgbClr val="262F3D"/>
                </a:solidFill>
                <a:latin typeface="Calibri"/>
              </a:rPr>
              <a:t>P(Y) = 1 / (1 + e^−(b₀ + b₁x₁ + … + bₙxₙ))
x = scaled numeric and one-hot features, b = weights learned during training.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tIns="27432" rIns="45720" bIns="27432" anchor="ctr">
            <a:spAutoFit/>
          </a:bodyPr>
          <a:lstStyle/>
          <a:p>
            <a:pPr algn="l"/>
            <a:r>
              <a:rPr sz="2600" b="1">
                <a:solidFill>
                  <a:srgbClr val="1F3756"/>
                </a:solidFill>
                <a:latin typeface="Calibri"/>
              </a:rPr>
              <a:t>ACCURACY DETAILS</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607040" y="6473952"/>
            <a:ext cx="1280160" cy="274320"/>
          </a:xfrm>
          <a:prstGeom prst="rect">
            <a:avLst/>
          </a:prstGeom>
          <a:noFill/>
        </p:spPr>
        <p:txBody>
          <a:bodyPr wrap="square" lIns="45720" tIns="27432" rIns="45720" bIns="27432" anchor="t">
            <a:spAutoFit/>
          </a:bodyPr>
          <a:lstStyle/>
          <a:p>
            <a:pPr algn="r"/>
            <a:r>
              <a:rPr sz="1100" b="0">
                <a:solidFill>
                  <a:srgbClr val="5B6778"/>
                </a:solidFill>
                <a:latin typeface="Calibri"/>
              </a:rPr>
              <a:t>Review 3  |  17</a:t>
            </a:r>
          </a:p>
        </p:txBody>
      </p:sp>
      <p:sp>
        <p:nvSpPr>
          <p:cNvPr id="7" name="Rounded Rectangle 6"/>
          <p:cNvSpPr/>
          <p:nvPr/>
        </p:nvSpPr>
        <p:spPr>
          <a:xfrm>
            <a:off x="457200" y="1188720"/>
            <a:ext cx="269748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216152"/>
            <a:ext cx="2697480" cy="685800"/>
          </a:xfrm>
          <a:prstGeom prst="rect">
            <a:avLst/>
          </a:prstGeom>
          <a:noFill/>
        </p:spPr>
        <p:txBody>
          <a:bodyPr wrap="square" lIns="45720" tIns="27432" rIns="45720" bIns="27432" anchor="t">
            <a:spAutoFit/>
          </a:bodyPr>
          <a:lstStyle/>
          <a:p>
            <a:pPr algn="ctr"/>
            <a:r>
              <a:rPr sz="3600" b="1">
                <a:solidFill>
                  <a:srgbClr val="1F3756"/>
                </a:solidFill>
                <a:latin typeface="Calibri"/>
              </a:rPr>
              <a:t>79.9%</a:t>
            </a:r>
          </a:p>
        </p:txBody>
      </p:sp>
      <p:sp>
        <p:nvSpPr>
          <p:cNvPr id="9" name="TextBox 8"/>
          <p:cNvSpPr txBox="1"/>
          <p:nvPr/>
        </p:nvSpPr>
        <p:spPr>
          <a:xfrm>
            <a:off x="457200" y="1856231"/>
            <a:ext cx="2697480" cy="320040"/>
          </a:xfrm>
          <a:prstGeom prst="rect">
            <a:avLst/>
          </a:prstGeom>
          <a:noFill/>
        </p:spPr>
        <p:txBody>
          <a:bodyPr wrap="square" lIns="45720" tIns="27432" rIns="45720" bIns="27432" anchor="t">
            <a:spAutoFit/>
          </a:bodyPr>
          <a:lstStyle/>
          <a:p>
            <a:pPr algn="ctr"/>
            <a:r>
              <a:rPr sz="1500" b="1">
                <a:solidFill>
                  <a:srgbClr val="E8742A"/>
                </a:solidFill>
                <a:latin typeface="Calibri"/>
              </a:rPr>
              <a:t>Accuracy</a:t>
            </a:r>
          </a:p>
        </p:txBody>
      </p:sp>
      <p:sp>
        <p:nvSpPr>
          <p:cNvPr id="10" name="TextBox 9"/>
          <p:cNvSpPr txBox="1"/>
          <p:nvPr/>
        </p:nvSpPr>
        <p:spPr>
          <a:xfrm>
            <a:off x="548640" y="2176272"/>
            <a:ext cx="2514600" cy="411480"/>
          </a:xfrm>
          <a:prstGeom prst="rect">
            <a:avLst/>
          </a:prstGeom>
          <a:noFill/>
        </p:spPr>
        <p:txBody>
          <a:bodyPr wrap="square" lIns="45720" tIns="27432" rIns="45720" bIns="27432" anchor="t">
            <a:spAutoFit/>
          </a:bodyPr>
          <a:lstStyle/>
          <a:p>
            <a:pPr algn="ctr"/>
            <a:r>
              <a:rPr sz="1150" b="0">
                <a:solidFill>
                  <a:srgbClr val="5B6778"/>
                </a:solidFill>
                <a:latin typeface="Calibri"/>
              </a:rPr>
              <a:t>Correct predictions overall</a:t>
            </a:r>
          </a:p>
        </p:txBody>
      </p:sp>
      <p:sp>
        <p:nvSpPr>
          <p:cNvPr id="11" name="Rounded Rectangle 10"/>
          <p:cNvSpPr/>
          <p:nvPr/>
        </p:nvSpPr>
        <p:spPr>
          <a:xfrm>
            <a:off x="3310128" y="1188720"/>
            <a:ext cx="269748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10128" y="1216152"/>
            <a:ext cx="2697480" cy="685800"/>
          </a:xfrm>
          <a:prstGeom prst="rect">
            <a:avLst/>
          </a:prstGeom>
          <a:noFill/>
        </p:spPr>
        <p:txBody>
          <a:bodyPr wrap="square" lIns="45720" tIns="27432" rIns="45720" bIns="27432" anchor="t">
            <a:spAutoFit/>
          </a:bodyPr>
          <a:lstStyle/>
          <a:p>
            <a:pPr algn="ctr"/>
            <a:r>
              <a:rPr sz="3600" b="1">
                <a:solidFill>
                  <a:srgbClr val="1F3756"/>
                </a:solidFill>
                <a:latin typeface="Calibri"/>
              </a:rPr>
              <a:t>87.1%</a:t>
            </a:r>
          </a:p>
        </p:txBody>
      </p:sp>
      <p:sp>
        <p:nvSpPr>
          <p:cNvPr id="13" name="TextBox 12"/>
          <p:cNvSpPr txBox="1"/>
          <p:nvPr/>
        </p:nvSpPr>
        <p:spPr>
          <a:xfrm>
            <a:off x="3310128" y="1856231"/>
            <a:ext cx="2697480" cy="320040"/>
          </a:xfrm>
          <a:prstGeom prst="rect">
            <a:avLst/>
          </a:prstGeom>
          <a:noFill/>
        </p:spPr>
        <p:txBody>
          <a:bodyPr wrap="square" lIns="45720" tIns="27432" rIns="45720" bIns="27432" anchor="t">
            <a:spAutoFit/>
          </a:bodyPr>
          <a:lstStyle/>
          <a:p>
            <a:pPr algn="ctr"/>
            <a:r>
              <a:rPr sz="1500" b="1">
                <a:solidFill>
                  <a:srgbClr val="E8742A"/>
                </a:solidFill>
                <a:latin typeface="Calibri"/>
              </a:rPr>
              <a:t>Precision</a:t>
            </a:r>
          </a:p>
        </p:txBody>
      </p:sp>
      <p:sp>
        <p:nvSpPr>
          <p:cNvPr id="14" name="TextBox 13"/>
          <p:cNvSpPr txBox="1"/>
          <p:nvPr/>
        </p:nvSpPr>
        <p:spPr>
          <a:xfrm>
            <a:off x="3401568" y="2176272"/>
            <a:ext cx="2514600" cy="411480"/>
          </a:xfrm>
          <a:prstGeom prst="rect">
            <a:avLst/>
          </a:prstGeom>
          <a:noFill/>
        </p:spPr>
        <p:txBody>
          <a:bodyPr wrap="square" lIns="45720" tIns="27432" rIns="45720" bIns="27432" anchor="t">
            <a:spAutoFit/>
          </a:bodyPr>
          <a:lstStyle/>
          <a:p>
            <a:pPr algn="ctr"/>
            <a:r>
              <a:rPr sz="1150" b="0">
                <a:solidFill>
                  <a:srgbClr val="5B6778"/>
                </a:solidFill>
                <a:latin typeface="Calibri"/>
              </a:rPr>
              <a:t>Of predicted highly rated, how many truly are</a:t>
            </a:r>
          </a:p>
        </p:txBody>
      </p:sp>
      <p:sp>
        <p:nvSpPr>
          <p:cNvPr id="15" name="Rounded Rectangle 14"/>
          <p:cNvSpPr/>
          <p:nvPr/>
        </p:nvSpPr>
        <p:spPr>
          <a:xfrm>
            <a:off x="6163056" y="1188720"/>
            <a:ext cx="269748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63056" y="1216152"/>
            <a:ext cx="2697480" cy="685800"/>
          </a:xfrm>
          <a:prstGeom prst="rect">
            <a:avLst/>
          </a:prstGeom>
          <a:noFill/>
        </p:spPr>
        <p:txBody>
          <a:bodyPr wrap="square" lIns="45720" tIns="27432" rIns="45720" bIns="27432" anchor="t">
            <a:spAutoFit/>
          </a:bodyPr>
          <a:lstStyle/>
          <a:p>
            <a:pPr algn="ctr"/>
            <a:r>
              <a:rPr sz="3600" b="1">
                <a:solidFill>
                  <a:srgbClr val="1F3756"/>
                </a:solidFill>
                <a:latin typeface="Calibri"/>
              </a:rPr>
              <a:t>67.1%</a:t>
            </a:r>
          </a:p>
        </p:txBody>
      </p:sp>
      <p:sp>
        <p:nvSpPr>
          <p:cNvPr id="17" name="TextBox 16"/>
          <p:cNvSpPr txBox="1"/>
          <p:nvPr/>
        </p:nvSpPr>
        <p:spPr>
          <a:xfrm>
            <a:off x="6163056" y="1856231"/>
            <a:ext cx="2697480" cy="320040"/>
          </a:xfrm>
          <a:prstGeom prst="rect">
            <a:avLst/>
          </a:prstGeom>
          <a:noFill/>
        </p:spPr>
        <p:txBody>
          <a:bodyPr wrap="square" lIns="45720" tIns="27432" rIns="45720" bIns="27432" anchor="t">
            <a:spAutoFit/>
          </a:bodyPr>
          <a:lstStyle/>
          <a:p>
            <a:pPr algn="ctr"/>
            <a:r>
              <a:rPr sz="1500" b="1">
                <a:solidFill>
                  <a:srgbClr val="E8742A"/>
                </a:solidFill>
                <a:latin typeface="Calibri"/>
              </a:rPr>
              <a:t>Recall</a:t>
            </a:r>
          </a:p>
        </p:txBody>
      </p:sp>
      <p:sp>
        <p:nvSpPr>
          <p:cNvPr id="18" name="TextBox 17"/>
          <p:cNvSpPr txBox="1"/>
          <p:nvPr/>
        </p:nvSpPr>
        <p:spPr>
          <a:xfrm>
            <a:off x="6254496" y="2176272"/>
            <a:ext cx="2514600" cy="411480"/>
          </a:xfrm>
          <a:prstGeom prst="rect">
            <a:avLst/>
          </a:prstGeom>
          <a:noFill/>
        </p:spPr>
        <p:txBody>
          <a:bodyPr wrap="square" lIns="45720" tIns="27432" rIns="45720" bIns="27432" anchor="t">
            <a:spAutoFit/>
          </a:bodyPr>
          <a:lstStyle/>
          <a:p>
            <a:pPr algn="ctr"/>
            <a:r>
              <a:rPr sz="1150" b="0">
                <a:solidFill>
                  <a:srgbClr val="5B6778"/>
                </a:solidFill>
                <a:latin typeface="Calibri"/>
              </a:rPr>
              <a:t>Of truly highly rated, how many were found</a:t>
            </a:r>
          </a:p>
        </p:txBody>
      </p:sp>
      <p:sp>
        <p:nvSpPr>
          <p:cNvPr id="19" name="Rounded Rectangle 18"/>
          <p:cNvSpPr/>
          <p:nvPr/>
        </p:nvSpPr>
        <p:spPr>
          <a:xfrm>
            <a:off x="9015984" y="1188720"/>
            <a:ext cx="2697480" cy="1417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015984" y="1216152"/>
            <a:ext cx="2697480" cy="685800"/>
          </a:xfrm>
          <a:prstGeom prst="rect">
            <a:avLst/>
          </a:prstGeom>
          <a:noFill/>
        </p:spPr>
        <p:txBody>
          <a:bodyPr wrap="square" lIns="45720" tIns="27432" rIns="45720" bIns="27432" anchor="t">
            <a:spAutoFit/>
          </a:bodyPr>
          <a:lstStyle/>
          <a:p>
            <a:pPr algn="ctr"/>
            <a:r>
              <a:rPr sz="3600" b="1">
                <a:solidFill>
                  <a:srgbClr val="1F3756"/>
                </a:solidFill>
                <a:latin typeface="Calibri"/>
              </a:rPr>
              <a:t>75.8%</a:t>
            </a:r>
          </a:p>
        </p:txBody>
      </p:sp>
      <p:sp>
        <p:nvSpPr>
          <p:cNvPr id="21" name="TextBox 20"/>
          <p:cNvSpPr txBox="1"/>
          <p:nvPr/>
        </p:nvSpPr>
        <p:spPr>
          <a:xfrm>
            <a:off x="9015984" y="1856231"/>
            <a:ext cx="2697480" cy="320040"/>
          </a:xfrm>
          <a:prstGeom prst="rect">
            <a:avLst/>
          </a:prstGeom>
          <a:noFill/>
        </p:spPr>
        <p:txBody>
          <a:bodyPr wrap="square" lIns="45720" tIns="27432" rIns="45720" bIns="27432" anchor="t">
            <a:spAutoFit/>
          </a:bodyPr>
          <a:lstStyle/>
          <a:p>
            <a:pPr algn="ctr"/>
            <a:r>
              <a:rPr sz="1500" b="1">
                <a:solidFill>
                  <a:srgbClr val="E8742A"/>
                </a:solidFill>
                <a:latin typeface="Calibri"/>
              </a:rPr>
              <a:t>F1 Score</a:t>
            </a:r>
          </a:p>
        </p:txBody>
      </p:sp>
      <p:sp>
        <p:nvSpPr>
          <p:cNvPr id="22" name="TextBox 21"/>
          <p:cNvSpPr txBox="1"/>
          <p:nvPr/>
        </p:nvSpPr>
        <p:spPr>
          <a:xfrm>
            <a:off x="9107424" y="2176272"/>
            <a:ext cx="2514600" cy="411480"/>
          </a:xfrm>
          <a:prstGeom prst="rect">
            <a:avLst/>
          </a:prstGeom>
          <a:noFill/>
        </p:spPr>
        <p:txBody>
          <a:bodyPr wrap="square" lIns="45720" tIns="27432" rIns="45720" bIns="27432" anchor="t">
            <a:spAutoFit/>
          </a:bodyPr>
          <a:lstStyle/>
          <a:p>
            <a:pPr algn="ctr"/>
            <a:r>
              <a:rPr sz="1150" b="0">
                <a:solidFill>
                  <a:srgbClr val="5B6778"/>
                </a:solidFill>
                <a:latin typeface="Calibri"/>
              </a:rPr>
              <a:t>Balance of precision &amp; recall</a:t>
            </a:r>
          </a:p>
        </p:txBody>
      </p:sp>
      <p:sp>
        <p:nvSpPr>
          <p:cNvPr id="23" name="TextBox 22"/>
          <p:cNvSpPr txBox="1"/>
          <p:nvPr/>
        </p:nvSpPr>
        <p:spPr>
          <a:xfrm>
            <a:off x="457200" y="2788920"/>
            <a:ext cx="5486400" cy="320040"/>
          </a:xfrm>
          <a:prstGeom prst="rect">
            <a:avLst/>
          </a:prstGeom>
          <a:noFill/>
        </p:spPr>
        <p:txBody>
          <a:bodyPr wrap="square" lIns="45720" tIns="27432" rIns="45720" bIns="27432" anchor="t">
            <a:spAutoFit/>
          </a:bodyPr>
          <a:lstStyle/>
          <a:p>
            <a:pPr algn="l"/>
            <a:r>
              <a:rPr sz="1300" b="1">
                <a:solidFill>
                  <a:srgbClr val="E8742A"/>
                </a:solidFill>
                <a:latin typeface="Calibri"/>
              </a:rPr>
              <a:t>METRICS vs MAJORITY BASELINE</a:t>
            </a:r>
          </a:p>
        </p:txBody>
      </p:sp>
      <p:pic>
        <p:nvPicPr>
          <p:cNvPr id="24" name="Picture 23" descr="metrics.png"/>
          <p:cNvPicPr>
            <a:picLocks noChangeAspect="1"/>
          </p:cNvPicPr>
          <p:nvPr/>
        </p:nvPicPr>
        <p:blipFill>
          <a:blip r:embed="rId3"/>
          <a:stretch>
            <a:fillRect/>
          </a:stretch>
        </p:blipFill>
        <p:spPr>
          <a:xfrm>
            <a:off x="457200" y="3108960"/>
            <a:ext cx="4724400" cy="3200400"/>
          </a:xfrm>
          <a:prstGeom prst="rect">
            <a:avLst/>
          </a:prstGeom>
        </p:spPr>
      </p:pic>
      <p:sp>
        <p:nvSpPr>
          <p:cNvPr id="25" name="TextBox 24"/>
          <p:cNvSpPr txBox="1"/>
          <p:nvPr/>
        </p:nvSpPr>
        <p:spPr>
          <a:xfrm>
            <a:off x="5806440" y="2788920"/>
            <a:ext cx="2926080" cy="320040"/>
          </a:xfrm>
          <a:prstGeom prst="rect">
            <a:avLst/>
          </a:prstGeom>
          <a:noFill/>
        </p:spPr>
        <p:txBody>
          <a:bodyPr wrap="square" lIns="45720" tIns="27432" rIns="45720" bIns="27432" anchor="t">
            <a:spAutoFit/>
          </a:bodyPr>
          <a:lstStyle/>
          <a:p>
            <a:pPr algn="l"/>
            <a:r>
              <a:rPr sz="1300" b="1">
                <a:solidFill>
                  <a:srgbClr val="E8742A"/>
                </a:solidFill>
                <a:latin typeface="Calibri"/>
              </a:rPr>
              <a:t>CONFUSION MATRIX (n = 1,481)</a:t>
            </a:r>
          </a:p>
        </p:txBody>
      </p:sp>
      <p:pic>
        <p:nvPicPr>
          <p:cNvPr id="26" name="Picture 25" descr="cm.png"/>
          <p:cNvPicPr>
            <a:picLocks noChangeAspect="1"/>
          </p:cNvPicPr>
          <p:nvPr/>
        </p:nvPicPr>
        <p:blipFill>
          <a:blip r:embed="rId4"/>
          <a:stretch>
            <a:fillRect/>
          </a:stretch>
        </p:blipFill>
        <p:spPr>
          <a:xfrm>
            <a:off x="5806440" y="3108960"/>
            <a:ext cx="3810000" cy="3200400"/>
          </a:xfrm>
          <a:prstGeom prst="rect">
            <a:avLst/>
          </a:prstGeom>
        </p:spPr>
      </p:pic>
      <p:sp>
        <p:nvSpPr>
          <p:cNvPr id="27" name="Rounded Rectangle 26"/>
          <p:cNvSpPr/>
          <p:nvPr/>
        </p:nvSpPr>
        <p:spPr>
          <a:xfrm>
            <a:off x="9555480" y="3108960"/>
            <a:ext cx="2240280" cy="320040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555480" y="3218688"/>
            <a:ext cx="64008" cy="298094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738359" y="3182112"/>
            <a:ext cx="1965960" cy="365760"/>
          </a:xfrm>
          <a:prstGeom prst="rect">
            <a:avLst/>
          </a:prstGeom>
          <a:noFill/>
        </p:spPr>
        <p:txBody>
          <a:bodyPr wrap="square" lIns="45720" tIns="27432" rIns="45720" bIns="27432" anchor="t">
            <a:spAutoFit/>
          </a:bodyPr>
          <a:lstStyle/>
          <a:p>
            <a:pPr algn="l"/>
            <a:r>
              <a:rPr sz="1350" b="1">
                <a:solidFill>
                  <a:srgbClr val="1F3756"/>
                </a:solidFill>
                <a:latin typeface="Calibri"/>
              </a:rPr>
              <a:t>Reading it</a:t>
            </a:r>
          </a:p>
        </p:txBody>
      </p:sp>
      <p:sp>
        <p:nvSpPr>
          <p:cNvPr id="30" name="TextBox 29"/>
          <p:cNvSpPr txBox="1"/>
          <p:nvPr/>
        </p:nvSpPr>
        <p:spPr>
          <a:xfrm>
            <a:off x="9738359" y="3566160"/>
            <a:ext cx="1965960" cy="2697480"/>
          </a:xfrm>
          <a:prstGeom prst="rect">
            <a:avLst/>
          </a:prstGeom>
          <a:noFill/>
        </p:spPr>
        <p:txBody>
          <a:bodyPr wrap="square" lIns="45720" tIns="27432" rIns="45720" bIns="27432" anchor="t">
            <a:spAutoFit/>
          </a:bodyPr>
          <a:lstStyle/>
          <a:p>
            <a:pPr algn="l"/>
            <a:r>
              <a:rPr sz="1150" b="0">
                <a:solidFill>
                  <a:srgbClr val="262F3D"/>
                </a:solidFill>
                <a:latin typeface="Calibri"/>
              </a:rPr>
              <a:t>TP 467 · TN 716
FP 69 · FN 229
Matrix computed on the held-out test set (1,481 rows, 696 Y / 785 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tIns="27432" rIns="45720" bIns="27432" anchor="ctr">
            <a:spAutoFit/>
          </a:bodyPr>
          <a:lstStyle/>
          <a:p>
            <a:pPr algn="l"/>
            <a:r>
              <a:rPr sz="2600" b="1">
                <a:solidFill>
                  <a:srgbClr val="1F3756"/>
                </a:solidFill>
                <a:latin typeface="Calibri"/>
              </a:rPr>
              <a:t>ACCURACY — INTERPRETATION</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607040" y="6473952"/>
            <a:ext cx="1280160" cy="274320"/>
          </a:xfrm>
          <a:prstGeom prst="rect">
            <a:avLst/>
          </a:prstGeom>
          <a:noFill/>
        </p:spPr>
        <p:txBody>
          <a:bodyPr wrap="square" lIns="45720" tIns="27432" rIns="45720" bIns="27432" anchor="t">
            <a:spAutoFit/>
          </a:bodyPr>
          <a:lstStyle/>
          <a:p>
            <a:pPr algn="r"/>
            <a:r>
              <a:rPr sz="1100" b="0">
                <a:solidFill>
                  <a:srgbClr val="5B6778"/>
                </a:solidFill>
                <a:latin typeface="Calibri"/>
              </a:rPr>
              <a:t>Review 3  |  18</a:t>
            </a:r>
          </a:p>
        </p:txBody>
      </p:sp>
      <p:sp>
        <p:nvSpPr>
          <p:cNvPr id="7" name="Rounded Rectangle 6"/>
          <p:cNvSpPr/>
          <p:nvPr/>
        </p:nvSpPr>
        <p:spPr>
          <a:xfrm>
            <a:off x="457200" y="1188720"/>
            <a:ext cx="5532120" cy="228600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298448"/>
            <a:ext cx="64008" cy="2066543"/>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261872"/>
            <a:ext cx="5257800" cy="365760"/>
          </a:xfrm>
          <a:prstGeom prst="rect">
            <a:avLst/>
          </a:prstGeom>
          <a:noFill/>
        </p:spPr>
        <p:txBody>
          <a:bodyPr wrap="square" lIns="45720" tIns="27432" rIns="45720" bIns="27432" anchor="t">
            <a:spAutoFit/>
          </a:bodyPr>
          <a:lstStyle/>
          <a:p>
            <a:pPr algn="l"/>
            <a:r>
              <a:rPr sz="1900" b="1">
                <a:solidFill>
                  <a:srgbClr val="1F3756"/>
                </a:solidFill>
                <a:latin typeface="Calibri"/>
              </a:rPr>
              <a:t>What the numbers say</a:t>
            </a:r>
          </a:p>
        </p:txBody>
      </p:sp>
      <p:sp>
        <p:nvSpPr>
          <p:cNvPr id="10" name="TextBox 9"/>
          <p:cNvSpPr txBox="1"/>
          <p:nvPr/>
        </p:nvSpPr>
        <p:spPr>
          <a:xfrm>
            <a:off x="640080" y="1645920"/>
            <a:ext cx="5257800" cy="1783080"/>
          </a:xfrm>
          <a:prstGeom prst="rect">
            <a:avLst/>
          </a:prstGeom>
          <a:noFill/>
        </p:spPr>
        <p:txBody>
          <a:bodyPr wrap="square" lIns="45720" tIns="27432" rIns="45720" bIns="27432" anchor="t">
            <a:spAutoFit/>
          </a:bodyPr>
          <a:lstStyle/>
          <a:p>
            <a:pPr algn="l"/>
            <a:r>
              <a:rPr sz="1700" b="0">
                <a:solidFill>
                  <a:srgbClr val="262F3D"/>
                </a:solidFill>
                <a:latin typeface="Calibri"/>
              </a:rPr>
              <a:t>79.9% of the 1,481 test restaurants were classified correctly (1,183 of 1,481). The model finds 67.1% of highly rated restaurants, and when it predicts "Highly rated" it is right 87.1% of the time.</a:t>
            </a:r>
          </a:p>
        </p:txBody>
      </p:sp>
      <p:sp>
        <p:nvSpPr>
          <p:cNvPr id="11" name="Rounded Rectangle 10"/>
          <p:cNvSpPr/>
          <p:nvPr/>
        </p:nvSpPr>
        <p:spPr>
          <a:xfrm>
            <a:off x="6217920" y="1188720"/>
            <a:ext cx="5532120" cy="228600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17920" y="1298448"/>
            <a:ext cx="64008" cy="2066543"/>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1261872"/>
            <a:ext cx="5257800" cy="365760"/>
          </a:xfrm>
          <a:prstGeom prst="rect">
            <a:avLst/>
          </a:prstGeom>
          <a:noFill/>
        </p:spPr>
        <p:txBody>
          <a:bodyPr wrap="square" lIns="45720" tIns="27432" rIns="45720" bIns="27432" anchor="t">
            <a:spAutoFit/>
          </a:bodyPr>
          <a:lstStyle/>
          <a:p>
            <a:pPr algn="l"/>
            <a:r>
              <a:rPr sz="1900" b="1">
                <a:solidFill>
                  <a:srgbClr val="A93A2A"/>
                </a:solidFill>
                <a:latin typeface="Calibri"/>
              </a:rPr>
              <a:t>Honest caveat</a:t>
            </a:r>
          </a:p>
        </p:txBody>
      </p:sp>
      <p:sp>
        <p:nvSpPr>
          <p:cNvPr id="14" name="TextBox 13"/>
          <p:cNvSpPr txBox="1"/>
          <p:nvPr/>
        </p:nvSpPr>
        <p:spPr>
          <a:xfrm>
            <a:off x="6400800" y="1645920"/>
            <a:ext cx="5257800" cy="1783080"/>
          </a:xfrm>
          <a:prstGeom prst="rect">
            <a:avLst/>
          </a:prstGeom>
          <a:noFill/>
        </p:spPr>
        <p:txBody>
          <a:bodyPr wrap="square" lIns="45720" tIns="27432" rIns="45720" bIns="27432" anchor="t">
            <a:spAutoFit/>
          </a:bodyPr>
          <a:lstStyle/>
          <a:p>
            <a:pPr algn="l"/>
            <a:r>
              <a:rPr sz="1700" b="0">
                <a:solidFill>
                  <a:srgbClr val="262F3D"/>
                </a:solidFill>
                <a:latin typeface="Calibri"/>
              </a:rPr>
              <a:t>Always guessing the majority class (Not highly rated) scores 53.0%. Our model beats that by 26.9 points and correctly identifies 716 of 785 low-rated restaurants (91.2% specificity), but it misses 229 of 696 highly rated ones.</a:t>
            </a:r>
          </a:p>
        </p:txBody>
      </p:sp>
      <p:sp>
        <p:nvSpPr>
          <p:cNvPr id="15" name="Rounded Rectangle 14"/>
          <p:cNvSpPr/>
          <p:nvPr/>
        </p:nvSpPr>
        <p:spPr>
          <a:xfrm>
            <a:off x="457200" y="3657600"/>
            <a:ext cx="5532120" cy="2560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7200" y="3767328"/>
            <a:ext cx="64008" cy="2340863"/>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3730752"/>
            <a:ext cx="5257800" cy="365760"/>
          </a:xfrm>
          <a:prstGeom prst="rect">
            <a:avLst/>
          </a:prstGeom>
          <a:noFill/>
        </p:spPr>
        <p:txBody>
          <a:bodyPr wrap="square" lIns="45720" tIns="27432" rIns="45720" bIns="27432" anchor="t">
            <a:spAutoFit/>
          </a:bodyPr>
          <a:lstStyle/>
          <a:p>
            <a:pPr algn="l"/>
            <a:r>
              <a:rPr sz="1900" b="1">
                <a:solidFill>
                  <a:srgbClr val="1F3756"/>
                </a:solidFill>
                <a:latin typeface="Calibri"/>
              </a:rPr>
              <a:t>Why recall is lower</a:t>
            </a:r>
          </a:p>
        </p:txBody>
      </p:sp>
      <p:sp>
        <p:nvSpPr>
          <p:cNvPr id="18" name="TextBox 17"/>
          <p:cNvSpPr txBox="1"/>
          <p:nvPr/>
        </p:nvSpPr>
        <p:spPr>
          <a:xfrm>
            <a:off x="640080" y="4114800"/>
            <a:ext cx="5257800" cy="2057400"/>
          </a:xfrm>
          <a:prstGeom prst="rect">
            <a:avLst/>
          </a:prstGeom>
          <a:noFill/>
        </p:spPr>
        <p:txBody>
          <a:bodyPr wrap="square" lIns="45720" tIns="27432" rIns="45720" bIns="27432" anchor="t">
            <a:spAutoFit/>
          </a:bodyPr>
          <a:lstStyle/>
          <a:p>
            <a:pPr algn="l"/>
            <a:r>
              <a:rPr sz="1700" b="0">
                <a:solidFill>
                  <a:srgbClr val="262F3D"/>
                </a:solidFill>
                <a:latin typeface="Calibri"/>
              </a:rPr>
              <a:t>Only 6 basic features are used. Votes is heavily skewed (a few restaurants have thousands) and Logistic Regression treats every feature linearly. Precision (87.1%) is well above recall (67.1%) at the default 0.5 threshold.</a:t>
            </a:r>
          </a:p>
        </p:txBody>
      </p:sp>
      <p:sp>
        <p:nvSpPr>
          <p:cNvPr id="19" name="Rounded Rectangle 18"/>
          <p:cNvSpPr/>
          <p:nvPr/>
        </p:nvSpPr>
        <p:spPr>
          <a:xfrm>
            <a:off x="6217920" y="3657600"/>
            <a:ext cx="5532120" cy="256032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17920" y="3767328"/>
            <a:ext cx="64008" cy="2340863"/>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0" y="3730752"/>
            <a:ext cx="5257800" cy="365760"/>
          </a:xfrm>
          <a:prstGeom prst="rect">
            <a:avLst/>
          </a:prstGeom>
          <a:noFill/>
        </p:spPr>
        <p:txBody>
          <a:bodyPr wrap="square" lIns="45720" tIns="27432" rIns="45720" bIns="27432" anchor="t">
            <a:spAutoFit/>
          </a:bodyPr>
          <a:lstStyle/>
          <a:p>
            <a:pPr algn="l"/>
            <a:r>
              <a:rPr sz="1900" b="1">
                <a:solidFill>
                  <a:srgbClr val="2E7D4F"/>
                </a:solidFill>
                <a:latin typeface="Calibri"/>
              </a:rPr>
              <a:t>How to improve</a:t>
            </a:r>
          </a:p>
        </p:txBody>
      </p:sp>
      <p:sp>
        <p:nvSpPr>
          <p:cNvPr id="22" name="TextBox 21"/>
          <p:cNvSpPr txBox="1"/>
          <p:nvPr/>
        </p:nvSpPr>
        <p:spPr>
          <a:xfrm>
            <a:off x="6400800" y="4114800"/>
            <a:ext cx="5257800" cy="2057400"/>
          </a:xfrm>
          <a:prstGeom prst="rect">
            <a:avLst/>
          </a:prstGeom>
          <a:noFill/>
        </p:spPr>
        <p:txBody>
          <a:bodyPr wrap="square" lIns="45720" tIns="27432" rIns="45720" bIns="27432" anchor="t">
            <a:spAutoFit/>
          </a:bodyPr>
          <a:lstStyle/>
          <a:p>
            <a:pPr algn="l"/>
            <a:r>
              <a:rPr sz="1700" b="0">
                <a:solidFill>
                  <a:srgbClr val="262F3D"/>
                </a:solidFill>
                <a:latin typeface="Calibri"/>
              </a:rPr>
              <a:t>Log-transform Votes, add city and cuisine features, try Random Forest or Gradient Boosting, tune the decision threshold to raise recall, and use cross-validation.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tIns="27432" rIns="45720" bIns="27432" anchor="ctr">
            <a:spAutoFit/>
          </a:bodyPr>
          <a:lstStyle/>
          <a:p>
            <a:pPr algn="l"/>
            <a:r>
              <a:rPr sz="2600" b="1">
                <a:solidFill>
                  <a:srgbClr val="1F3756"/>
                </a:solidFill>
                <a:latin typeface="Calibri"/>
              </a:rPr>
              <a:t>DATA VISUALIZATION — WHAT WAS USED &amp; HOW</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607040" y="6473952"/>
            <a:ext cx="1280160" cy="274320"/>
          </a:xfrm>
          <a:prstGeom prst="rect">
            <a:avLst/>
          </a:prstGeom>
          <a:noFill/>
        </p:spPr>
        <p:txBody>
          <a:bodyPr wrap="square" lIns="45720" tIns="27432" rIns="45720" bIns="27432" anchor="t">
            <a:spAutoFit/>
          </a:bodyPr>
          <a:lstStyle/>
          <a:p>
            <a:pPr algn="r"/>
            <a:r>
              <a:rPr sz="1100" b="0">
                <a:solidFill>
                  <a:srgbClr val="5B6778"/>
                </a:solidFill>
                <a:latin typeface="Calibri"/>
              </a:rPr>
              <a:t>Review 3  |  19</a:t>
            </a:r>
          </a:p>
        </p:txBody>
      </p:sp>
      <p:graphicFrame>
        <p:nvGraphicFramePr>
          <p:cNvPr id="7" name="Table 6"/>
          <p:cNvGraphicFramePr>
            <a:graphicFrameLocks noGrp="1"/>
          </p:cNvGraphicFramePr>
          <p:nvPr/>
        </p:nvGraphicFramePr>
        <p:xfrm>
          <a:off x="457200" y="1280160"/>
          <a:ext cx="11292839" cy="3401568"/>
        </p:xfrm>
        <a:graphic>
          <a:graphicData uri="http://schemas.openxmlformats.org/drawingml/2006/table">
            <a:tbl>
              <a:tblPr>
                <a:tableStyleId>{5C22544A-7EE6-4342-B048-85BDC9FD1C3A}</a:tableStyleId>
              </a:tblPr>
              <a:tblGrid>
                <a:gridCol w="28346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3977639">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566928">
                <a:tc>
                  <a:txBody>
                    <a:bodyPr/>
                    <a:lstStyle/>
                    <a:p>
                      <a:r>
                        <a:rPr sz="1300" b="1">
                          <a:solidFill>
                            <a:srgbClr val="FFFFFF"/>
                          </a:solidFill>
                          <a:latin typeface="Calibri"/>
                        </a:rPr>
                        <a:t>Visualization</a:t>
                      </a:r>
                    </a:p>
                  </a:txBody>
                  <a:tcPr marT="27432" marB="27432" anchor="ctr">
                    <a:solidFill>
                      <a:srgbClr val="1F3756"/>
                    </a:solidFill>
                  </a:tcPr>
                </a:tc>
                <a:tc>
                  <a:txBody>
                    <a:bodyPr/>
                    <a:lstStyle/>
                    <a:p>
                      <a:r>
                        <a:rPr sz="1300" b="1">
                          <a:solidFill>
                            <a:srgbClr val="FFFFFF"/>
                          </a:solidFill>
                          <a:latin typeface="Calibri"/>
                        </a:rPr>
                        <a:t>Type</a:t>
                      </a:r>
                    </a:p>
                  </a:txBody>
                  <a:tcPr marT="27432" marB="27432" anchor="ctr">
                    <a:solidFill>
                      <a:srgbClr val="1F3756"/>
                    </a:solidFill>
                  </a:tcPr>
                </a:tc>
                <a:tc>
                  <a:txBody>
                    <a:bodyPr/>
                    <a:lstStyle/>
                    <a:p>
                      <a:r>
                        <a:rPr sz="1300" b="1">
                          <a:solidFill>
                            <a:srgbClr val="FFFFFF"/>
                          </a:solidFill>
                          <a:latin typeface="Calibri"/>
                        </a:rPr>
                        <a:t>Implementation</a:t>
                      </a:r>
                    </a:p>
                  </a:txBody>
                  <a:tcPr marT="27432" marB="27432" anchor="ctr">
                    <a:solidFill>
                      <a:srgbClr val="1F3756"/>
                    </a:solidFill>
                  </a:tcPr>
                </a:tc>
                <a:tc>
                  <a:txBody>
                    <a:bodyPr/>
                    <a:lstStyle/>
                    <a:p>
                      <a:r>
                        <a:rPr sz="1300" b="1">
                          <a:solidFill>
                            <a:srgbClr val="FFFFFF"/>
                          </a:solidFill>
                          <a:latin typeface="Calibri"/>
                        </a:rPr>
                        <a:t>Purpose</a:t>
                      </a:r>
                    </a:p>
                  </a:txBody>
                  <a:tcPr marT="27432" marB="27432" anchor="ctr">
                    <a:solidFill>
                      <a:srgbClr val="1F3756"/>
                    </a:solidFill>
                  </a:tcPr>
                </a:tc>
                <a:extLst>
                  <a:ext uri="{0D108BD9-81ED-4DB2-BD59-A6C34878D82A}">
                    <a16:rowId xmlns:a16="http://schemas.microsoft.com/office/drawing/2014/main" val="10000"/>
                  </a:ext>
                </a:extLst>
              </a:tr>
              <a:tr h="566928">
                <a:tc>
                  <a:txBody>
                    <a:bodyPr/>
                    <a:lstStyle/>
                    <a:p>
                      <a:r>
                        <a:rPr sz="1300" b="1">
                          <a:solidFill>
                            <a:srgbClr val="1F3756"/>
                          </a:solidFill>
                          <a:latin typeface="Calibri"/>
                        </a:rPr>
                        <a:t>Rating Status Distribution</a:t>
                      </a:r>
                    </a:p>
                  </a:txBody>
                  <a:tcPr marT="27432" marB="27432" anchor="ctr">
                    <a:solidFill>
                      <a:srgbClr val="FFFFFF"/>
                    </a:solidFill>
                  </a:tcPr>
                </a:tc>
                <a:tc>
                  <a:txBody>
                    <a:bodyPr/>
                    <a:lstStyle/>
                    <a:p>
                      <a:r>
                        <a:rPr sz="1300">
                          <a:solidFill>
                            <a:srgbClr val="262F3D"/>
                          </a:solidFill>
                          <a:latin typeface="Calibri"/>
                        </a:rPr>
                        <a:t>Bar chart</a:t>
                      </a:r>
                    </a:p>
                  </a:txBody>
                  <a:tcPr marT="27432" marB="27432" anchor="ctr">
                    <a:solidFill>
                      <a:srgbClr val="FFFFFF"/>
                    </a:solidFill>
                  </a:tcPr>
                </a:tc>
                <a:tc>
                  <a:txBody>
                    <a:bodyPr/>
                    <a:lstStyle/>
                    <a:p>
                      <a:r>
                        <a:rPr sz="1300">
                          <a:solidFill>
                            <a:srgbClr val="262F3D"/>
                          </a:solidFill>
                          <a:latin typeface="Calibri"/>
                        </a:rPr>
                        <a:t>value_counts() → plt.bar()</a:t>
                      </a:r>
                    </a:p>
                  </a:txBody>
                  <a:tcPr marT="27432" marB="27432" anchor="ctr">
                    <a:solidFill>
                      <a:srgbClr val="FFFFFF"/>
                    </a:solidFill>
                  </a:tcPr>
                </a:tc>
                <a:tc>
                  <a:txBody>
                    <a:bodyPr/>
                    <a:lstStyle/>
                    <a:p>
                      <a:r>
                        <a:rPr sz="1300">
                          <a:solidFill>
                            <a:srgbClr val="262F3D"/>
                          </a:solidFill>
                          <a:latin typeface="Calibri"/>
                        </a:rPr>
                        <a:t>Show class balance (Y vs N)</a:t>
                      </a:r>
                    </a:p>
                  </a:txBody>
                  <a:tcPr marT="27432" marB="27432" anchor="ctr">
                    <a:solidFill>
                      <a:srgbClr val="FFFFFF"/>
                    </a:solidFill>
                  </a:tcPr>
                </a:tc>
                <a:extLst>
                  <a:ext uri="{0D108BD9-81ED-4DB2-BD59-A6C34878D82A}">
                    <a16:rowId xmlns:a16="http://schemas.microsoft.com/office/drawing/2014/main" val="10001"/>
                  </a:ext>
                </a:extLst>
              </a:tr>
              <a:tr h="566928">
                <a:tc>
                  <a:txBody>
                    <a:bodyPr/>
                    <a:lstStyle/>
                    <a:p>
                      <a:r>
                        <a:rPr sz="1300" b="1">
                          <a:solidFill>
                            <a:srgbClr val="1F3756"/>
                          </a:solidFill>
                          <a:latin typeface="Calibri"/>
                        </a:rPr>
                        <a:t>High-Rating Rate by Price Range</a:t>
                      </a:r>
                    </a:p>
                  </a:txBody>
                  <a:tcPr marT="27432" marB="27432" anchor="ctr">
                    <a:solidFill>
                      <a:srgbClr val="F1F4F9"/>
                    </a:solidFill>
                  </a:tcPr>
                </a:tc>
                <a:tc>
                  <a:txBody>
                    <a:bodyPr/>
                    <a:lstStyle/>
                    <a:p>
                      <a:r>
                        <a:rPr sz="1300">
                          <a:solidFill>
                            <a:srgbClr val="262F3D"/>
                          </a:solidFill>
                          <a:latin typeface="Calibri"/>
                        </a:rPr>
                        <a:t>Bar chart</a:t>
                      </a:r>
                    </a:p>
                  </a:txBody>
                  <a:tcPr marT="27432" marB="27432" anchor="ctr">
                    <a:solidFill>
                      <a:srgbClr val="F1F4F9"/>
                    </a:solidFill>
                  </a:tcPr>
                </a:tc>
                <a:tc>
                  <a:txBody>
                    <a:bodyPr/>
                    <a:lstStyle/>
                    <a:p>
                      <a:r>
                        <a:rPr sz="1300">
                          <a:solidFill>
                            <a:srgbClr val="262F3D"/>
                          </a:solidFill>
                          <a:latin typeface="Calibri"/>
                        </a:rPr>
                        <a:t>groupby('Price range').mean() → plt.bar()</a:t>
                      </a:r>
                    </a:p>
                  </a:txBody>
                  <a:tcPr marT="27432" marB="27432" anchor="ctr">
                    <a:solidFill>
                      <a:srgbClr val="F1F4F9"/>
                    </a:solidFill>
                  </a:tcPr>
                </a:tc>
                <a:tc>
                  <a:txBody>
                    <a:bodyPr/>
                    <a:lstStyle/>
                    <a:p>
                      <a:r>
                        <a:rPr sz="1300">
                          <a:solidFill>
                            <a:srgbClr val="262F3D"/>
                          </a:solidFill>
                          <a:latin typeface="Calibri"/>
                        </a:rPr>
                        <a:t>Show how price range affects ratings</a:t>
                      </a:r>
                    </a:p>
                  </a:txBody>
                  <a:tcPr marT="27432" marB="27432" anchor="ctr">
                    <a:solidFill>
                      <a:srgbClr val="F1F4F9"/>
                    </a:solidFill>
                  </a:tcPr>
                </a:tc>
                <a:extLst>
                  <a:ext uri="{0D108BD9-81ED-4DB2-BD59-A6C34878D82A}">
                    <a16:rowId xmlns:a16="http://schemas.microsoft.com/office/drawing/2014/main" val="10002"/>
                  </a:ext>
                </a:extLst>
              </a:tr>
              <a:tr h="566928">
                <a:tc>
                  <a:txBody>
                    <a:bodyPr/>
                    <a:lstStyle/>
                    <a:p>
                      <a:r>
                        <a:rPr sz="1300" b="1">
                          <a:solidFill>
                            <a:srgbClr val="1F3756"/>
                          </a:solidFill>
                          <a:latin typeface="Calibri"/>
                        </a:rPr>
                        <a:t>High-Rating Rate by City</a:t>
                      </a:r>
                    </a:p>
                  </a:txBody>
                  <a:tcPr marT="27432" marB="27432" anchor="ctr">
                    <a:solidFill>
                      <a:srgbClr val="FFFFFF"/>
                    </a:solidFill>
                  </a:tcPr>
                </a:tc>
                <a:tc>
                  <a:txBody>
                    <a:bodyPr/>
                    <a:lstStyle/>
                    <a:p>
                      <a:r>
                        <a:rPr sz="1300">
                          <a:solidFill>
                            <a:srgbClr val="262F3D"/>
                          </a:solidFill>
                          <a:latin typeface="Calibri"/>
                        </a:rPr>
                        <a:t>Bar chart</a:t>
                      </a:r>
                    </a:p>
                  </a:txBody>
                  <a:tcPr marT="27432" marB="27432" anchor="ctr">
                    <a:solidFill>
                      <a:srgbClr val="FFFFFF"/>
                    </a:solidFill>
                  </a:tcPr>
                </a:tc>
                <a:tc>
                  <a:txBody>
                    <a:bodyPr/>
                    <a:lstStyle/>
                    <a:p>
                      <a:r>
                        <a:rPr sz="1300">
                          <a:solidFill>
                            <a:srgbClr val="262F3D"/>
                          </a:solidFill>
                          <a:latin typeface="Calibri"/>
                        </a:rPr>
                        <a:t>groupby('City').mean() → plt.bar()</a:t>
                      </a:r>
                    </a:p>
                  </a:txBody>
                  <a:tcPr marT="27432" marB="27432" anchor="ctr">
                    <a:solidFill>
                      <a:srgbClr val="FFFFFF"/>
                    </a:solidFill>
                  </a:tcPr>
                </a:tc>
                <a:tc>
                  <a:txBody>
                    <a:bodyPr/>
                    <a:lstStyle/>
                    <a:p>
                      <a:r>
                        <a:rPr sz="1300">
                          <a:solidFill>
                            <a:srgbClr val="262F3D"/>
                          </a:solidFill>
                          <a:latin typeface="Calibri"/>
                        </a:rPr>
                        <a:t>Compare the 5 largest cities</a:t>
                      </a:r>
                    </a:p>
                  </a:txBody>
                  <a:tcPr marT="27432" marB="27432" anchor="ctr">
                    <a:solidFill>
                      <a:srgbClr val="FFFFFF"/>
                    </a:solidFill>
                  </a:tcPr>
                </a:tc>
                <a:extLst>
                  <a:ext uri="{0D108BD9-81ED-4DB2-BD59-A6C34878D82A}">
                    <a16:rowId xmlns:a16="http://schemas.microsoft.com/office/drawing/2014/main" val="10003"/>
                  </a:ext>
                </a:extLst>
              </a:tr>
              <a:tr h="566928">
                <a:tc>
                  <a:txBody>
                    <a:bodyPr/>
                    <a:lstStyle/>
                    <a:p>
                      <a:r>
                        <a:rPr sz="1300" b="1">
                          <a:solidFill>
                            <a:srgbClr val="1F3756"/>
                          </a:solidFill>
                          <a:latin typeface="Calibri"/>
                        </a:rPr>
                        <a:t>High-Rating Rate by Cuisine</a:t>
                      </a:r>
                    </a:p>
                  </a:txBody>
                  <a:tcPr marT="27432" marB="27432" anchor="ctr">
                    <a:solidFill>
                      <a:srgbClr val="F1F4F9"/>
                    </a:solidFill>
                  </a:tcPr>
                </a:tc>
                <a:tc>
                  <a:txBody>
                    <a:bodyPr/>
                    <a:lstStyle/>
                    <a:p>
                      <a:r>
                        <a:rPr sz="1300">
                          <a:solidFill>
                            <a:srgbClr val="262F3D"/>
                          </a:solidFill>
                          <a:latin typeface="Calibri"/>
                        </a:rPr>
                        <a:t>Bar chart</a:t>
                      </a:r>
                    </a:p>
                  </a:txBody>
                  <a:tcPr marT="27432" marB="27432" anchor="ctr">
                    <a:solidFill>
                      <a:srgbClr val="F1F4F9"/>
                    </a:solidFill>
                  </a:tcPr>
                </a:tc>
                <a:tc>
                  <a:txBody>
                    <a:bodyPr/>
                    <a:lstStyle/>
                    <a:p>
                      <a:r>
                        <a:rPr sz="1300">
                          <a:solidFill>
                            <a:srgbClr val="262F3D"/>
                          </a:solidFill>
                          <a:latin typeface="Calibri"/>
                        </a:rPr>
                        <a:t>groupby('Primary_Cuisine').mean() → plt.bar()</a:t>
                      </a:r>
                    </a:p>
                  </a:txBody>
                  <a:tcPr marT="27432" marB="27432" anchor="ctr">
                    <a:solidFill>
                      <a:srgbClr val="F1F4F9"/>
                    </a:solidFill>
                  </a:tcPr>
                </a:tc>
                <a:tc>
                  <a:txBody>
                    <a:bodyPr/>
                    <a:lstStyle/>
                    <a:p>
                      <a:r>
                        <a:rPr sz="1300">
                          <a:solidFill>
                            <a:srgbClr val="262F3D"/>
                          </a:solidFill>
                          <a:latin typeface="Calibri"/>
                        </a:rPr>
                        <a:t>Compare the 5 most common cuisines</a:t>
                      </a:r>
                    </a:p>
                  </a:txBody>
                  <a:tcPr marT="27432" marB="27432" anchor="ctr">
                    <a:solidFill>
                      <a:srgbClr val="F1F4F9"/>
                    </a:solidFill>
                  </a:tcPr>
                </a:tc>
                <a:extLst>
                  <a:ext uri="{0D108BD9-81ED-4DB2-BD59-A6C34878D82A}">
                    <a16:rowId xmlns:a16="http://schemas.microsoft.com/office/drawing/2014/main" val="10004"/>
                  </a:ext>
                </a:extLst>
              </a:tr>
              <a:tr h="566928">
                <a:tc>
                  <a:txBody>
                    <a:bodyPr/>
                    <a:lstStyle/>
                    <a:p>
                      <a:r>
                        <a:rPr sz="1300" b="1">
                          <a:solidFill>
                            <a:srgbClr val="1F3756"/>
                          </a:solidFill>
                          <a:latin typeface="Calibri"/>
                        </a:rPr>
                        <a:t>Confusion Matrix / Metrics</a:t>
                      </a:r>
                    </a:p>
                  </a:txBody>
                  <a:tcPr marT="27432" marB="27432" anchor="ctr">
                    <a:solidFill>
                      <a:srgbClr val="FFFFFF"/>
                    </a:solidFill>
                  </a:tcPr>
                </a:tc>
                <a:tc>
                  <a:txBody>
                    <a:bodyPr/>
                    <a:lstStyle/>
                    <a:p>
                      <a:r>
                        <a:rPr sz="1300">
                          <a:solidFill>
                            <a:srgbClr val="262F3D"/>
                          </a:solidFill>
                          <a:latin typeface="Calibri"/>
                        </a:rPr>
                        <a:t>Heatmap &amp; bar</a:t>
                      </a:r>
                    </a:p>
                  </a:txBody>
                  <a:tcPr marT="27432" marB="27432" anchor="ctr">
                    <a:solidFill>
                      <a:srgbClr val="FFFFFF"/>
                    </a:solidFill>
                  </a:tcPr>
                </a:tc>
                <a:tc>
                  <a:txBody>
                    <a:bodyPr/>
                    <a:lstStyle/>
                    <a:p>
                      <a:r>
                        <a:rPr sz="1300">
                          <a:solidFill>
                            <a:srgbClr val="262F3D"/>
                          </a:solidFill>
                          <a:latin typeface="Calibri"/>
                        </a:rPr>
                        <a:t>confusion_matrix() → imshow()</a:t>
                      </a:r>
                    </a:p>
                  </a:txBody>
                  <a:tcPr marT="27432" marB="27432" anchor="ctr">
                    <a:solidFill>
                      <a:srgbClr val="FFFFFF"/>
                    </a:solidFill>
                  </a:tcPr>
                </a:tc>
                <a:tc>
                  <a:txBody>
                    <a:bodyPr/>
                    <a:lstStyle/>
                    <a:p>
                      <a:r>
                        <a:rPr sz="1300">
                          <a:solidFill>
                            <a:srgbClr val="262F3D"/>
                          </a:solidFill>
                          <a:latin typeface="Calibri"/>
                        </a:rPr>
                        <a:t>Evaluate model errors</a:t>
                      </a:r>
                    </a:p>
                  </a:txBody>
                  <a:tcPr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8" name="Rounded Rectangle 7"/>
          <p:cNvSpPr/>
          <p:nvPr/>
        </p:nvSpPr>
        <p:spPr>
          <a:xfrm>
            <a:off x="457200" y="4892040"/>
            <a:ext cx="5532120" cy="137160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5001768"/>
            <a:ext cx="64008" cy="115214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4965192"/>
            <a:ext cx="5257800" cy="365760"/>
          </a:xfrm>
          <a:prstGeom prst="rect">
            <a:avLst/>
          </a:prstGeom>
          <a:noFill/>
        </p:spPr>
        <p:txBody>
          <a:bodyPr wrap="square" lIns="45720" tIns="27432" rIns="45720" bIns="27432" anchor="t">
            <a:spAutoFit/>
          </a:bodyPr>
          <a:lstStyle/>
          <a:p>
            <a:pPr algn="l"/>
            <a:r>
              <a:rPr sz="1750" b="1">
                <a:solidFill>
                  <a:srgbClr val="1F3756"/>
                </a:solidFill>
                <a:latin typeface="Calibri"/>
              </a:rPr>
              <a:t>Library</a:t>
            </a:r>
          </a:p>
        </p:txBody>
      </p:sp>
      <p:sp>
        <p:nvSpPr>
          <p:cNvPr id="11" name="TextBox 10"/>
          <p:cNvSpPr txBox="1"/>
          <p:nvPr/>
        </p:nvSpPr>
        <p:spPr>
          <a:xfrm>
            <a:off x="640080" y="5349240"/>
            <a:ext cx="5257800" cy="868680"/>
          </a:xfrm>
          <a:prstGeom prst="rect">
            <a:avLst/>
          </a:prstGeom>
          <a:noFill/>
        </p:spPr>
        <p:txBody>
          <a:bodyPr wrap="square" lIns="45720" tIns="27432" rIns="45720" bIns="27432" anchor="t">
            <a:spAutoFit/>
          </a:bodyPr>
          <a:lstStyle/>
          <a:p>
            <a:pPr algn="l"/>
            <a:r>
              <a:rPr sz="1550" b="0">
                <a:solidFill>
                  <a:srgbClr val="262F3D"/>
                </a:solidFill>
                <a:latin typeface="Calibri"/>
              </a:rPr>
              <a:t>Matplotlib (pyplot) with Pandas groupby / aggregation feeding each chart.</a:t>
            </a:r>
          </a:p>
        </p:txBody>
      </p:sp>
      <p:sp>
        <p:nvSpPr>
          <p:cNvPr id="12" name="Rounded Rectangle 11"/>
          <p:cNvSpPr/>
          <p:nvPr/>
        </p:nvSpPr>
        <p:spPr>
          <a:xfrm>
            <a:off x="6217920" y="4892040"/>
            <a:ext cx="5532120" cy="137160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0" y="5001768"/>
            <a:ext cx="64008" cy="115214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0" y="4965192"/>
            <a:ext cx="5257800" cy="365760"/>
          </a:xfrm>
          <a:prstGeom prst="rect">
            <a:avLst/>
          </a:prstGeom>
          <a:noFill/>
        </p:spPr>
        <p:txBody>
          <a:bodyPr wrap="square" lIns="45720" tIns="27432" rIns="45720" bIns="27432" anchor="t">
            <a:spAutoFit/>
          </a:bodyPr>
          <a:lstStyle/>
          <a:p>
            <a:pPr algn="l"/>
            <a:r>
              <a:rPr sz="1750" b="1">
                <a:solidFill>
                  <a:srgbClr val="1F3756"/>
                </a:solidFill>
                <a:latin typeface="Calibri"/>
              </a:rPr>
              <a:t>Why bar charts?</a:t>
            </a:r>
          </a:p>
        </p:txBody>
      </p:sp>
      <p:sp>
        <p:nvSpPr>
          <p:cNvPr id="15" name="TextBox 14"/>
          <p:cNvSpPr txBox="1"/>
          <p:nvPr/>
        </p:nvSpPr>
        <p:spPr>
          <a:xfrm>
            <a:off x="6400800" y="5349240"/>
            <a:ext cx="5257800" cy="868680"/>
          </a:xfrm>
          <a:prstGeom prst="rect">
            <a:avLst/>
          </a:prstGeom>
          <a:noFill/>
        </p:spPr>
        <p:txBody>
          <a:bodyPr wrap="square" lIns="45720" tIns="27432" rIns="45720" bIns="27432" anchor="t">
            <a:spAutoFit/>
          </a:bodyPr>
          <a:lstStyle/>
          <a:p>
            <a:pPr algn="l"/>
            <a:r>
              <a:rPr sz="1550" b="0">
                <a:solidFill>
                  <a:srgbClr val="262F3D"/>
                </a:solidFill>
                <a:latin typeface="Calibri"/>
              </a:rPr>
              <a:t>Our variables are categories (price range, city, cuisine) compared on one measure — high-rating rate — which bars show most clearly.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tIns="27432" rIns="45720" bIns="27432" anchor="ctr">
            <a:spAutoFit/>
          </a:bodyPr>
          <a:lstStyle/>
          <a:p>
            <a:pPr algn="l"/>
            <a:r>
              <a:rPr sz="2600" b="1">
                <a:solidFill>
                  <a:srgbClr val="1F3756"/>
                </a:solidFill>
                <a:latin typeface="Calibri"/>
              </a:rPr>
              <a:t>VISUALIZATION IMPLEMENTATION</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607040" y="6473952"/>
            <a:ext cx="1280160" cy="274320"/>
          </a:xfrm>
          <a:prstGeom prst="rect">
            <a:avLst/>
          </a:prstGeom>
          <a:noFill/>
        </p:spPr>
        <p:txBody>
          <a:bodyPr wrap="square" lIns="45720" tIns="27432" rIns="45720" bIns="27432" anchor="t">
            <a:spAutoFit/>
          </a:bodyPr>
          <a:lstStyle/>
          <a:p>
            <a:pPr algn="r"/>
            <a:r>
              <a:rPr sz="1100" b="0">
                <a:solidFill>
                  <a:srgbClr val="5B6778"/>
                </a:solidFill>
                <a:latin typeface="Calibri"/>
              </a:rPr>
              <a:t>Review 3  |  20</a:t>
            </a:r>
          </a:p>
        </p:txBody>
      </p:sp>
      <p:sp>
        <p:nvSpPr>
          <p:cNvPr id="7" name="Rounded Rectangle 6"/>
          <p:cNvSpPr/>
          <p:nvPr/>
        </p:nvSpPr>
        <p:spPr>
          <a:xfrm>
            <a:off x="457200" y="1188720"/>
            <a:ext cx="5852160" cy="3429000"/>
          </a:xfrm>
          <a:prstGeom prst="roundRect">
            <a:avLst>
              <a:gd name="adj" fmla="val 300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234440"/>
            <a:ext cx="5577840" cy="274320"/>
          </a:xfrm>
          <a:prstGeom prst="rect">
            <a:avLst/>
          </a:prstGeom>
          <a:noFill/>
        </p:spPr>
        <p:txBody>
          <a:bodyPr wrap="square" lIns="45720" tIns="27432" rIns="45720" bIns="27432" anchor="t">
            <a:spAutoFit/>
          </a:bodyPr>
          <a:lstStyle/>
          <a:p>
            <a:pPr algn="l"/>
            <a:r>
              <a:rPr sz="1100" b="1">
                <a:solidFill>
                  <a:srgbClr val="F0A06A"/>
                </a:solidFill>
                <a:latin typeface="Calibri"/>
              </a:rPr>
              <a:t>PYTHON  |  Same pattern reused for City and Cuisine</a:t>
            </a:r>
          </a:p>
        </p:txBody>
      </p:sp>
      <p:sp>
        <p:nvSpPr>
          <p:cNvPr id="9" name="TextBox 8"/>
          <p:cNvSpPr txBox="1"/>
          <p:nvPr/>
        </p:nvSpPr>
        <p:spPr>
          <a:xfrm>
            <a:off x="548640" y="1490472"/>
            <a:ext cx="5669280" cy="3063240"/>
          </a:xfrm>
          <a:prstGeom prst="rect">
            <a:avLst/>
          </a:prstGeom>
          <a:noFill/>
        </p:spPr>
        <p:txBody>
          <a:bodyPr wrap="square">
            <a:spAutoFit/>
          </a:bodyPr>
          <a:lstStyle/>
          <a:p>
            <a:r>
              <a:rPr sz="1300">
                <a:solidFill>
                  <a:srgbClr val="8FB4D9"/>
                </a:solidFill>
                <a:latin typeface="Consolas"/>
              </a:rPr>
              <a:t># 1. Aggregate: high-rating rate (%) per price range</a:t>
            </a:r>
          </a:p>
          <a:p>
            <a:r>
              <a:rPr sz="1300">
                <a:solidFill>
                  <a:srgbClr val="E6ECF5"/>
                </a:solidFill>
                <a:latin typeface="Consolas"/>
              </a:rPr>
              <a:t>rates = df_model.groupby("Price range")["Is_Good"].mean()*100</a:t>
            </a:r>
          </a:p>
          <a:p>
            <a:r>
              <a:rPr sz="1300">
                <a:solidFill>
                  <a:srgbClr val="E6ECF5"/>
                </a:solidFill>
                <a:latin typeface="Consolas"/>
              </a:rPr>
              <a:t> </a:t>
            </a:r>
          </a:p>
          <a:p>
            <a:r>
              <a:rPr sz="1300">
                <a:solidFill>
                  <a:srgbClr val="8FB4D9"/>
                </a:solidFill>
                <a:latin typeface="Consolas"/>
              </a:rPr>
              <a:t># 2. Draw the bars</a:t>
            </a:r>
          </a:p>
          <a:p>
            <a:r>
              <a:rPr sz="1300">
                <a:solidFill>
                  <a:srgbClr val="E6ECF5"/>
                </a:solidFill>
                <a:latin typeface="Consolas"/>
              </a:rPr>
              <a:t>fig, ax = plt.subplots(figsize=(7,4.5))</a:t>
            </a:r>
          </a:p>
          <a:p>
            <a:r>
              <a:rPr sz="1300">
                <a:solidFill>
                  <a:srgbClr val="E6ECF5"/>
                </a:solidFill>
                <a:latin typeface="Consolas"/>
              </a:rPr>
              <a:t>bars = ax.bar(rates.index.astype(str), rates.values)</a:t>
            </a:r>
          </a:p>
          <a:p>
            <a:r>
              <a:rPr sz="1300">
                <a:solidFill>
                  <a:srgbClr val="E6ECF5"/>
                </a:solidFill>
                <a:latin typeface="Consolas"/>
              </a:rPr>
              <a:t> </a:t>
            </a:r>
          </a:p>
          <a:p>
            <a:r>
              <a:rPr sz="1300">
                <a:solidFill>
                  <a:srgbClr val="8FB4D9"/>
                </a:solidFill>
                <a:latin typeface="Consolas"/>
              </a:rPr>
              <a:t># 3. Add value labels, titles and axes</a:t>
            </a:r>
          </a:p>
          <a:p>
            <a:r>
              <a:rPr sz="1300">
                <a:solidFill>
                  <a:srgbClr val="E6ECF5"/>
                </a:solidFill>
                <a:latin typeface="Consolas"/>
              </a:rPr>
              <a:t>ax.bar_label(bars, fmt="%.1f%%")</a:t>
            </a:r>
          </a:p>
          <a:p>
            <a:r>
              <a:rPr sz="1300">
                <a:solidFill>
                  <a:srgbClr val="E6ECF5"/>
                </a:solidFill>
                <a:latin typeface="Consolas"/>
              </a:rPr>
              <a:t>ax.set_title("High-Rating Rate by Price Range")</a:t>
            </a:r>
          </a:p>
          <a:p>
            <a:r>
              <a:rPr sz="1300">
                <a:solidFill>
                  <a:srgbClr val="E6ECF5"/>
                </a:solidFill>
                <a:latin typeface="Consolas"/>
              </a:rPr>
              <a:t>ax.set_xlabel("Price range"); ax.set_ylabel("High-rating %")</a:t>
            </a:r>
          </a:p>
          <a:p>
            <a:r>
              <a:rPr sz="1300">
                <a:solidFill>
                  <a:srgbClr val="E6ECF5"/>
                </a:solidFill>
                <a:latin typeface="Consolas"/>
              </a:rPr>
              <a:t>plt.show()</a:t>
            </a:r>
          </a:p>
        </p:txBody>
      </p:sp>
      <p:sp>
        <p:nvSpPr>
          <p:cNvPr id="10" name="Rounded Rectangle 9"/>
          <p:cNvSpPr/>
          <p:nvPr/>
        </p:nvSpPr>
        <p:spPr>
          <a:xfrm>
            <a:off x="457200" y="4800600"/>
            <a:ext cx="1874519" cy="150876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4910328"/>
            <a:ext cx="64008" cy="128930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4873752"/>
            <a:ext cx="1600199" cy="365760"/>
          </a:xfrm>
          <a:prstGeom prst="rect">
            <a:avLst/>
          </a:prstGeom>
          <a:noFill/>
        </p:spPr>
        <p:txBody>
          <a:bodyPr wrap="square" lIns="45720" tIns="27432" rIns="45720" bIns="27432" anchor="t">
            <a:spAutoFit/>
          </a:bodyPr>
          <a:lstStyle/>
          <a:p>
            <a:pPr algn="l"/>
            <a:r>
              <a:rPr sz="1400" b="1">
                <a:solidFill>
                  <a:srgbClr val="1F3756"/>
                </a:solidFill>
                <a:latin typeface="Calibri"/>
              </a:rPr>
              <a:t>Aggregate</a:t>
            </a:r>
          </a:p>
        </p:txBody>
      </p:sp>
      <p:sp>
        <p:nvSpPr>
          <p:cNvPr id="13" name="TextBox 12"/>
          <p:cNvSpPr txBox="1"/>
          <p:nvPr/>
        </p:nvSpPr>
        <p:spPr>
          <a:xfrm>
            <a:off x="640080" y="5257800"/>
            <a:ext cx="1600199" cy="1005839"/>
          </a:xfrm>
          <a:prstGeom prst="rect">
            <a:avLst/>
          </a:prstGeom>
          <a:noFill/>
        </p:spPr>
        <p:txBody>
          <a:bodyPr wrap="square" lIns="45720" tIns="27432" rIns="45720" bIns="27432" anchor="t">
            <a:spAutoFit/>
          </a:bodyPr>
          <a:lstStyle/>
          <a:p>
            <a:pPr algn="l"/>
            <a:r>
              <a:rPr sz="1200" b="0">
                <a:solidFill>
                  <a:srgbClr val="262F3D"/>
                </a:solidFill>
                <a:latin typeface="Calibri"/>
              </a:rPr>
              <a:t>groupby + mean converts Y/N into a high-rating rate per group.</a:t>
            </a:r>
          </a:p>
        </p:txBody>
      </p:sp>
      <p:sp>
        <p:nvSpPr>
          <p:cNvPr id="14" name="Rounded Rectangle 13"/>
          <p:cNvSpPr/>
          <p:nvPr/>
        </p:nvSpPr>
        <p:spPr>
          <a:xfrm>
            <a:off x="2423160" y="4800600"/>
            <a:ext cx="1874519" cy="150876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423160" y="4910328"/>
            <a:ext cx="64008" cy="128930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606040" y="4873752"/>
            <a:ext cx="1600199" cy="365760"/>
          </a:xfrm>
          <a:prstGeom prst="rect">
            <a:avLst/>
          </a:prstGeom>
          <a:noFill/>
        </p:spPr>
        <p:txBody>
          <a:bodyPr wrap="square" lIns="45720" tIns="27432" rIns="45720" bIns="27432" anchor="t">
            <a:spAutoFit/>
          </a:bodyPr>
          <a:lstStyle/>
          <a:p>
            <a:pPr algn="l"/>
            <a:r>
              <a:rPr sz="1400" b="1">
                <a:solidFill>
                  <a:srgbClr val="1F3756"/>
                </a:solidFill>
                <a:latin typeface="Calibri"/>
              </a:rPr>
              <a:t>Draw</a:t>
            </a:r>
          </a:p>
        </p:txBody>
      </p:sp>
      <p:sp>
        <p:nvSpPr>
          <p:cNvPr id="17" name="TextBox 16"/>
          <p:cNvSpPr txBox="1"/>
          <p:nvPr/>
        </p:nvSpPr>
        <p:spPr>
          <a:xfrm>
            <a:off x="2606040" y="5257800"/>
            <a:ext cx="1600199" cy="1005839"/>
          </a:xfrm>
          <a:prstGeom prst="rect">
            <a:avLst/>
          </a:prstGeom>
          <a:noFill/>
        </p:spPr>
        <p:txBody>
          <a:bodyPr wrap="square" lIns="45720" tIns="27432" rIns="45720" bIns="27432" anchor="t">
            <a:spAutoFit/>
          </a:bodyPr>
          <a:lstStyle/>
          <a:p>
            <a:pPr algn="l"/>
            <a:r>
              <a:rPr sz="1200" b="0">
                <a:solidFill>
                  <a:srgbClr val="262F3D"/>
                </a:solidFill>
                <a:latin typeface="Calibri"/>
              </a:rPr>
              <a:t>ax.bar() creates one bar per group.</a:t>
            </a:r>
          </a:p>
        </p:txBody>
      </p:sp>
      <p:sp>
        <p:nvSpPr>
          <p:cNvPr id="18" name="Rounded Rectangle 17"/>
          <p:cNvSpPr/>
          <p:nvPr/>
        </p:nvSpPr>
        <p:spPr>
          <a:xfrm>
            <a:off x="4389120" y="4800600"/>
            <a:ext cx="1874519" cy="150876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389120" y="4910328"/>
            <a:ext cx="64008" cy="128930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0" y="4873752"/>
            <a:ext cx="1600199" cy="365760"/>
          </a:xfrm>
          <a:prstGeom prst="rect">
            <a:avLst/>
          </a:prstGeom>
          <a:noFill/>
        </p:spPr>
        <p:txBody>
          <a:bodyPr wrap="square" lIns="45720" tIns="27432" rIns="45720" bIns="27432" anchor="t">
            <a:spAutoFit/>
          </a:bodyPr>
          <a:lstStyle/>
          <a:p>
            <a:pPr algn="l"/>
            <a:r>
              <a:rPr sz="1400" b="1">
                <a:solidFill>
                  <a:srgbClr val="1F3756"/>
                </a:solidFill>
                <a:latin typeface="Calibri"/>
              </a:rPr>
              <a:t>Label</a:t>
            </a:r>
          </a:p>
        </p:txBody>
      </p:sp>
      <p:sp>
        <p:nvSpPr>
          <p:cNvPr id="21" name="TextBox 20"/>
          <p:cNvSpPr txBox="1"/>
          <p:nvPr/>
        </p:nvSpPr>
        <p:spPr>
          <a:xfrm>
            <a:off x="4572000" y="5257800"/>
            <a:ext cx="1600199" cy="1005839"/>
          </a:xfrm>
          <a:prstGeom prst="rect">
            <a:avLst/>
          </a:prstGeom>
          <a:noFill/>
        </p:spPr>
        <p:txBody>
          <a:bodyPr wrap="square" lIns="45720" tIns="27432" rIns="45720" bIns="27432" anchor="t">
            <a:spAutoFit/>
          </a:bodyPr>
          <a:lstStyle/>
          <a:p>
            <a:pPr algn="l"/>
            <a:r>
              <a:rPr sz="1200" b="0">
                <a:solidFill>
                  <a:srgbClr val="262F3D"/>
                </a:solidFill>
                <a:latin typeface="Calibri"/>
              </a:rPr>
              <a:t>bar_label shows exact values so the chart can be read without guessing.</a:t>
            </a:r>
          </a:p>
        </p:txBody>
      </p:sp>
      <p:pic>
        <p:nvPicPr>
          <p:cNvPr id="22" name="Picture 21" descr="image13.png"/>
          <p:cNvPicPr>
            <a:picLocks noChangeAspect="1"/>
          </p:cNvPicPr>
          <p:nvPr/>
        </p:nvPicPr>
        <p:blipFill>
          <a:blip r:embed="rId3"/>
          <a:stretch>
            <a:fillRect/>
          </a:stretch>
        </p:blipFill>
        <p:spPr>
          <a:xfrm>
            <a:off x="6492240" y="1188720"/>
            <a:ext cx="5257800" cy="3457252"/>
          </a:xfrm>
          <a:prstGeom prst="rect">
            <a:avLst/>
          </a:prstGeom>
        </p:spPr>
      </p:pic>
      <p:sp>
        <p:nvSpPr>
          <p:cNvPr id="23" name="TextBox 22"/>
          <p:cNvSpPr txBox="1"/>
          <p:nvPr/>
        </p:nvSpPr>
        <p:spPr>
          <a:xfrm>
            <a:off x="6492240" y="4572000"/>
            <a:ext cx="5257800" cy="1737360"/>
          </a:xfrm>
          <a:prstGeom prst="rect">
            <a:avLst/>
          </a:prstGeom>
          <a:noFill/>
        </p:spPr>
        <p:txBody>
          <a:bodyPr wrap="square" lIns="45720" tIns="27432" rIns="45720" bIns="27432" anchor="t">
            <a:spAutoFit/>
          </a:bodyPr>
          <a:lstStyle/>
          <a:p>
            <a:pPr algn="l"/>
            <a:r>
              <a:rPr sz="1500" b="0">
                <a:solidFill>
                  <a:srgbClr val="262F3D"/>
                </a:solidFill>
                <a:latin typeface="Calibri"/>
              </a:rPr>
              <a:t>Output: high-rating rate rises steadily as price range increases.</a:t>
            </a:r>
          </a:p>
          <a:p>
            <a:pPr algn="l"/>
            <a:r>
              <a:rPr sz="1500" b="0">
                <a:solidFill>
                  <a:srgbClr val="262F3D"/>
                </a:solidFill>
                <a:latin typeface="Calibri"/>
              </a:rPr>
              <a:t>Interpretation: 28.6% of range-1 restaurants are highly rated, 43.8% at range 2, 75.7% at range 3 and 81.4% at range 4 — an association, not proof of causation.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tIns="27432" rIns="45720" bIns="27432" anchor="ctr">
            <a:spAutoFit/>
          </a:bodyPr>
          <a:lstStyle/>
          <a:p>
            <a:pPr algn="l"/>
            <a:r>
              <a:rPr sz="2600" b="1">
                <a:solidFill>
                  <a:srgbClr val="1F3756"/>
                </a:solidFill>
                <a:latin typeface="Calibri"/>
              </a:rPr>
              <a:t>VISUALIZATION RESULTS — OUTCOME &amp; PRICE RANGE</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607040" y="6473952"/>
            <a:ext cx="1280160" cy="274320"/>
          </a:xfrm>
          <a:prstGeom prst="rect">
            <a:avLst/>
          </a:prstGeom>
          <a:noFill/>
        </p:spPr>
        <p:txBody>
          <a:bodyPr wrap="square" lIns="45720" tIns="27432" rIns="45720" bIns="27432" anchor="t">
            <a:spAutoFit/>
          </a:bodyPr>
          <a:lstStyle/>
          <a:p>
            <a:pPr algn="r"/>
            <a:r>
              <a:rPr sz="1100" b="0">
                <a:solidFill>
                  <a:srgbClr val="5B6778"/>
                </a:solidFill>
                <a:latin typeface="Calibri"/>
              </a:rPr>
              <a:t>Review 3  |  21</a:t>
            </a:r>
          </a:p>
        </p:txBody>
      </p:sp>
      <p:pic>
        <p:nvPicPr>
          <p:cNvPr id="7" name="Picture 6" descr="image12.png"/>
          <p:cNvPicPr>
            <a:picLocks noChangeAspect="1"/>
          </p:cNvPicPr>
          <p:nvPr/>
        </p:nvPicPr>
        <p:blipFill>
          <a:blip r:embed="rId3"/>
          <a:stretch>
            <a:fillRect/>
          </a:stretch>
        </p:blipFill>
        <p:spPr>
          <a:xfrm>
            <a:off x="731520" y="1143000"/>
            <a:ext cx="4937760" cy="3248404"/>
          </a:xfrm>
          <a:prstGeom prst="rect">
            <a:avLst/>
          </a:prstGeom>
        </p:spPr>
      </p:pic>
      <p:pic>
        <p:nvPicPr>
          <p:cNvPr id="8" name="Picture 7" descr="image13.png"/>
          <p:cNvPicPr>
            <a:picLocks noChangeAspect="1"/>
          </p:cNvPicPr>
          <p:nvPr/>
        </p:nvPicPr>
        <p:blipFill>
          <a:blip r:embed="rId4"/>
          <a:stretch>
            <a:fillRect/>
          </a:stretch>
        </p:blipFill>
        <p:spPr>
          <a:xfrm>
            <a:off x="6537960" y="1143000"/>
            <a:ext cx="4937760" cy="3246810"/>
          </a:xfrm>
          <a:prstGeom prst="rect">
            <a:avLst/>
          </a:prstGeom>
        </p:spPr>
      </p:pic>
      <p:sp>
        <p:nvSpPr>
          <p:cNvPr id="9" name="Rounded Rectangle 8"/>
          <p:cNvSpPr/>
          <p:nvPr/>
        </p:nvSpPr>
        <p:spPr>
          <a:xfrm>
            <a:off x="457200" y="4663440"/>
            <a:ext cx="5486400" cy="169164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4773168"/>
            <a:ext cx="64008" cy="147218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4736592"/>
            <a:ext cx="5212080" cy="365760"/>
          </a:xfrm>
          <a:prstGeom prst="rect">
            <a:avLst/>
          </a:prstGeom>
          <a:noFill/>
        </p:spPr>
        <p:txBody>
          <a:bodyPr wrap="square" lIns="45720" tIns="27432" rIns="45720" bIns="27432" anchor="t">
            <a:spAutoFit/>
          </a:bodyPr>
          <a:lstStyle/>
          <a:p>
            <a:pPr algn="l"/>
            <a:r>
              <a:rPr sz="1700" b="1">
                <a:solidFill>
                  <a:srgbClr val="1F3756"/>
                </a:solidFill>
                <a:latin typeface="Calibri"/>
              </a:rPr>
              <a:t>Outcome distribution</a:t>
            </a:r>
          </a:p>
        </p:txBody>
      </p:sp>
      <p:sp>
        <p:nvSpPr>
          <p:cNvPr id="12" name="TextBox 11"/>
          <p:cNvSpPr txBox="1"/>
          <p:nvPr/>
        </p:nvSpPr>
        <p:spPr>
          <a:xfrm>
            <a:off x="640080" y="5120640"/>
            <a:ext cx="5212080" cy="1188720"/>
          </a:xfrm>
          <a:prstGeom prst="rect">
            <a:avLst/>
          </a:prstGeom>
          <a:noFill/>
        </p:spPr>
        <p:txBody>
          <a:bodyPr wrap="square" lIns="45720" tIns="27432" rIns="45720" bIns="27432" anchor="t">
            <a:spAutoFit/>
          </a:bodyPr>
          <a:lstStyle/>
          <a:p>
            <a:pPr algn="l"/>
            <a:r>
              <a:rPr sz="1500" b="0">
                <a:solidFill>
                  <a:srgbClr val="262F3D"/>
                </a:solidFill>
                <a:latin typeface="Calibri"/>
              </a:rPr>
              <a:t>3,480 of 7,403 rated restaurants (47.0%) are highly rated and 3,923 are not. The classes are fairly balanced, but accuracy should still be compared with the 53.0% baseline.</a:t>
            </a:r>
          </a:p>
        </p:txBody>
      </p:sp>
      <p:sp>
        <p:nvSpPr>
          <p:cNvPr id="13" name="Rounded Rectangle 12"/>
          <p:cNvSpPr/>
          <p:nvPr/>
        </p:nvSpPr>
        <p:spPr>
          <a:xfrm>
            <a:off x="6263640" y="4572000"/>
            <a:ext cx="5486400" cy="173736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63640" y="4681728"/>
            <a:ext cx="64008" cy="151790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46520" y="4645152"/>
            <a:ext cx="5212080" cy="365760"/>
          </a:xfrm>
          <a:prstGeom prst="rect">
            <a:avLst/>
          </a:prstGeom>
          <a:noFill/>
        </p:spPr>
        <p:txBody>
          <a:bodyPr wrap="square" lIns="45720" tIns="27432" rIns="45720" bIns="27432" anchor="t">
            <a:spAutoFit/>
          </a:bodyPr>
          <a:lstStyle/>
          <a:p>
            <a:pPr algn="l"/>
            <a:r>
              <a:rPr sz="1700" b="1">
                <a:solidFill>
                  <a:srgbClr val="1F3756"/>
                </a:solidFill>
                <a:latin typeface="Calibri"/>
              </a:rPr>
              <a:t>Price range</a:t>
            </a:r>
          </a:p>
        </p:txBody>
      </p:sp>
      <p:sp>
        <p:nvSpPr>
          <p:cNvPr id="16" name="TextBox 15"/>
          <p:cNvSpPr txBox="1"/>
          <p:nvPr/>
        </p:nvSpPr>
        <p:spPr>
          <a:xfrm>
            <a:off x="6446520" y="5029200"/>
            <a:ext cx="5212080" cy="1234439"/>
          </a:xfrm>
          <a:prstGeom prst="rect">
            <a:avLst/>
          </a:prstGeom>
          <a:noFill/>
        </p:spPr>
        <p:txBody>
          <a:bodyPr wrap="square" lIns="45720" tIns="27432" rIns="45720" bIns="27432" anchor="t">
            <a:spAutoFit/>
          </a:bodyPr>
          <a:lstStyle/>
          <a:p>
            <a:pPr algn="l"/>
            <a:r>
              <a:rPr sz="1500" b="0">
                <a:solidFill>
                  <a:srgbClr val="262F3D"/>
                </a:solidFill>
                <a:latin typeface="Calibri"/>
              </a:rPr>
              <a:t>High-rating rate rises from 28.6% at price range 1 to 81.4% at range 4. Fewer than half of the restaurants in price ranges 1 and 2 are highly rated.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tIns="27432" rIns="45720" bIns="27432" anchor="ctr">
            <a:spAutoFit/>
          </a:bodyPr>
          <a:lstStyle/>
          <a:p>
            <a:pPr algn="l"/>
            <a:r>
              <a:rPr sz="2600" b="1">
                <a:solidFill>
                  <a:srgbClr val="1F3756"/>
                </a:solidFill>
                <a:latin typeface="Calibri"/>
              </a:rPr>
              <a:t>VISUALIZATION RESULTS — CITY &amp; CUISINE</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607040" y="6473952"/>
            <a:ext cx="1280160" cy="274320"/>
          </a:xfrm>
          <a:prstGeom prst="rect">
            <a:avLst/>
          </a:prstGeom>
          <a:noFill/>
        </p:spPr>
        <p:txBody>
          <a:bodyPr wrap="square" lIns="45720" tIns="27432" rIns="45720" bIns="27432" anchor="t">
            <a:spAutoFit/>
          </a:bodyPr>
          <a:lstStyle/>
          <a:p>
            <a:pPr algn="r"/>
            <a:r>
              <a:rPr sz="1100" b="0">
                <a:solidFill>
                  <a:srgbClr val="5B6778"/>
                </a:solidFill>
                <a:latin typeface="Calibri"/>
              </a:rPr>
              <a:t>Review 3  |  22</a:t>
            </a:r>
          </a:p>
        </p:txBody>
      </p:sp>
      <p:pic>
        <p:nvPicPr>
          <p:cNvPr id="7" name="Picture 6" descr="image14.png"/>
          <p:cNvPicPr>
            <a:picLocks noChangeAspect="1"/>
          </p:cNvPicPr>
          <p:nvPr/>
        </p:nvPicPr>
        <p:blipFill>
          <a:blip r:embed="rId3"/>
          <a:stretch>
            <a:fillRect/>
          </a:stretch>
        </p:blipFill>
        <p:spPr>
          <a:xfrm>
            <a:off x="731520" y="1143000"/>
            <a:ext cx="4937760" cy="3251468"/>
          </a:xfrm>
          <a:prstGeom prst="rect">
            <a:avLst/>
          </a:prstGeom>
        </p:spPr>
      </p:pic>
      <p:pic>
        <p:nvPicPr>
          <p:cNvPr id="8" name="Picture 7" descr="image15.png"/>
          <p:cNvPicPr>
            <a:picLocks noChangeAspect="1"/>
          </p:cNvPicPr>
          <p:nvPr/>
        </p:nvPicPr>
        <p:blipFill>
          <a:blip r:embed="rId4"/>
          <a:stretch>
            <a:fillRect/>
          </a:stretch>
        </p:blipFill>
        <p:spPr>
          <a:xfrm>
            <a:off x="6537960" y="1143000"/>
            <a:ext cx="4937760" cy="3251468"/>
          </a:xfrm>
          <a:prstGeom prst="rect">
            <a:avLst/>
          </a:prstGeom>
        </p:spPr>
      </p:pic>
      <p:sp>
        <p:nvSpPr>
          <p:cNvPr id="9" name="Rounded Rectangle 8"/>
          <p:cNvSpPr/>
          <p:nvPr/>
        </p:nvSpPr>
        <p:spPr>
          <a:xfrm>
            <a:off x="457200" y="4572000"/>
            <a:ext cx="5486400" cy="173736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4681728"/>
            <a:ext cx="64008" cy="151790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4645152"/>
            <a:ext cx="5212080" cy="365760"/>
          </a:xfrm>
          <a:prstGeom prst="rect">
            <a:avLst/>
          </a:prstGeom>
          <a:noFill/>
        </p:spPr>
        <p:txBody>
          <a:bodyPr wrap="square" lIns="45720" tIns="27432" rIns="45720" bIns="27432" anchor="t">
            <a:spAutoFit/>
          </a:bodyPr>
          <a:lstStyle/>
          <a:p>
            <a:pPr algn="l"/>
            <a:r>
              <a:rPr sz="1700" b="1">
                <a:solidFill>
                  <a:srgbClr val="1F3756"/>
                </a:solidFill>
                <a:latin typeface="Calibri"/>
              </a:rPr>
              <a:t>City insight</a:t>
            </a:r>
          </a:p>
        </p:txBody>
      </p:sp>
      <p:sp>
        <p:nvSpPr>
          <p:cNvPr id="12" name="TextBox 11"/>
          <p:cNvSpPr txBox="1"/>
          <p:nvPr/>
        </p:nvSpPr>
        <p:spPr>
          <a:xfrm>
            <a:off x="640080" y="5029200"/>
            <a:ext cx="5212080" cy="1234439"/>
          </a:xfrm>
          <a:prstGeom prst="rect">
            <a:avLst/>
          </a:prstGeom>
          <a:noFill/>
        </p:spPr>
        <p:txBody>
          <a:bodyPr wrap="square" lIns="45720" tIns="27432" rIns="45720" bIns="27432" anchor="t">
            <a:spAutoFit/>
          </a:bodyPr>
          <a:lstStyle/>
          <a:p>
            <a:pPr algn="l"/>
            <a:r>
              <a:rPr sz="1500" b="0">
                <a:solidFill>
                  <a:srgbClr val="262F3D"/>
                </a:solidFill>
                <a:latin typeface="Calibri"/>
              </a:rPr>
              <a:t>Gurgaon has the highest high-rating rate (39.6%) among the five most-listed cities; Faridabad (17.2%) and Ghaziabad (17.4%) are lowest. A 22-point spread, though Ghaziabad has only 23 rated restaurants.</a:t>
            </a:r>
          </a:p>
        </p:txBody>
      </p:sp>
      <p:sp>
        <p:nvSpPr>
          <p:cNvPr id="13" name="Rounded Rectangle 12"/>
          <p:cNvSpPr/>
          <p:nvPr/>
        </p:nvSpPr>
        <p:spPr>
          <a:xfrm>
            <a:off x="6263640" y="4572000"/>
            <a:ext cx="5486400" cy="173736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63640" y="4681728"/>
            <a:ext cx="64008" cy="1517904"/>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46520" y="4645152"/>
            <a:ext cx="5212080" cy="365760"/>
          </a:xfrm>
          <a:prstGeom prst="rect">
            <a:avLst/>
          </a:prstGeom>
          <a:noFill/>
        </p:spPr>
        <p:txBody>
          <a:bodyPr wrap="square" lIns="45720" tIns="27432" rIns="45720" bIns="27432" anchor="t">
            <a:spAutoFit/>
          </a:bodyPr>
          <a:lstStyle/>
          <a:p>
            <a:pPr algn="l"/>
            <a:r>
              <a:rPr sz="1700" b="1">
                <a:solidFill>
                  <a:srgbClr val="1F3756"/>
                </a:solidFill>
                <a:latin typeface="Calibri"/>
              </a:rPr>
              <a:t>Cuisine insight</a:t>
            </a:r>
          </a:p>
        </p:txBody>
      </p:sp>
      <p:sp>
        <p:nvSpPr>
          <p:cNvPr id="16" name="TextBox 15"/>
          <p:cNvSpPr txBox="1"/>
          <p:nvPr/>
        </p:nvSpPr>
        <p:spPr>
          <a:xfrm>
            <a:off x="6446520" y="5029200"/>
            <a:ext cx="5212080" cy="1234439"/>
          </a:xfrm>
          <a:prstGeom prst="rect">
            <a:avLst/>
          </a:prstGeom>
          <a:noFill/>
        </p:spPr>
        <p:txBody>
          <a:bodyPr wrap="square" lIns="45720" tIns="27432" rIns="45720" bIns="27432" anchor="t">
            <a:spAutoFit/>
          </a:bodyPr>
          <a:lstStyle/>
          <a:p>
            <a:pPr algn="l"/>
            <a:r>
              <a:rPr sz="1500" b="0">
                <a:solidFill>
                  <a:srgbClr val="262F3D"/>
                </a:solidFill>
                <a:latin typeface="Calibri"/>
              </a:rPr>
              <a:t>Cafe leads at 64.7%, far ahead of the rest; North Indian is lowest at 31.4% (among the five most common cuisines). Differences are descriptive, not causal.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jpg"/>
          <p:cNvPicPr>
            <a:picLocks noChangeAspect="1"/>
          </p:cNvPicPr>
          <p:nvPr/>
        </p:nvPicPr>
        <p:blipFill>
          <a:blip r:embed="rId2"/>
          <a:stretch>
            <a:fillRect/>
          </a:stretch>
        </p:blipFill>
        <p:spPr>
          <a:xfrm>
            <a:off x="320040" y="228600"/>
            <a:ext cx="1553803" cy="566928"/>
          </a:xfrm>
          <a:prstGeom prst="rect">
            <a:avLst/>
          </a:prstGeom>
        </p:spPr>
      </p:pic>
      <p:sp>
        <p:nvSpPr>
          <p:cNvPr id="4" name="TextBox 3"/>
          <p:cNvSpPr txBox="1"/>
          <p:nvPr/>
        </p:nvSpPr>
        <p:spPr>
          <a:xfrm>
            <a:off x="2103120" y="274320"/>
            <a:ext cx="9601200" cy="548640"/>
          </a:xfrm>
          <a:prstGeom prst="rect">
            <a:avLst/>
          </a:prstGeom>
          <a:noFill/>
        </p:spPr>
        <p:txBody>
          <a:bodyPr wrap="square" lIns="45720" tIns="27432" rIns="45720" bIns="27432" anchor="ctr">
            <a:spAutoFit/>
          </a:bodyPr>
          <a:lstStyle/>
          <a:p>
            <a:pPr algn="l"/>
            <a:r>
              <a:rPr sz="2600" b="1">
                <a:solidFill>
                  <a:srgbClr val="1F3756"/>
                </a:solidFill>
                <a:latin typeface="Calibri"/>
              </a:rPr>
              <a:t>KEY FINDINGS, CONCLUSION &amp; FUTURE SCOPE</a:t>
            </a:r>
          </a:p>
        </p:txBody>
      </p:sp>
      <p:sp>
        <p:nvSpPr>
          <p:cNvPr id="5" name="Rectangle 4"/>
          <p:cNvSpPr/>
          <p:nvPr/>
        </p:nvSpPr>
        <p:spPr>
          <a:xfrm>
            <a:off x="2148840" y="841248"/>
            <a:ext cx="822960" cy="45720"/>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607040" y="6473952"/>
            <a:ext cx="1280160" cy="274320"/>
          </a:xfrm>
          <a:prstGeom prst="rect">
            <a:avLst/>
          </a:prstGeom>
          <a:noFill/>
        </p:spPr>
        <p:txBody>
          <a:bodyPr wrap="square" lIns="45720" tIns="27432" rIns="45720" bIns="27432" anchor="t">
            <a:spAutoFit/>
          </a:bodyPr>
          <a:lstStyle/>
          <a:p>
            <a:pPr algn="r"/>
            <a:r>
              <a:rPr sz="1100" b="0">
                <a:solidFill>
                  <a:srgbClr val="5B6778"/>
                </a:solidFill>
                <a:latin typeface="Calibri"/>
              </a:rPr>
              <a:t>Review 3  |  23</a:t>
            </a:r>
          </a:p>
        </p:txBody>
      </p:sp>
      <p:sp>
        <p:nvSpPr>
          <p:cNvPr id="7" name="Rounded Rectangle 6"/>
          <p:cNvSpPr/>
          <p:nvPr/>
        </p:nvSpPr>
        <p:spPr>
          <a:xfrm>
            <a:off x="457200" y="1188720"/>
            <a:ext cx="3657600" cy="420624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298448"/>
            <a:ext cx="64008" cy="3986783"/>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261872"/>
            <a:ext cx="3383280" cy="365760"/>
          </a:xfrm>
          <a:prstGeom prst="rect">
            <a:avLst/>
          </a:prstGeom>
          <a:noFill/>
        </p:spPr>
        <p:txBody>
          <a:bodyPr wrap="square" lIns="45720" tIns="27432" rIns="45720" bIns="27432" anchor="t">
            <a:spAutoFit/>
          </a:bodyPr>
          <a:lstStyle/>
          <a:p>
            <a:pPr algn="l"/>
            <a:r>
              <a:rPr sz="1800" b="1">
                <a:solidFill>
                  <a:srgbClr val="1F3756"/>
                </a:solidFill>
                <a:latin typeface="Calibri"/>
              </a:rPr>
              <a:t>Key findings</a:t>
            </a:r>
          </a:p>
        </p:txBody>
      </p:sp>
      <p:sp>
        <p:nvSpPr>
          <p:cNvPr id="10" name="TextBox 9"/>
          <p:cNvSpPr txBox="1"/>
          <p:nvPr/>
        </p:nvSpPr>
        <p:spPr>
          <a:xfrm>
            <a:off x="640080" y="1645920"/>
            <a:ext cx="3383280" cy="3703320"/>
          </a:xfrm>
          <a:prstGeom prst="rect">
            <a:avLst/>
          </a:prstGeom>
          <a:noFill/>
        </p:spPr>
        <p:txBody>
          <a:bodyPr wrap="square" lIns="45720" tIns="27432" rIns="45720" bIns="27432" anchor="t">
            <a:spAutoFit/>
          </a:bodyPr>
          <a:lstStyle/>
          <a:p>
            <a:pPr algn="l"/>
            <a:r>
              <a:rPr sz="1600" b="0">
                <a:solidFill>
                  <a:srgbClr val="262F3D"/>
                </a:solidFill>
                <a:latin typeface="Calibri"/>
              </a:rPr>
              <a:t>▪ 47.0% of rated restaurants are highly rated (3,480 / 7,403)
▪ Price range 1 → 28.6%; range 4 → 81.4%
▪ Cities range 17.2–39.6%; cuisines 31.4–64.7%
▪ Logistic Regression: 79.9% accuracy, 75.8% F1</a:t>
            </a:r>
          </a:p>
        </p:txBody>
      </p:sp>
      <p:sp>
        <p:nvSpPr>
          <p:cNvPr id="11" name="Rounded Rectangle 10"/>
          <p:cNvSpPr/>
          <p:nvPr/>
        </p:nvSpPr>
        <p:spPr>
          <a:xfrm>
            <a:off x="4297680" y="1188720"/>
            <a:ext cx="3657600" cy="420624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97680" y="1298448"/>
            <a:ext cx="64008" cy="3986783"/>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80560" y="1261872"/>
            <a:ext cx="3383280" cy="365760"/>
          </a:xfrm>
          <a:prstGeom prst="rect">
            <a:avLst/>
          </a:prstGeom>
          <a:noFill/>
        </p:spPr>
        <p:txBody>
          <a:bodyPr wrap="square" lIns="45720" tIns="27432" rIns="45720" bIns="27432" anchor="t">
            <a:spAutoFit/>
          </a:bodyPr>
          <a:lstStyle/>
          <a:p>
            <a:pPr algn="l"/>
            <a:r>
              <a:rPr sz="1850" b="1">
                <a:solidFill>
                  <a:srgbClr val="1F3756"/>
                </a:solidFill>
                <a:latin typeface="Calibri"/>
              </a:rPr>
              <a:t>Conclusion</a:t>
            </a:r>
          </a:p>
        </p:txBody>
      </p:sp>
      <p:sp>
        <p:nvSpPr>
          <p:cNvPr id="14" name="TextBox 13"/>
          <p:cNvSpPr txBox="1"/>
          <p:nvPr/>
        </p:nvSpPr>
        <p:spPr>
          <a:xfrm>
            <a:off x="4480560" y="1645920"/>
            <a:ext cx="3383280" cy="3703320"/>
          </a:xfrm>
          <a:prstGeom prst="rect">
            <a:avLst/>
          </a:prstGeom>
          <a:noFill/>
        </p:spPr>
        <p:txBody>
          <a:bodyPr wrap="square" lIns="45720" tIns="27432" rIns="45720" bIns="27432" anchor="t">
            <a:spAutoFit/>
          </a:bodyPr>
          <a:lstStyle/>
          <a:p>
            <a:pPr algn="l"/>
            <a:r>
              <a:rPr sz="1650" b="0">
                <a:solidFill>
                  <a:srgbClr val="262F3D"/>
                </a:solidFill>
                <a:latin typeface="Calibri"/>
              </a:rPr>
              <a:t>A complete pipeline was built: CSV data → cleaning → preprocessing → EDA → visualization → prediction → evaluation.
9 missing cells were handled, 2,148 unrated restaurants were excluded, no duplicates were found, and 7,403 rated restaurants were used to train and test the model.
Findings are descriptive evidence, not proof of causation.</a:t>
            </a:r>
          </a:p>
        </p:txBody>
      </p:sp>
      <p:sp>
        <p:nvSpPr>
          <p:cNvPr id="15" name="Rounded Rectangle 14"/>
          <p:cNvSpPr/>
          <p:nvPr/>
        </p:nvSpPr>
        <p:spPr>
          <a:xfrm>
            <a:off x="8138160" y="1188720"/>
            <a:ext cx="3611880" cy="4206240"/>
          </a:xfrm>
          <a:prstGeom prst="roundRect">
            <a:avLst>
              <a:gd name="adj" fmla="val 8000"/>
            </a:avLst>
          </a:prstGeom>
          <a:solidFill>
            <a:srgbClr val="F1F4F9"/>
          </a:solidFill>
          <a:ln w="9525">
            <a:solidFill>
              <a:srgbClr val="D3D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38160" y="1298448"/>
            <a:ext cx="64008" cy="3986783"/>
          </a:xfrm>
          <a:prstGeom prst="rect">
            <a:avLst/>
          </a:prstGeom>
          <a:solidFill>
            <a:srgbClr val="E87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21040" y="1261872"/>
            <a:ext cx="3337560" cy="365760"/>
          </a:xfrm>
          <a:prstGeom prst="rect">
            <a:avLst/>
          </a:prstGeom>
          <a:noFill/>
        </p:spPr>
        <p:txBody>
          <a:bodyPr wrap="square" lIns="45720" tIns="27432" rIns="45720" bIns="27432" anchor="t">
            <a:spAutoFit/>
          </a:bodyPr>
          <a:lstStyle/>
          <a:p>
            <a:pPr algn="l"/>
            <a:r>
              <a:rPr sz="1900" b="1">
                <a:solidFill>
                  <a:srgbClr val="2E7D4F"/>
                </a:solidFill>
                <a:latin typeface="Calibri"/>
              </a:rPr>
              <a:t>Future scope</a:t>
            </a:r>
          </a:p>
        </p:txBody>
      </p:sp>
      <p:sp>
        <p:nvSpPr>
          <p:cNvPr id="18" name="TextBox 17"/>
          <p:cNvSpPr txBox="1"/>
          <p:nvPr/>
        </p:nvSpPr>
        <p:spPr>
          <a:xfrm>
            <a:off x="8321040" y="1645920"/>
            <a:ext cx="3337560" cy="3703320"/>
          </a:xfrm>
          <a:prstGeom prst="rect">
            <a:avLst/>
          </a:prstGeom>
          <a:noFill/>
        </p:spPr>
        <p:txBody>
          <a:bodyPr wrap="square" lIns="45720" tIns="27432" rIns="45720" bIns="27432" anchor="t">
            <a:spAutoFit/>
          </a:bodyPr>
          <a:lstStyle/>
          <a:p>
            <a:pPr algn="l"/>
            <a:r>
              <a:rPr sz="1700" b="0">
                <a:solidFill>
                  <a:srgbClr val="262F3D"/>
                </a:solidFill>
                <a:latin typeface="Calibri"/>
              </a:rPr>
              <a:t>▪ Location map &amp; city-level trends
▪ Random Forest / Gradient Boosting
▪ Cross-validation and threshold tuning
▪ Dashboard for live monitoring
▪ Restaurant recommendation system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_wide.jpg"/>
          <p:cNvPicPr>
            <a:picLocks noChangeAspect="1"/>
          </p:cNvPicPr>
          <p:nvPr/>
        </p:nvPicPr>
        <p:blipFill>
          <a:blip r:embed="rId2"/>
          <a:stretch>
            <a:fillRect/>
          </a:stretch>
        </p:blipFill>
        <p:spPr>
          <a:xfrm>
            <a:off x="3657600" y="1097280"/>
            <a:ext cx="4846320" cy="625908"/>
          </a:xfrm>
          <a:prstGeom prst="rect">
            <a:avLst/>
          </a:prstGeom>
        </p:spPr>
      </p:pic>
      <p:sp>
        <p:nvSpPr>
          <p:cNvPr id="4" name="TextBox 3"/>
          <p:cNvSpPr txBox="1"/>
          <p:nvPr/>
        </p:nvSpPr>
        <p:spPr>
          <a:xfrm>
            <a:off x="0" y="2834640"/>
            <a:ext cx="12191695" cy="914400"/>
          </a:xfrm>
          <a:prstGeom prst="rect">
            <a:avLst/>
          </a:prstGeom>
          <a:noFill/>
        </p:spPr>
        <p:txBody>
          <a:bodyPr wrap="square" lIns="45720" tIns="27432" rIns="45720" bIns="27432" anchor="t">
            <a:spAutoFit/>
          </a:bodyPr>
          <a:lstStyle/>
          <a:p>
            <a:pPr algn="ctr"/>
            <a:r>
              <a:rPr sz="5400" b="1">
                <a:solidFill>
                  <a:srgbClr val="1F3756"/>
                </a:solidFill>
                <a:latin typeface="Calibri"/>
              </a:rPr>
              <a:t>THANK YOU</a:t>
            </a:r>
          </a:p>
        </p:txBody>
      </p:sp>
      <p:sp>
        <p:nvSpPr>
          <p:cNvPr id="5" name="TextBox 4"/>
          <p:cNvSpPr txBox="1"/>
          <p:nvPr/>
        </p:nvSpPr>
        <p:spPr>
          <a:xfrm>
            <a:off x="0" y="3840480"/>
            <a:ext cx="12191695" cy="457200"/>
          </a:xfrm>
          <a:prstGeom prst="rect">
            <a:avLst/>
          </a:prstGeom>
          <a:noFill/>
        </p:spPr>
        <p:txBody>
          <a:bodyPr wrap="square" lIns="45720" tIns="27432" rIns="45720" bIns="27432" anchor="t">
            <a:spAutoFit/>
          </a:bodyPr>
          <a:lstStyle/>
          <a:p>
            <a:pPr algn="ctr"/>
            <a:r>
              <a:rPr sz="2200" b="0">
                <a:solidFill>
                  <a:srgbClr val="E8742A"/>
                </a:solidFill>
                <a:latin typeface="Calibri"/>
              </a:rPr>
              <a:t>Questions &amp; Viva</a:t>
            </a:r>
          </a:p>
        </p:txBody>
      </p:sp>
      <p:sp>
        <p:nvSpPr>
          <p:cNvPr id="6" name="TextBox 5"/>
          <p:cNvSpPr txBox="1"/>
          <p:nvPr/>
        </p:nvSpPr>
        <p:spPr>
          <a:xfrm>
            <a:off x="0" y="4754880"/>
            <a:ext cx="12191695" cy="270843"/>
          </a:xfrm>
          <a:prstGeom prst="rect">
            <a:avLst/>
          </a:prstGeom>
          <a:noFill/>
        </p:spPr>
        <p:txBody>
          <a:bodyPr wrap="square" lIns="45720" tIns="27432" rIns="45720" bIns="27432" anchor="t">
            <a:spAutoFit/>
          </a:bodyPr>
          <a:lstStyle/>
          <a:p>
            <a:pPr algn="ctr"/>
            <a:r>
              <a:rPr lang="en-IN" sz="1400" b="0" dirty="0">
                <a:solidFill>
                  <a:srgbClr val="5B6778"/>
                </a:solidFill>
                <a:latin typeface="Calibri"/>
              </a:rPr>
              <a:t>Sales</a:t>
            </a:r>
            <a:r>
              <a:rPr sz="1400" b="0" dirty="0">
                <a:solidFill>
                  <a:srgbClr val="5B6778"/>
                </a:solidFill>
                <a:latin typeface="Calibri"/>
              </a:rPr>
              <a:t> Data Analysis System  |  Cornerstone Project — Third Review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4112</Words>
  <Application>Microsoft Office PowerPoint</Application>
  <PresentationFormat>Widescreen</PresentationFormat>
  <Paragraphs>543</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Satish Gudala</cp:lastModifiedBy>
  <cp:revision>2</cp:revision>
  <dcterms:created xsi:type="dcterms:W3CDTF">2013-01-27T09:14:16Z</dcterms:created>
  <dcterms:modified xsi:type="dcterms:W3CDTF">2026-10-30T05:02:32Z</dcterms:modified>
  <cp:category/>
</cp:coreProperties>
</file>